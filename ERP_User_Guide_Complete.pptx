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01_img_1_14.jpeg"/>
          <p:cNvPicPr>
            <a:picLocks noChangeAspect="1"/>
          </p:cNvPicPr>
          <p:nvPr/>
        </p:nvPicPr>
        <p:blipFill>
          <a:blip r:embed="rId2"/>
          <a:stretch>
            <a:fillRect/>
          </a:stretch>
        </p:blipFill>
        <p:spPr>
          <a:xfrm>
            <a:off x="731520" y="914400"/>
            <a:ext cx="4572000" cy="5029200"/>
          </a:xfrm>
          <a:prstGeom prst="rect">
            <a:avLst/>
          </a:prstGeom>
        </p:spPr>
      </p:pic>
      <p:sp>
        <p:nvSpPr>
          <p:cNvPr id="3" name="TextBox 2"/>
          <p:cNvSpPr txBox="1"/>
          <p:nvPr/>
        </p:nvSpPr>
        <p:spPr>
          <a:xfrm>
            <a:off x="5669280" y="2011680"/>
            <a:ext cx="5760720" cy="3657600"/>
          </a:xfrm>
          <a:prstGeom prst="rect">
            <a:avLst/>
          </a:prstGeom>
          <a:noFill/>
        </p:spPr>
        <p:txBody>
          <a:bodyPr wrap="square">
            <a:spAutoFit/>
          </a:bodyPr>
          <a:lstStyle/>
          <a:p>
            <a:pPr>
              <a:spcAft>
                <a:spcPts val="1400"/>
              </a:spcAft>
              <a:defRPr sz="1600" b="1">
                <a:solidFill>
                  <a:srgbClr val="0D9488"/>
                </a:solidFill>
                <a:latin typeface="Arial"/>
              </a:defRPr>
            </a:pPr>
            <a:r>
              <a:t>USER GUIDE</a:t>
            </a:r>
          </a:p>
          <a:p>
            <a:pPr>
              <a:spcAft>
                <a:spcPts val="1600"/>
              </a:spcAft>
              <a:defRPr sz="2800" b="1">
                <a:solidFill>
                  <a:srgbClr val="0F172A"/>
                </a:solidFill>
                <a:latin typeface="Arial"/>
              </a:defRPr>
            </a:pPr>
            <a:r>
              <a:t>Aplikasi Monitoring Desain</a:t>
            </a:r>
            <a:br/>
            <a:r>
              <a:t>Internal &amp; Eksternal</a:t>
            </a:r>
          </a:p>
          <a:p>
            <a:pPr>
              <a:spcAft>
                <a:spcPts val="2000"/>
              </a:spcAft>
              <a:defRPr sz="1300">
                <a:solidFill>
                  <a:srgbClr val="475569"/>
                </a:solidFill>
                <a:latin typeface="Arial"/>
              </a:defRPr>
            </a:pPr>
            <a:r>
              <a:t>Panduan Operasional Lengkap End-to-End untuk Seluruh Tim Kreatif, Motion Graphics, Requester &amp; Management.</a:t>
            </a:r>
          </a:p>
          <a:p>
            <a:pPr>
              <a:defRPr sz="1100" b="1">
                <a:solidFill>
                  <a:srgbClr val="0F766E"/>
                </a:solidFill>
                <a:latin typeface="Arial"/>
              </a:defRPr>
            </a:pPr>
            <a:r>
              <a:t>CMOMS Enterprise Platform • Versi 2.4 (Oktober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PENGENALAN SISTEM</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Peran (Role) dalam Aplikasi</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a:t>
            </a:r>
          </a:p>
        </p:txBody>
      </p:sp>
      <p:sp>
        <p:nvSpPr>
          <p:cNvPr id="5" name="TextBox 4"/>
          <p:cNvSpPr txBox="1"/>
          <p:nvPr/>
        </p:nvSpPr>
        <p:spPr>
          <a:xfrm>
            <a:off x="731520" y="1371600"/>
            <a:ext cx="4114800" cy="4572000"/>
          </a:xfrm>
          <a:prstGeom prst="rect">
            <a:avLst/>
          </a:prstGeom>
          <a:noFill/>
        </p:spPr>
        <p:txBody>
          <a:bodyPr wrap="square">
            <a:spAutoFit/>
          </a:bodyPr>
          <a:lstStyle/>
          <a:p>
            <a:pPr>
              <a:spcAft>
                <a:spcPts val="1200"/>
              </a:spcAft>
            </a:pPr>
            <a:r>
              <a:rPr b="1" sz="1300">
                <a:solidFill>
                  <a:srgbClr val="0F172A"/>
                </a:solidFill>
              </a:rPr>
              <a:t>1. Requester / AE </a:t>
            </a:r>
            <a:r>
              <a:rPr sz="1100">
                <a:solidFill>
                  <a:srgbClr val="475569"/>
                </a:solidFill>
              </a:rPr>
              <a:t>(Account Executive)</a:t>
            </a:r>
          </a:p>
          <a:p>
            <a:pPr>
              <a:spcAft>
                <a:spcPts val="1200"/>
              </a:spcAft>
            </a:pPr>
            <a:r>
              <a:rPr b="1" sz="1300">
                <a:solidFill>
                  <a:srgbClr val="0F172A"/>
                </a:solidFill>
              </a:rPr>
              <a:t>2. Strategic PIC </a:t>
            </a:r>
            <a:r>
              <a:rPr sz="1100">
                <a:solidFill>
                  <a:srgbClr val="475569"/>
                </a:solidFill>
              </a:rPr>
              <a:t>(Tim Konsep &amp; Strategi)</a:t>
            </a:r>
          </a:p>
          <a:p>
            <a:pPr>
              <a:spcAft>
                <a:spcPts val="1200"/>
              </a:spcAft>
            </a:pPr>
            <a:r>
              <a:rPr b="1" sz="1300">
                <a:solidFill>
                  <a:srgbClr val="0F172A"/>
                </a:solidFill>
              </a:rPr>
              <a:t>3. Graphic Designer </a:t>
            </a:r>
            <a:r>
              <a:rPr sz="1100">
                <a:solidFill>
                  <a:srgbClr val="475569"/>
                </a:solidFill>
              </a:rPr>
              <a:t>(GD / Tim Desain Grafis)</a:t>
            </a:r>
          </a:p>
          <a:p>
            <a:pPr>
              <a:spcAft>
                <a:spcPts val="1200"/>
              </a:spcAft>
            </a:pPr>
            <a:r>
              <a:rPr b="1" sz="1300">
                <a:solidFill>
                  <a:srgbClr val="0F172A"/>
                </a:solidFill>
              </a:rPr>
              <a:t>4. Motion Designer </a:t>
            </a:r>
            <a:r>
              <a:rPr sz="1100">
                <a:solidFill>
                  <a:srgbClr val="475569"/>
                </a:solidFill>
              </a:rPr>
              <a:t>(PIC Motion Graphics)</a:t>
            </a:r>
          </a:p>
          <a:p>
            <a:pPr>
              <a:spcAft>
                <a:spcPts val="1200"/>
              </a:spcAft>
            </a:pPr>
            <a:r>
              <a:rPr b="1" sz="1300">
                <a:solidFill>
                  <a:srgbClr val="0F172A"/>
                </a:solidFill>
              </a:rPr>
              <a:t>5. Operator </a:t>
            </a:r>
            <a:r>
              <a:rPr sz="1100">
                <a:solidFill>
                  <a:srgbClr val="475569"/>
                </a:solidFill>
              </a:rPr>
              <a:t>(OP / Tim Live Stream)</a:t>
            </a:r>
          </a:p>
          <a:p>
            <a:pPr>
              <a:spcAft>
                <a:spcPts val="1200"/>
              </a:spcAft>
            </a:pPr>
            <a:r>
              <a:rPr b="1" sz="1300">
                <a:solidFill>
                  <a:srgbClr val="0F172A"/>
                </a:solidFill>
              </a:rPr>
              <a:t>6. Team Lead </a:t>
            </a:r>
            <a:r>
              <a:rPr sz="1100">
                <a:solidFill>
                  <a:srgbClr val="475569"/>
                </a:solidFill>
              </a:rPr>
              <a:t>(Supervisi &amp; Penugasan)</a:t>
            </a:r>
          </a:p>
          <a:p>
            <a:pPr>
              <a:spcAft>
                <a:spcPts val="1200"/>
              </a:spcAft>
            </a:pPr>
            <a:r>
              <a:rPr b="1" sz="1300">
                <a:solidFill>
                  <a:srgbClr val="0F172A"/>
                </a:solidFill>
              </a:rPr>
              <a:t>7. System Admin </a:t>
            </a:r>
            <a:r>
              <a:rPr sz="1100">
                <a:solidFill>
                  <a:srgbClr val="475569"/>
                </a:solidFill>
              </a:rPr>
              <a:t>(Kontrol Penuh Sistem)</a:t>
            </a:r>
          </a:p>
        </p:txBody>
      </p:sp>
      <p:graphicFrame>
        <p:nvGraphicFramePr>
          <p:cNvPr id="6" name="Table 5"/>
          <p:cNvGraphicFramePr>
            <a:graphicFrameLocks noGrp="1"/>
          </p:cNvGraphicFramePr>
          <p:nvPr/>
        </p:nvGraphicFramePr>
        <p:xfrm>
          <a:off x="5120640" y="1371600"/>
          <a:ext cx="6309360" cy="4389120"/>
        </p:xfrm>
        <a:graphic>
          <a:graphicData uri="http://schemas.openxmlformats.org/drawingml/2006/table">
            <a:tbl>
              <a:tblPr firstRow="1" bandRow="1">
                <a:tableStyleId>{5C22544A-7EE6-4342-B048-85BDC9FD1C3A}</a:tableStyleId>
              </a:tblPr>
              <a:tblGrid>
                <a:gridCol w="2011680"/>
                <a:gridCol w="4297680"/>
              </a:tblGrid>
              <a:tr h="548640">
                <a:tc>
                  <a:txBody>
                    <a:bodyPr/>
                    <a:lstStyle/>
                    <a:p>
                      <a:pPr>
                        <a:defRPr b="1" sz="1100">
                          <a:solidFill>
                            <a:srgbClr val="0F172A"/>
                          </a:solidFill>
                        </a:defRPr>
                      </a:pPr>
                      <a:r>
                        <a:t>Role</a:t>
                      </a:r>
                    </a:p>
                  </a:txBody>
                  <a:tcPr>
                    <a:solidFill>
                      <a:srgbClr val="F1F5F9"/>
                    </a:solidFill>
                  </a:tcPr>
                </a:tc>
                <a:tc>
                  <a:txBody>
                    <a:bodyPr/>
                    <a:lstStyle/>
                    <a:p>
                      <a:pPr>
                        <a:defRPr b="1" sz="1100">
                          <a:solidFill>
                            <a:srgbClr val="0F172A"/>
                          </a:solidFill>
                        </a:defRPr>
                      </a:pPr>
                      <a:r>
                        <a:t>Halaman yang Bisa Diakses</a:t>
                      </a:r>
                    </a:p>
                  </a:txBody>
                  <a:tcPr>
                    <a:solidFill>
                      <a:srgbClr val="F1F5F9"/>
                    </a:solidFill>
                  </a:tcPr>
                </a:tc>
              </a:tr>
              <a:tr h="548640">
                <a:tc>
                  <a:txBody>
                    <a:bodyPr/>
                    <a:lstStyle/>
                    <a:p>
                      <a:pPr>
                        <a:defRPr b="1" sz="1050">
                          <a:solidFill>
                            <a:srgbClr val="0F172A"/>
                          </a:solidFill>
                        </a:defRPr>
                      </a:pPr>
                      <a:r>
                        <a:t>Requester (AE)</a:t>
                      </a:r>
                    </a:p>
                  </a:txBody>
                  <a:tcPr/>
                </a:tc>
                <a:tc>
                  <a:txBody>
                    <a:bodyPr/>
                    <a:lstStyle/>
                    <a:p>
                      <a:pPr>
                        <a:defRPr sz="1000">
                          <a:solidFill>
                            <a:srgbClr val="475569"/>
                          </a:solidFill>
                        </a:defRPr>
                      </a:pPr>
                      <a:r>
                        <a:t>Dashboard, Task Management (Buat &amp; Review Request)</a:t>
                      </a:r>
                    </a:p>
                  </a:txBody>
                  <a:tcPr/>
                </a:tc>
              </a:tr>
              <a:tr h="548640">
                <a:tc>
                  <a:txBody>
                    <a:bodyPr/>
                    <a:lstStyle/>
                    <a:p>
                      <a:pPr>
                        <a:defRPr b="1" sz="1050">
                          <a:solidFill>
                            <a:srgbClr val="0F172A"/>
                          </a:solidFill>
                        </a:defRPr>
                      </a:pPr>
                      <a:r>
                        <a:t>Strategic PIC</a:t>
                      </a:r>
                    </a:p>
                  </a:txBody>
                  <a:tcPr/>
                </a:tc>
                <a:tc>
                  <a:txBody>
                    <a:bodyPr/>
                    <a:lstStyle/>
                    <a:p>
                      <a:pPr>
                        <a:defRPr sz="1000">
                          <a:solidFill>
                            <a:srgbClr val="475569"/>
                          </a:solidFill>
                        </a:defRPr>
                      </a:pPr>
                      <a:r>
                        <a:t>Dashboard, Task Management, Workload &amp; Capacity</a:t>
                      </a:r>
                    </a:p>
                  </a:txBody>
                  <a:tcPr/>
                </a:tc>
              </a:tr>
              <a:tr h="548640">
                <a:tc>
                  <a:txBody>
                    <a:bodyPr/>
                    <a:lstStyle/>
                    <a:p>
                      <a:pPr>
                        <a:defRPr b="1" sz="1050">
                          <a:solidFill>
                            <a:srgbClr val="0F172A"/>
                          </a:solidFill>
                        </a:defRPr>
                      </a:pPr>
                      <a:r>
                        <a:t>Graphic Designer</a:t>
                      </a:r>
                    </a:p>
                  </a:txBody>
                  <a:tcPr/>
                </a:tc>
                <a:tc>
                  <a:txBody>
                    <a:bodyPr/>
                    <a:lstStyle/>
                    <a:p>
                      <a:pPr>
                        <a:defRPr sz="1000">
                          <a:solidFill>
                            <a:srgbClr val="475569"/>
                          </a:solidFill>
                        </a:defRPr>
                      </a:pPr>
                      <a:r>
                        <a:t>Dashboard, Task Management, Workload &amp; Capacity</a:t>
                      </a:r>
                    </a:p>
                  </a:txBody>
                  <a:tcPr/>
                </a:tc>
              </a:tr>
              <a:tr h="548640">
                <a:tc>
                  <a:txBody>
                    <a:bodyPr/>
                    <a:lstStyle/>
                    <a:p>
                      <a:pPr>
                        <a:defRPr b="1" sz="1050">
                          <a:solidFill>
                            <a:srgbClr val="0F172A"/>
                          </a:solidFill>
                        </a:defRPr>
                      </a:pPr>
                      <a:r>
                        <a:t>Motion PIC</a:t>
                      </a:r>
                    </a:p>
                  </a:txBody>
                  <a:tcPr/>
                </a:tc>
                <a:tc>
                  <a:txBody>
                    <a:bodyPr/>
                    <a:lstStyle/>
                    <a:p>
                      <a:pPr>
                        <a:defRPr sz="1000">
                          <a:solidFill>
                            <a:srgbClr val="475569"/>
                          </a:solidFill>
                        </a:defRPr>
                      </a:pPr>
                      <a:r>
                        <a:t>Dashboard, Motion Pipeline, Workload &amp; Capacity</a:t>
                      </a:r>
                    </a:p>
                  </a:txBody>
                  <a:tcPr/>
                </a:tc>
              </a:tr>
              <a:tr h="548640">
                <a:tc>
                  <a:txBody>
                    <a:bodyPr/>
                    <a:lstStyle/>
                    <a:p>
                      <a:pPr>
                        <a:defRPr b="1" sz="1050">
                          <a:solidFill>
                            <a:srgbClr val="0F172A"/>
                          </a:solidFill>
                        </a:defRPr>
                      </a:pPr>
                      <a:r>
                        <a:t>Operator</a:t>
                      </a:r>
                    </a:p>
                  </a:txBody>
                  <a:tcPr/>
                </a:tc>
                <a:tc>
                  <a:txBody>
                    <a:bodyPr/>
                    <a:lstStyle/>
                    <a:p>
                      <a:pPr>
                        <a:defRPr sz="1000">
                          <a:solidFill>
                            <a:srgbClr val="475569"/>
                          </a:solidFill>
                        </a:defRPr>
                      </a:pPr>
                      <a:r>
                        <a:t>Target Handover Video (Tanpa sidebar menu mandiri)</a:t>
                      </a:r>
                    </a:p>
                  </a:txBody>
                  <a:tcPr/>
                </a:tc>
              </a:tr>
              <a:tr h="548640">
                <a:tc>
                  <a:txBody>
                    <a:bodyPr/>
                    <a:lstStyle/>
                    <a:p>
                      <a:pPr>
                        <a:defRPr b="1" sz="1050">
                          <a:solidFill>
                            <a:srgbClr val="0F172A"/>
                          </a:solidFill>
                        </a:defRPr>
                      </a:pPr>
                      <a:r>
                        <a:t>Team Lead</a:t>
                      </a:r>
                    </a:p>
                  </a:txBody>
                  <a:tcPr/>
                </a:tc>
                <a:tc>
                  <a:txBody>
                    <a:bodyPr/>
                    <a:lstStyle/>
                    <a:p>
                      <a:pPr>
                        <a:defRPr sz="1000">
                          <a:solidFill>
                            <a:srgbClr val="475569"/>
                          </a:solidFill>
                        </a:defRPr>
                      </a:pPr>
                      <a:r>
                        <a:t>Semua halaman, Triage, Penugasan &amp; Approval</a:t>
                      </a:r>
                    </a:p>
                  </a:txBody>
                  <a:tcPr/>
                </a:tc>
              </a:tr>
              <a:tr h="548640">
                <a:tc>
                  <a:txBody>
                    <a:bodyPr/>
                    <a:lstStyle/>
                    <a:p>
                      <a:pPr>
                        <a:defRPr b="1" sz="1050">
                          <a:solidFill>
                            <a:srgbClr val="0F172A"/>
                          </a:solidFill>
                        </a:defRPr>
                      </a:pPr>
                      <a:r>
                        <a:t>System Admin</a:t>
                      </a:r>
                    </a:p>
                  </a:txBody>
                  <a:tcPr/>
                </a:tc>
                <a:tc>
                  <a:txBody>
                    <a:bodyPr/>
                    <a:lstStyle/>
                    <a:p>
                      <a:pPr>
                        <a:defRPr sz="1000">
                          <a:solidFill>
                            <a:srgbClr val="475569"/>
                          </a:solidFill>
                        </a:defRPr>
                      </a:pPr>
                      <a:r>
                        <a:t>Semua halaman, Reports, Master Data &amp; Audit Trail</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AKUN PENGGUNA</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Account &amp; Password (Akun Pengguna Demo)</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a:t>
            </a:r>
          </a:p>
        </p:txBody>
      </p:sp>
      <p:sp>
        <p:nvSpPr>
          <p:cNvPr id="5" name="TextBox 4"/>
          <p:cNvSpPr txBox="1"/>
          <p:nvPr/>
        </p:nvSpPr>
        <p:spPr>
          <a:xfrm>
            <a:off x="731520" y="1280160"/>
            <a:ext cx="5303520" cy="4846320"/>
          </a:xfrm>
          <a:prstGeom prst="rect">
            <a:avLst/>
          </a:prstGeom>
          <a:noFill/>
        </p:spPr>
        <p:txBody>
          <a:bodyPr wrap="square">
            <a:spAutoFit/>
          </a:bodyPr>
          <a:lstStyle/>
          <a:p>
            <a:pPr>
              <a:spcAft>
                <a:spcPts val="800"/>
              </a:spcAft>
              <a:defRPr b="1" sz="1200">
                <a:solidFill>
                  <a:srgbClr val="0D9488"/>
                </a:solidFill>
              </a:defRPr>
            </a:pPr>
            <a:r>
              <a:t>Akun Pengguna Terdaftar (Aman untuk Uji Coba):</a:t>
            </a:r>
          </a:p>
          <a:p>
            <a:pPr>
              <a:spcAft>
                <a:spcPts val="300"/>
              </a:spcAft>
            </a:pPr>
            <a:r>
              <a:rPr sz="1000">
                <a:solidFill>
                  <a:srgbClr val="0F172A"/>
                </a:solidFill>
              </a:rPr>
              <a:t>1. System Admin — admin@orbiz.id — </a:t>
            </a:r>
            <a:r>
              <a:rPr b="1" sz="950">
                <a:solidFill>
                  <a:srgbClr val="0F766E"/>
                </a:solidFill>
              </a:rPr>
              <a:t>[ADMIN]</a:t>
            </a:r>
          </a:p>
          <a:p>
            <a:pPr>
              <a:spcAft>
                <a:spcPts val="300"/>
              </a:spcAft>
            </a:pPr>
            <a:r>
              <a:rPr sz="1000">
                <a:solidFill>
                  <a:srgbClr val="0F172A"/>
                </a:solidFill>
              </a:rPr>
              <a:t>2. Alfie Rahman — alfie@orbiz.id — </a:t>
            </a:r>
            <a:r>
              <a:rPr b="1" sz="950">
                <a:solidFill>
                  <a:srgbClr val="0F766E"/>
                </a:solidFill>
              </a:rPr>
              <a:t>[TEAM LEAD]</a:t>
            </a:r>
          </a:p>
          <a:p>
            <a:pPr>
              <a:spcAft>
                <a:spcPts val="300"/>
              </a:spcAft>
            </a:pPr>
            <a:r>
              <a:rPr sz="1000">
                <a:solidFill>
                  <a:srgbClr val="0F172A"/>
                </a:solidFill>
              </a:rPr>
              <a:t>3. Ira Kusuma — ira@orbiz.id — </a:t>
            </a:r>
            <a:r>
              <a:rPr b="1" sz="950">
                <a:solidFill>
                  <a:srgbClr val="0F766E"/>
                </a:solidFill>
              </a:rPr>
              <a:t>[STRATEGIC PIC]</a:t>
            </a:r>
          </a:p>
          <a:p>
            <a:pPr>
              <a:spcAft>
                <a:spcPts val="300"/>
              </a:spcAft>
            </a:pPr>
            <a:r>
              <a:rPr sz="1000">
                <a:solidFill>
                  <a:srgbClr val="0F172A"/>
                </a:solidFill>
              </a:rPr>
              <a:t>4. Mahes Wardana — mahes@orbiz.id — </a:t>
            </a:r>
            <a:r>
              <a:rPr b="1" sz="950">
                <a:solidFill>
                  <a:srgbClr val="0F766E"/>
                </a:solidFill>
              </a:rPr>
              <a:t>[STRATEGIC PIC]</a:t>
            </a:r>
          </a:p>
          <a:p>
            <a:pPr>
              <a:spcAft>
                <a:spcPts val="300"/>
              </a:spcAft>
            </a:pPr>
            <a:r>
              <a:rPr sz="1000">
                <a:solidFill>
                  <a:srgbClr val="0F172A"/>
                </a:solidFill>
              </a:rPr>
              <a:t>5. Nadya Aulia — nadya@orbiz.id — </a:t>
            </a:r>
            <a:r>
              <a:rPr b="1" sz="950">
                <a:solidFill>
                  <a:srgbClr val="0F766E"/>
                </a:solidFill>
              </a:rPr>
              <a:t>[DESIGNER]</a:t>
            </a:r>
          </a:p>
          <a:p>
            <a:pPr>
              <a:spcAft>
                <a:spcPts val="300"/>
              </a:spcAft>
            </a:pPr>
            <a:r>
              <a:rPr sz="1000">
                <a:solidFill>
                  <a:srgbClr val="0F172A"/>
                </a:solidFill>
              </a:rPr>
              <a:t>6. Yusuf Pratama — yusuf@orbiz.id — </a:t>
            </a:r>
            <a:r>
              <a:rPr b="1" sz="950">
                <a:solidFill>
                  <a:srgbClr val="0F766E"/>
                </a:solidFill>
              </a:rPr>
              <a:t>[DESIGNER]</a:t>
            </a:r>
          </a:p>
          <a:p>
            <a:pPr>
              <a:spcAft>
                <a:spcPts val="300"/>
              </a:spcAft>
            </a:pPr>
            <a:r>
              <a:rPr sz="1000">
                <a:solidFill>
                  <a:srgbClr val="0F172A"/>
                </a:solidFill>
              </a:rPr>
              <a:t>7. Badriyah Sari — bad@orbiz.id — </a:t>
            </a:r>
            <a:r>
              <a:rPr b="1" sz="950">
                <a:solidFill>
                  <a:srgbClr val="0F766E"/>
                </a:solidFill>
              </a:rPr>
              <a:t>[DESIGNER]</a:t>
            </a:r>
          </a:p>
          <a:p>
            <a:pPr>
              <a:spcAft>
                <a:spcPts val="300"/>
              </a:spcAft>
            </a:pPr>
            <a:r>
              <a:rPr sz="1000">
                <a:solidFill>
                  <a:srgbClr val="0F172A"/>
                </a:solidFill>
              </a:rPr>
              <a:t>8. Jova Dirgantara — jova@orbiz.id — </a:t>
            </a:r>
            <a:r>
              <a:rPr b="1" sz="950">
                <a:solidFill>
                  <a:srgbClr val="0F766E"/>
                </a:solidFill>
              </a:rPr>
              <a:t>[MOTION PIC]</a:t>
            </a:r>
          </a:p>
          <a:p>
            <a:pPr>
              <a:spcAft>
                <a:spcPts val="300"/>
              </a:spcAft>
            </a:pPr>
            <a:r>
              <a:rPr sz="1000">
                <a:solidFill>
                  <a:srgbClr val="0F172A"/>
                </a:solidFill>
              </a:rPr>
              <a:t>9. Bima Saputra — bima@orbiz.id — </a:t>
            </a:r>
            <a:r>
              <a:rPr b="1" sz="950">
                <a:solidFill>
                  <a:srgbClr val="0F766E"/>
                </a:solidFill>
              </a:rPr>
              <a:t>[MOTION PIC]</a:t>
            </a:r>
          </a:p>
          <a:p>
            <a:pPr>
              <a:spcAft>
                <a:spcPts val="300"/>
              </a:spcAft>
            </a:pPr>
            <a:r>
              <a:rPr sz="1000">
                <a:solidFill>
                  <a:srgbClr val="0F172A"/>
                </a:solidFill>
              </a:rPr>
              <a:t>10. Sarah Amelia — sarah@orbiz.id — </a:t>
            </a:r>
            <a:r>
              <a:rPr b="1" sz="950">
                <a:solidFill>
                  <a:srgbClr val="0F766E"/>
                </a:solidFill>
              </a:rPr>
              <a:t>[REQUESTER]</a:t>
            </a:r>
          </a:p>
          <a:p>
            <a:pPr>
              <a:spcAft>
                <a:spcPts val="300"/>
              </a:spcAft>
            </a:pPr>
            <a:r>
              <a:rPr sz="1000">
                <a:solidFill>
                  <a:srgbClr val="0F172A"/>
                </a:solidFill>
              </a:rPr>
              <a:t>11. Reza Firmansyah — reza@orbiz.id — </a:t>
            </a:r>
            <a:r>
              <a:rPr b="1" sz="950">
                <a:solidFill>
                  <a:srgbClr val="0F766E"/>
                </a:solidFill>
              </a:rPr>
              <a:t>[REQUESTER]</a:t>
            </a:r>
          </a:p>
          <a:p>
            <a:pPr>
              <a:spcAft>
                <a:spcPts val="300"/>
              </a:spcAft>
            </a:pPr>
            <a:r>
              <a:rPr sz="1000">
                <a:solidFill>
                  <a:srgbClr val="0F172A"/>
                </a:solidFill>
              </a:rPr>
              <a:t>12. Sam Operator — sam@orbiz.id — </a:t>
            </a:r>
            <a:r>
              <a:rPr b="1" sz="950">
                <a:solidFill>
                  <a:srgbClr val="0F766E"/>
                </a:solidFill>
              </a:rPr>
              <a:t>[OPERATOR]</a:t>
            </a:r>
          </a:p>
        </p:txBody>
      </p:sp>
      <p:pic>
        <p:nvPicPr>
          <p:cNvPr id="6" name="Picture 5" descr="page_03_img_1_27.jpeg"/>
          <p:cNvPicPr>
            <a:picLocks noChangeAspect="1"/>
          </p:cNvPicPr>
          <p:nvPr/>
        </p:nvPicPr>
        <p:blipFill>
          <a:blip r:embed="rId2"/>
          <a:stretch>
            <a:fillRect/>
          </a:stretch>
        </p:blipFill>
        <p:spPr>
          <a:xfrm>
            <a:off x="6309360" y="1280160"/>
            <a:ext cx="5120640" cy="3108960"/>
          </a:xfrm>
          <a:prstGeom prst="rect">
            <a:avLst/>
          </a:prstGeom>
        </p:spPr>
      </p:pic>
      <p:sp>
        <p:nvSpPr>
          <p:cNvPr id="7" name="TextBox 6"/>
          <p:cNvSpPr txBox="1"/>
          <p:nvPr/>
        </p:nvSpPr>
        <p:spPr>
          <a:xfrm>
            <a:off x="6309360" y="4572000"/>
            <a:ext cx="5120640" cy="1645920"/>
          </a:xfrm>
          <a:prstGeom prst="rect">
            <a:avLst/>
          </a:prstGeom>
          <a:noFill/>
        </p:spPr>
        <p:txBody>
          <a:bodyPr wrap="square">
            <a:spAutoFit/>
          </a:bodyPr>
          <a:lstStyle/>
          <a:p>
            <a:pPr>
              <a:defRPr sz="1100">
                <a:solidFill>
                  <a:srgbClr val="475569"/>
                </a:solidFill>
              </a:defRPr>
            </a:pPr>
            <a:r>
              <a:t>Karena aplikasi masih dalam tahap purwarupa (demo), Anda dapat menggunakan tombol Quick Login di halaman Login untuk masuk dan mencoba berbagai peran (roles) tanpa memasukkan password secara manual.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ALUR KERJA UTAMA</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Peta Alur Bisnis End-to-End (Complete Lifecycle)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a:t>
            </a:r>
          </a:p>
        </p:txBody>
      </p:sp>
      <p:sp>
        <p:nvSpPr>
          <p:cNvPr id="5" name="TextBox 4"/>
          <p:cNvSpPr txBox="1"/>
          <p:nvPr/>
        </p:nvSpPr>
        <p:spPr>
          <a:xfrm>
            <a:off x="731520" y="1188720"/>
            <a:ext cx="10698480" cy="457200"/>
          </a:xfrm>
          <a:prstGeom prst="rect">
            <a:avLst/>
          </a:prstGeom>
          <a:noFill/>
        </p:spPr>
        <p:txBody>
          <a:bodyPr wrap="none">
            <a:spAutoFit/>
          </a:bodyPr>
          <a:lstStyle/>
          <a:p>
            <a:pPr>
              <a:defRPr sz="1200">
                <a:solidFill>
                  <a:srgbClr val="475569"/>
                </a:solidFill>
              </a:defRPr>
            </a:pPr>
            <a:r>
              <a:t>Siklus hidup operasional kreatif dari pengajuan tiket awal hingga pengarsipan permanen:</a:t>
            </a:r>
          </a:p>
        </p:txBody>
      </p:sp>
      <p:sp>
        <p:nvSpPr>
          <p:cNvPr id="6" name="Rounded Rectangle 5"/>
          <p:cNvSpPr/>
          <p:nvPr/>
        </p:nvSpPr>
        <p:spPr>
          <a:xfrm>
            <a:off x="731520" y="1828800"/>
            <a:ext cx="1371600" cy="347472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137160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1. INTAKE</a:t>
            </a:r>
          </a:p>
        </p:txBody>
      </p:sp>
      <p:sp>
        <p:nvSpPr>
          <p:cNvPr id="8" name="TextBox 7"/>
          <p:cNvSpPr txBox="1"/>
          <p:nvPr/>
        </p:nvSpPr>
        <p:spPr>
          <a:xfrm>
            <a:off x="822960" y="2560320"/>
            <a:ext cx="1188720" cy="2560320"/>
          </a:xfrm>
          <a:prstGeom prst="rect">
            <a:avLst/>
          </a:prstGeom>
          <a:noFill/>
        </p:spPr>
        <p:txBody>
          <a:bodyPr wrap="square">
            <a:spAutoFit/>
          </a:bodyPr>
          <a:lstStyle/>
          <a:p>
            <a:pPr algn="ctr">
              <a:defRPr sz="1050">
                <a:solidFill>
                  <a:srgbClr val="0F172A"/>
                </a:solidFill>
              </a:defRPr>
            </a:pPr>
            <a:r>
              <a:t>Requester buat tiket</a:t>
            </a:r>
            <a:br/>
            <a:r>
              <a:t>&amp; spesifikasi konten</a:t>
            </a:r>
          </a:p>
        </p:txBody>
      </p:sp>
      <p:sp>
        <p:nvSpPr>
          <p:cNvPr id="9" name="Rounded Rectangle 8"/>
          <p:cNvSpPr/>
          <p:nvPr/>
        </p:nvSpPr>
        <p:spPr>
          <a:xfrm>
            <a:off x="2267712" y="1828800"/>
            <a:ext cx="1371600" cy="34747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67712" y="1828800"/>
            <a:ext cx="137160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2. TRIAGE</a:t>
            </a:r>
          </a:p>
        </p:txBody>
      </p:sp>
      <p:sp>
        <p:nvSpPr>
          <p:cNvPr id="11" name="TextBox 10"/>
          <p:cNvSpPr txBox="1"/>
          <p:nvPr/>
        </p:nvSpPr>
        <p:spPr>
          <a:xfrm>
            <a:off x="2359152" y="2560320"/>
            <a:ext cx="1188720" cy="2560320"/>
          </a:xfrm>
          <a:prstGeom prst="rect">
            <a:avLst/>
          </a:prstGeom>
          <a:noFill/>
        </p:spPr>
        <p:txBody>
          <a:bodyPr wrap="square">
            <a:spAutoFit/>
          </a:bodyPr>
          <a:lstStyle/>
          <a:p>
            <a:pPr algn="ctr">
              <a:defRPr sz="1050">
                <a:solidFill>
                  <a:srgbClr val="0F172A"/>
                </a:solidFill>
              </a:defRPr>
            </a:pPr>
            <a:r>
              <a:t>Team Lead / Strat PIC</a:t>
            </a:r>
            <a:br/>
            <a:r>
              <a:t>Assign PIC &amp; Bobot</a:t>
            </a:r>
          </a:p>
        </p:txBody>
      </p:sp>
      <p:sp>
        <p:nvSpPr>
          <p:cNvPr id="12" name="Rounded Rectangle 11"/>
          <p:cNvSpPr/>
          <p:nvPr/>
        </p:nvSpPr>
        <p:spPr>
          <a:xfrm>
            <a:off x="3803904" y="1828800"/>
            <a:ext cx="1371600" cy="347472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03904" y="1828800"/>
            <a:ext cx="1371600" cy="548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3. EXECUTION</a:t>
            </a:r>
          </a:p>
        </p:txBody>
      </p:sp>
      <p:sp>
        <p:nvSpPr>
          <p:cNvPr id="14" name="TextBox 13"/>
          <p:cNvSpPr txBox="1"/>
          <p:nvPr/>
        </p:nvSpPr>
        <p:spPr>
          <a:xfrm>
            <a:off x="3895344" y="2560320"/>
            <a:ext cx="1188720" cy="2560320"/>
          </a:xfrm>
          <a:prstGeom prst="rect">
            <a:avLst/>
          </a:prstGeom>
          <a:noFill/>
        </p:spPr>
        <p:txBody>
          <a:bodyPr wrap="square">
            <a:spAutoFit/>
          </a:bodyPr>
          <a:lstStyle/>
          <a:p>
            <a:pPr algn="ctr">
              <a:defRPr sz="1050">
                <a:solidFill>
                  <a:srgbClr val="0F172A"/>
                </a:solidFill>
              </a:defRPr>
            </a:pPr>
            <a:r>
              <a:t>Designer / Motion PIC</a:t>
            </a:r>
            <a:br/>
            <a:r>
              <a:t>Kerjakan desain &amp; start</a:t>
            </a:r>
          </a:p>
        </p:txBody>
      </p:sp>
      <p:sp>
        <p:nvSpPr>
          <p:cNvPr id="15" name="Rounded Rectangle 14"/>
          <p:cNvSpPr/>
          <p:nvPr/>
        </p:nvSpPr>
        <p:spPr>
          <a:xfrm>
            <a:off x="5340096" y="1828800"/>
            <a:ext cx="1371600" cy="3474720"/>
          </a:xfrm>
          <a:prstGeom prst="roundRect">
            <a:avLst/>
          </a:prstGeom>
          <a:solidFill>
            <a:srgbClr val="F8FAFC"/>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40096" y="1828800"/>
            <a:ext cx="1371600" cy="548640"/>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4. SUBMIT</a:t>
            </a:r>
          </a:p>
        </p:txBody>
      </p:sp>
      <p:sp>
        <p:nvSpPr>
          <p:cNvPr id="17" name="TextBox 16"/>
          <p:cNvSpPr txBox="1"/>
          <p:nvPr/>
        </p:nvSpPr>
        <p:spPr>
          <a:xfrm>
            <a:off x="5431536" y="2560320"/>
            <a:ext cx="1188720" cy="2560320"/>
          </a:xfrm>
          <a:prstGeom prst="rect">
            <a:avLst/>
          </a:prstGeom>
          <a:noFill/>
        </p:spPr>
        <p:txBody>
          <a:bodyPr wrap="square">
            <a:spAutoFit/>
          </a:bodyPr>
          <a:lstStyle/>
          <a:p>
            <a:pPr algn="ctr">
              <a:defRPr sz="1050">
                <a:solidFill>
                  <a:srgbClr val="0F172A"/>
                </a:solidFill>
              </a:defRPr>
            </a:pPr>
            <a:r>
              <a:t>Unggah tautan file</a:t>
            </a:r>
            <a:br/>
            <a:r>
              <a:t>Google Drive / Render</a:t>
            </a:r>
          </a:p>
        </p:txBody>
      </p:sp>
      <p:sp>
        <p:nvSpPr>
          <p:cNvPr id="18" name="Rounded Rectangle 17"/>
          <p:cNvSpPr/>
          <p:nvPr/>
        </p:nvSpPr>
        <p:spPr>
          <a:xfrm>
            <a:off x="6876288" y="1828800"/>
            <a:ext cx="1371600" cy="3474720"/>
          </a:xfrm>
          <a:prstGeom prst="roundRect">
            <a:avLst/>
          </a:prstGeom>
          <a:solidFill>
            <a:srgbClr val="F8FAFC"/>
          </a:solidFill>
          <a:ln w="19050">
            <a:solidFill>
              <a:srgbClr val="DB2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76288" y="1828800"/>
            <a:ext cx="1371600" cy="548640"/>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5. REVIEW</a:t>
            </a:r>
          </a:p>
        </p:txBody>
      </p:sp>
      <p:sp>
        <p:nvSpPr>
          <p:cNvPr id="20" name="TextBox 19"/>
          <p:cNvSpPr txBox="1"/>
          <p:nvPr/>
        </p:nvSpPr>
        <p:spPr>
          <a:xfrm>
            <a:off x="6967728" y="2560320"/>
            <a:ext cx="1188720" cy="2560320"/>
          </a:xfrm>
          <a:prstGeom prst="rect">
            <a:avLst/>
          </a:prstGeom>
          <a:noFill/>
        </p:spPr>
        <p:txBody>
          <a:bodyPr wrap="square">
            <a:spAutoFit/>
          </a:bodyPr>
          <a:lstStyle/>
          <a:p>
            <a:pPr algn="ctr">
              <a:defRPr sz="1050">
                <a:solidFill>
                  <a:srgbClr val="0F172A"/>
                </a:solidFill>
              </a:defRPr>
            </a:pPr>
            <a:r>
              <a:t>Lead / AE Approve atau</a:t>
            </a:r>
            <a:br/>
            <a:r>
              <a:t>permintaan Revisi</a:t>
            </a:r>
          </a:p>
        </p:txBody>
      </p:sp>
      <p:sp>
        <p:nvSpPr>
          <p:cNvPr id="21" name="Rounded Rectangle 20"/>
          <p:cNvSpPr/>
          <p:nvPr/>
        </p:nvSpPr>
        <p:spPr>
          <a:xfrm>
            <a:off x="8412480" y="1828800"/>
            <a:ext cx="1371600" cy="347472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1828800"/>
            <a:ext cx="1371600" cy="548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6. HANDOVER</a:t>
            </a:r>
          </a:p>
        </p:txBody>
      </p:sp>
      <p:sp>
        <p:nvSpPr>
          <p:cNvPr id="23" name="TextBox 22"/>
          <p:cNvSpPr txBox="1"/>
          <p:nvPr/>
        </p:nvSpPr>
        <p:spPr>
          <a:xfrm>
            <a:off x="8503920" y="2560320"/>
            <a:ext cx="1188720" cy="2560320"/>
          </a:xfrm>
          <a:prstGeom prst="rect">
            <a:avLst/>
          </a:prstGeom>
          <a:noFill/>
        </p:spPr>
        <p:txBody>
          <a:bodyPr wrap="square">
            <a:spAutoFit/>
          </a:bodyPr>
          <a:lstStyle/>
          <a:p>
            <a:pPr algn="ctr">
              <a:defRPr sz="1050">
                <a:solidFill>
                  <a:srgbClr val="0F172A"/>
                </a:solidFill>
              </a:defRPr>
            </a:pPr>
            <a:r>
              <a:t>Video ke Operator /</a:t>
            </a:r>
            <a:br/>
            <a:r>
              <a:t>Desain Final Disetujui</a:t>
            </a:r>
          </a:p>
        </p:txBody>
      </p:sp>
      <p:sp>
        <p:nvSpPr>
          <p:cNvPr id="24" name="Rounded Rectangle 23"/>
          <p:cNvSpPr/>
          <p:nvPr/>
        </p:nvSpPr>
        <p:spPr>
          <a:xfrm>
            <a:off x="9948672" y="1828800"/>
            <a:ext cx="1371600" cy="3474720"/>
          </a:xfrm>
          <a:prstGeom prst="roundRect">
            <a:avLst/>
          </a:prstGeom>
          <a:solidFill>
            <a:srgbClr val="F8FAFC"/>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948672" y="1828800"/>
            <a:ext cx="1371600" cy="5486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defRPr>
            </a:pPr>
            <a:r>
              <a:t>7. ARCHIVE</a:t>
            </a:r>
          </a:p>
        </p:txBody>
      </p:sp>
      <p:sp>
        <p:nvSpPr>
          <p:cNvPr id="26" name="TextBox 25"/>
          <p:cNvSpPr txBox="1"/>
          <p:nvPr/>
        </p:nvSpPr>
        <p:spPr>
          <a:xfrm>
            <a:off x="10040112" y="2560320"/>
            <a:ext cx="1188720" cy="2560320"/>
          </a:xfrm>
          <a:prstGeom prst="rect">
            <a:avLst/>
          </a:prstGeom>
          <a:noFill/>
        </p:spPr>
        <p:txBody>
          <a:bodyPr wrap="square">
            <a:spAutoFit/>
          </a:bodyPr>
          <a:lstStyle/>
          <a:p>
            <a:pPr algn="ctr">
              <a:defRPr sz="1050">
                <a:solidFill>
                  <a:srgbClr val="0F172A"/>
                </a:solidFill>
              </a:defRPr>
            </a:pPr>
            <a:r>
              <a:t>Masuk otomatis ke</a:t>
            </a:r>
            <a:br/>
            <a:r>
              <a:t>Approved Archive</a:t>
            </a:r>
          </a:p>
        </p:txBody>
      </p:sp>
      <p:sp>
        <p:nvSpPr>
          <p:cNvPr id="27" name="TextBox 26"/>
          <p:cNvSpPr txBox="1"/>
          <p:nvPr/>
        </p:nvSpPr>
        <p:spPr>
          <a:xfrm>
            <a:off x="731520" y="5486400"/>
            <a:ext cx="10698480" cy="731520"/>
          </a:xfrm>
          <a:prstGeom prst="rect">
            <a:avLst/>
          </a:prstGeom>
          <a:noFill/>
        </p:spPr>
        <p:txBody>
          <a:bodyPr wrap="none">
            <a:spAutoFit/>
          </a:bodyPr>
          <a:lstStyle/>
          <a:p>
            <a:pPr>
              <a:defRPr sz="1100">
                <a:solidFill>
                  <a:srgbClr val="475569"/>
                </a:solidFill>
              </a:defRPr>
            </a:pPr>
            <a:r>
              <a:t>• Seluruh transisi status tercatat di Audit Trail secara real-time.</a:t>
            </a:r>
            <a:br/>
            <a:r>
              <a:t>• Perhitungan SLA otomatis mengecualikan hari libur nasional &amp; akhir pekan.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AUTENTIKASI</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Login &amp; Autentikasi Pengguna</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5</a:t>
            </a:r>
          </a:p>
        </p:txBody>
      </p:sp>
      <p:sp>
        <p:nvSpPr>
          <p:cNvPr id="5" name="TextBox 4"/>
          <p:cNvSpPr txBox="1"/>
          <p:nvPr/>
        </p:nvSpPr>
        <p:spPr>
          <a:xfrm>
            <a:off x="731520" y="1371600"/>
            <a:ext cx="5029200" cy="4572000"/>
          </a:xfrm>
          <a:prstGeom prst="rect">
            <a:avLst/>
          </a:prstGeom>
          <a:noFill/>
        </p:spPr>
        <p:txBody>
          <a:bodyPr wrap="square">
            <a:spAutoFit/>
          </a:bodyPr>
          <a:lstStyle/>
          <a:p>
            <a:pPr>
              <a:spcAft>
                <a:spcPts val="800"/>
              </a:spcAft>
            </a:pPr>
            <a:r>
              <a:rPr b="1" sz="1150">
                <a:solidFill>
                  <a:srgbClr val="0D9488"/>
                </a:solidFill>
              </a:rPr>
              <a:t>Langkah Masuk ke Sistem: </a:t>
            </a:r>
          </a:p>
          <a:p>
            <a:pPr>
              <a:spcAft>
                <a:spcPts val="800"/>
              </a:spcAft>
            </a:pPr>
            <a:r>
              <a:rPr b="1" sz="1150">
                <a:solidFill>
                  <a:srgbClr val="0F172A"/>
                </a:solidFill>
              </a:rPr>
              <a:t>1. Akses Portal: </a:t>
            </a:r>
            <a:r>
              <a:rPr sz="1100">
                <a:solidFill>
                  <a:srgbClr val="475569"/>
                </a:solidFill>
              </a:rPr>
              <a:t>Buka browser menuju URL aplikasi monitoring ERP.</a:t>
            </a:r>
          </a:p>
          <a:p>
            <a:pPr>
              <a:spcAft>
                <a:spcPts val="800"/>
              </a:spcAft>
            </a:pPr>
            <a:r>
              <a:rPr b="1" sz="1150">
                <a:solidFill>
                  <a:srgbClr val="0F172A"/>
                </a:solidFill>
              </a:rPr>
              <a:t>2. Masukkan Kredensial: </a:t>
            </a:r>
            <a:r>
              <a:rPr sz="1100">
                <a:solidFill>
                  <a:srgbClr val="475569"/>
                </a:solidFill>
              </a:rPr>
              <a:t>Ketik alamat Email dan Password terdaftar Anda.</a:t>
            </a:r>
          </a:p>
          <a:p>
            <a:pPr>
              <a:spcAft>
                <a:spcPts val="800"/>
              </a:spcAft>
            </a:pPr>
            <a:r>
              <a:rPr b="1" sz="1150">
                <a:solidFill>
                  <a:srgbClr val="0F172A"/>
                </a:solidFill>
              </a:rPr>
              <a:t>3. Fitur Quick Demo Login: </a:t>
            </a:r>
            <a:r>
              <a:rPr sz="1100">
                <a:solidFill>
                  <a:srgbClr val="475569"/>
                </a:solidFill>
              </a:rPr>
              <a:t>Pada mode demo, Anda cukup mengklik salah satu tombol peran (Admin, Designer, Motion PIC, dll.) untuk login instan tanpa mengetik password.</a:t>
            </a:r>
          </a:p>
          <a:p>
            <a:pPr>
              <a:spcAft>
                <a:spcPts val="800"/>
              </a:spcAft>
            </a:pPr>
            <a:r>
              <a:rPr b="1" sz="1150">
                <a:solidFill>
                  <a:srgbClr val="0F172A"/>
                </a:solidFill>
              </a:rPr>
              <a:t>4. Klik Tombol Sign In: </a:t>
            </a:r>
            <a:r>
              <a:rPr sz="1100">
                <a:solidFill>
                  <a:srgbClr val="475569"/>
                </a:solidFill>
              </a:rPr>
              <a:t>Sistem akan memvalidasi otentikasi sesi dan mengarahkan Anda langsung ke Dashboard sesuai hak akses peran Anda.</a:t>
            </a:r>
          </a:p>
          <a:p>
            <a:pPr>
              <a:spcAft>
                <a:spcPts val="800"/>
              </a:spcAft>
            </a:pPr>
            <a:r>
              <a:rPr b="1" sz="1150">
                <a:solidFill>
                  <a:srgbClr val="0F172A"/>
                </a:solidFill>
              </a:rPr>
              <a:t>5. Keamanan Akses: </a:t>
            </a:r>
            <a:r>
              <a:rPr sz="1100">
                <a:solidFill>
                  <a:srgbClr val="475569"/>
                </a:solidFill>
              </a:rPr>
              <a:t>Sesi dilindungi token terenkripsi dengan proteksi Role-Based Access Control (RBAC).</a:t>
            </a:r>
          </a:p>
        </p:txBody>
      </p:sp>
      <p:pic>
        <p:nvPicPr>
          <p:cNvPr id="6" name="Picture 5" descr="01_login_page_1791381257616.png"/>
          <p:cNvPicPr>
            <a:picLocks noChangeAspect="1"/>
          </p:cNvPicPr>
          <p:nvPr/>
        </p:nvPicPr>
        <p:blipFill>
          <a:blip r:embed="rId2"/>
          <a:stretch>
            <a:fillRect/>
          </a:stretch>
        </p:blipFill>
        <p:spPr>
          <a:xfrm>
            <a:off x="6035040" y="1280160"/>
            <a:ext cx="5394960" cy="4572000"/>
          </a:xfrm>
          <a:prstGeom prst="rect">
            <a:avLst/>
          </a:prstGeom>
        </p:spPr>
      </p:pic>
      <p:sp>
        <p:nvSpPr>
          <p:cNvPr id="7" name="TextBox 6"/>
          <p:cNvSpPr txBox="1"/>
          <p:nvPr/>
        </p:nvSpPr>
        <p:spPr>
          <a:xfrm>
            <a:off x="6035040" y="5907024"/>
            <a:ext cx="5394960" cy="228600"/>
          </a:xfrm>
          <a:prstGeom prst="rect">
            <a:avLst/>
          </a:prstGeom>
          <a:noFill/>
        </p:spPr>
        <p:txBody>
          <a:bodyPr wrap="square" lIns="0" tIns="0" rIns="0" bIns="0">
            <a:spAutoFit/>
          </a:bodyPr>
          <a:lstStyle/>
          <a:p>
            <a:pPr algn="ctr">
              <a:defRPr sz="950" i="1">
                <a:solidFill>
                  <a:srgbClr val="94A3B8"/>
                </a:solidFill>
                <a:latin typeface="Arial"/>
              </a:defRPr>
            </a:pPr>
            <a:r>
              <a:t>Tampilan Halaman Login &amp; Tombol Quick Login 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DASHBOARD</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Dashboard Utama &amp; Ringkasan KPI Operasional</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6</a:t>
            </a:r>
          </a:p>
        </p:txBody>
      </p:sp>
      <p:sp>
        <p:nvSpPr>
          <p:cNvPr id="5" name="TextBox 4"/>
          <p:cNvSpPr txBox="1"/>
          <p:nvPr/>
        </p:nvSpPr>
        <p:spPr>
          <a:xfrm>
            <a:off x="731520" y="1280160"/>
            <a:ext cx="4937760" cy="4754880"/>
          </a:xfrm>
          <a:prstGeom prst="rect">
            <a:avLst/>
          </a:prstGeom>
          <a:noFill/>
        </p:spPr>
        <p:txBody>
          <a:bodyPr wrap="square">
            <a:spAutoFit/>
          </a:bodyPr>
          <a:lstStyle/>
          <a:p>
            <a:pPr>
              <a:spcAft>
                <a:spcPts val="600"/>
              </a:spcAft>
            </a:pPr>
            <a:r>
              <a:rPr b="1" sz="1150">
                <a:solidFill>
                  <a:srgbClr val="0D9488"/>
                </a:solidFill>
              </a:rPr>
              <a:t>Pusat Kendali Operasional Real-Time: </a:t>
            </a:r>
          </a:p>
          <a:p>
            <a:pPr>
              <a:spcAft>
                <a:spcPts val="600"/>
              </a:spcAft>
            </a:pPr>
            <a:r>
              <a:rPr b="1" sz="1150">
                <a:solidFill>
                  <a:srgbClr val="0F172A"/>
                </a:solidFill>
              </a:rPr>
              <a:t>[1] Metrik Ringkasan (KPIs): </a:t>
            </a:r>
            <a:r>
              <a:rPr sz="1100">
                <a:solidFill>
                  <a:srgbClr val="475569"/>
                </a:solidFill>
              </a:rPr>
              <a:t>Menampilkan total tiket aktif, tugas dalam pengerjaan (In Progress), dalam review, dan selesai bulan ini.</a:t>
            </a:r>
          </a:p>
          <a:p>
            <a:pPr>
              <a:spcAft>
                <a:spcPts val="600"/>
              </a:spcAft>
            </a:pPr>
            <a:r>
              <a:rPr b="1" sz="1150">
                <a:solidFill>
                  <a:srgbClr val="0F172A"/>
                </a:solidFill>
              </a:rPr>
              <a:t>[2] Beban Kerja Desainer: </a:t>
            </a:r>
            <a:r>
              <a:rPr sz="1100">
                <a:solidFill>
                  <a:srgbClr val="475569"/>
                </a:solidFill>
              </a:rPr>
              <a:t>Visualisasi cepat kapasitas harian tim desain dan desainer yang berstatus overload.</a:t>
            </a:r>
          </a:p>
          <a:p>
            <a:pPr>
              <a:spcAft>
                <a:spcPts val="600"/>
              </a:spcAft>
            </a:pPr>
            <a:r>
              <a:rPr b="1" sz="1150">
                <a:solidFill>
                  <a:srgbClr val="0F172A"/>
                </a:solidFill>
              </a:rPr>
              <a:t>[3] Peringatan SLA &amp; Jatuh Tempo: </a:t>
            </a:r>
            <a:r>
              <a:rPr sz="1100">
                <a:solidFill>
                  <a:srgbClr val="475569"/>
                </a:solidFill>
              </a:rPr>
              <a:t>Notifikasi langsung untuk tiket yang mendekati atau telah melewati Service Level Agreement.</a:t>
            </a:r>
          </a:p>
          <a:p>
            <a:pPr>
              <a:spcAft>
                <a:spcPts val="600"/>
              </a:spcAft>
            </a:pPr>
            <a:r>
              <a:rPr b="1" sz="1150">
                <a:solidFill>
                  <a:srgbClr val="0F172A"/>
                </a:solidFill>
              </a:rPr>
              <a:t>[4] Distribusi Brand &amp; Pipeline: </a:t>
            </a:r>
            <a:r>
              <a:rPr sz="1100">
                <a:solidFill>
                  <a:srgbClr val="475569"/>
                </a:solidFill>
              </a:rPr>
              <a:t>Grafik proporsi permintaan berdasarkan klien utama (Internal vs Eksternal).</a:t>
            </a:r>
          </a:p>
          <a:p>
            <a:pPr>
              <a:spcAft>
                <a:spcPts val="600"/>
              </a:spcAft>
            </a:pPr>
            <a:r>
              <a:rPr b="1" sz="1150">
                <a:solidFill>
                  <a:srgbClr val="0F172A"/>
                </a:solidFill>
              </a:rPr>
              <a:t>[5] Akses Cepat: </a:t>
            </a:r>
            <a:r>
              <a:rPr sz="1100">
                <a:solidFill>
                  <a:srgbClr val="475569"/>
                </a:solidFill>
              </a:rPr>
              <a:t>Navigasi instan ke antrean tugas prioritas tinggi.</a:t>
            </a:r>
          </a:p>
        </p:txBody>
      </p:sp>
      <p:pic>
        <p:nvPicPr>
          <p:cNvPr id="6" name="Picture 5" descr="02_dashboard_overview_1791381296787.png"/>
          <p:cNvPicPr>
            <a:picLocks noChangeAspect="1"/>
          </p:cNvPicPr>
          <p:nvPr/>
        </p:nvPicPr>
        <p:blipFill>
          <a:blip r:embed="rId2"/>
          <a:stretch>
            <a:fillRect/>
          </a:stretch>
        </p:blipFill>
        <p:spPr>
          <a:xfrm>
            <a:off x="5852160" y="1280160"/>
            <a:ext cx="5577840" cy="4572000"/>
          </a:xfrm>
          <a:prstGeom prst="rect">
            <a:avLst/>
          </a:prstGeom>
        </p:spPr>
      </p:pic>
      <p:sp>
        <p:nvSpPr>
          <p:cNvPr id="7" name="TextBox 6"/>
          <p:cNvSpPr txBox="1"/>
          <p:nvPr/>
        </p:nvSpPr>
        <p:spPr>
          <a:xfrm>
            <a:off x="5852160" y="5907024"/>
            <a:ext cx="5577840" cy="228600"/>
          </a:xfrm>
          <a:prstGeom prst="rect">
            <a:avLst/>
          </a:prstGeom>
          <a:noFill/>
        </p:spPr>
        <p:txBody>
          <a:bodyPr wrap="square" lIns="0" tIns="0" rIns="0" bIns="0">
            <a:spAutoFit/>
          </a:bodyPr>
          <a:lstStyle/>
          <a:p>
            <a:pPr algn="ctr">
              <a:defRPr sz="950" i="1">
                <a:solidFill>
                  <a:srgbClr val="94A3B8"/>
                </a:solidFill>
                <a:latin typeface="Arial"/>
              </a:defRPr>
            </a:pPr>
            <a:r>
              <a:t>Dashboard Ringkasan Operasional &amp; Grafik Metrik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NAVIGASI</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Struktur Menu Navigasi &amp; Sidebar</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7</a:t>
            </a:r>
          </a:p>
        </p:txBody>
      </p:sp>
      <p:sp>
        <p:nvSpPr>
          <p:cNvPr id="5" name="TextBox 4"/>
          <p:cNvSpPr txBox="1"/>
          <p:nvPr/>
        </p:nvSpPr>
        <p:spPr>
          <a:xfrm>
            <a:off x="731520" y="1280160"/>
            <a:ext cx="5303520" cy="4754880"/>
          </a:xfrm>
          <a:prstGeom prst="rect">
            <a:avLst/>
          </a:prstGeom>
          <a:noFill/>
        </p:spPr>
        <p:txBody>
          <a:bodyPr wrap="square">
            <a:spAutoFit/>
          </a:bodyPr>
          <a:lstStyle/>
          <a:p>
            <a:pPr>
              <a:spcAft>
                <a:spcPts val="300"/>
              </a:spcAft>
            </a:pPr>
            <a:r>
              <a:rPr b="1" sz="1100">
                <a:solidFill>
                  <a:srgbClr val="0F172A"/>
                </a:solidFill>
              </a:rPr>
              <a:t>Grup Menu Sidebar: </a:t>
            </a:r>
          </a:p>
          <a:p>
            <a:pPr>
              <a:spcAft>
                <a:spcPts val="300"/>
              </a:spcAft>
            </a:pPr>
            <a:r>
              <a:rPr b="1" sz="1100">
                <a:solidFill>
                  <a:srgbClr val="0F766E"/>
                </a:solidFill>
              </a:rPr>
              <a:t>A. MAIN MENU (Operasional Harian): </a:t>
            </a:r>
          </a:p>
          <a:p>
            <a:pPr>
              <a:spcAft>
                <a:spcPts val="300"/>
              </a:spcAft>
            </a:pPr>
            <a:r>
              <a:rPr b="1" sz="1100">
                <a:solidFill>
                  <a:srgbClr val="0F172A"/>
                </a:solidFill>
              </a:rPr>
              <a:t>• Dashboard: </a:t>
            </a:r>
            <a:r>
              <a:rPr sz="1050">
                <a:solidFill>
                  <a:srgbClr val="475569"/>
                </a:solidFill>
              </a:rPr>
              <a:t>Ringkasan metrik dan aktivitas umum.</a:t>
            </a:r>
          </a:p>
          <a:p>
            <a:pPr>
              <a:spcAft>
                <a:spcPts val="300"/>
              </a:spcAft>
            </a:pPr>
            <a:r>
              <a:rPr b="1" sz="1100">
                <a:solidFill>
                  <a:srgbClr val="0F172A"/>
                </a:solidFill>
              </a:rPr>
              <a:t>• Task Management: </a:t>
            </a:r>
            <a:r>
              <a:rPr sz="1050">
                <a:solidFill>
                  <a:srgbClr val="475569"/>
                </a:solidFill>
              </a:rPr>
              <a:t>Manajemen desain grafis/mockup statis.</a:t>
            </a:r>
          </a:p>
          <a:p>
            <a:pPr>
              <a:spcAft>
                <a:spcPts val="300"/>
              </a:spcAft>
            </a:pPr>
            <a:r>
              <a:rPr b="1" sz="1100">
                <a:solidFill>
                  <a:srgbClr val="0F172A"/>
                </a:solidFill>
              </a:rPr>
              <a:t>• Motion Pipeline: </a:t>
            </a:r>
            <a:r>
              <a:rPr sz="1050">
                <a:solidFill>
                  <a:srgbClr val="475569"/>
                </a:solidFill>
              </a:rPr>
              <a:t>Manajemen produksi video &amp; animasi motion.</a:t>
            </a:r>
          </a:p>
          <a:p>
            <a:pPr>
              <a:spcAft>
                <a:spcPts val="300"/>
              </a:spcAft>
            </a:pPr>
            <a:r>
              <a:rPr b="1" sz="1100">
                <a:solidFill>
                  <a:srgbClr val="0F172A"/>
                </a:solidFill>
              </a:rPr>
              <a:t>• Workload &amp; Capacity: </a:t>
            </a:r>
            <a:r>
              <a:rPr sz="1050">
                <a:solidFill>
                  <a:srgbClr val="475569"/>
                </a:solidFill>
              </a:rPr>
              <a:t>Matriks beban kerja &amp; alokasi poin tim.</a:t>
            </a:r>
          </a:p>
          <a:p>
            <a:pPr>
              <a:spcAft>
                <a:spcPts val="300"/>
              </a:spcAft>
            </a:pPr>
            <a:r>
              <a:rPr b="1" sz="1100">
                <a:solidFill>
                  <a:srgbClr val="0F172A"/>
                </a:solidFill>
              </a:rPr>
              <a:t>• Reports &amp; Analytics: </a:t>
            </a:r>
            <a:r>
              <a:rPr sz="1050">
                <a:solidFill>
                  <a:srgbClr val="475569"/>
                </a:solidFill>
              </a:rPr>
              <a:t>Laporan performa SLA &amp; tren output.</a:t>
            </a:r>
          </a:p>
          <a:p>
            <a:pPr>
              <a:spcAft>
                <a:spcPts val="300"/>
              </a:spcAft>
            </a:pPr>
            <a:r>
              <a:rPr b="1" sz="1100">
                <a:solidFill>
                  <a:srgbClr val="0F172A"/>
                </a:solidFill>
              </a:rPr>
              <a:t>B. ADMINISTRATION (Data Master &amp; Audit): </a:t>
            </a:r>
          </a:p>
          <a:p>
            <a:pPr>
              <a:spcAft>
                <a:spcPts val="300"/>
              </a:spcAft>
            </a:pPr>
            <a:r>
              <a:rPr b="1" sz="1100">
                <a:solidFill>
                  <a:srgbClr val="0F172A"/>
                </a:solidFill>
              </a:rPr>
              <a:t>• Clients / Brands: </a:t>
            </a:r>
            <a:r>
              <a:rPr sz="1050">
                <a:solidFill>
                  <a:srgbClr val="475569"/>
                </a:solidFill>
              </a:rPr>
              <a:t>Kelola master klien &amp; status kerjasama.</a:t>
            </a:r>
          </a:p>
          <a:p>
            <a:pPr>
              <a:spcAft>
                <a:spcPts val="300"/>
              </a:spcAft>
            </a:pPr>
            <a:r>
              <a:rPr b="1" sz="1100">
                <a:solidFill>
                  <a:srgbClr val="0F172A"/>
                </a:solidFill>
              </a:rPr>
              <a:t>• Content Types: </a:t>
            </a:r>
            <a:r>
              <a:rPr sz="1050">
                <a:solidFill>
                  <a:srgbClr val="475569"/>
                </a:solidFill>
              </a:rPr>
              <a:t>Pengaturan format desain &amp; bobot kesulitan bawaan.</a:t>
            </a:r>
          </a:p>
          <a:p>
            <a:pPr>
              <a:spcAft>
                <a:spcPts val="300"/>
              </a:spcAft>
            </a:pPr>
            <a:r>
              <a:rPr b="1" sz="1100">
                <a:solidFill>
                  <a:srgbClr val="0F172A"/>
                </a:solidFill>
              </a:rPr>
              <a:t>• Holiday Calendar: </a:t>
            </a:r>
            <a:r>
              <a:rPr sz="1050">
                <a:solidFill>
                  <a:srgbClr val="475569"/>
                </a:solidFill>
              </a:rPr>
              <a:t>Registrasi hari libur nasional &amp; cuti bersama.</a:t>
            </a:r>
          </a:p>
          <a:p>
            <a:pPr>
              <a:spcAft>
                <a:spcPts val="300"/>
              </a:spcAft>
            </a:pPr>
            <a:r>
              <a:rPr b="1" sz="1100">
                <a:solidFill>
                  <a:srgbClr val="0F172A"/>
                </a:solidFill>
              </a:rPr>
              <a:t>• User Management: </a:t>
            </a:r>
            <a:r>
              <a:rPr sz="1050">
                <a:solidFill>
                  <a:srgbClr val="475569"/>
                </a:solidFill>
              </a:rPr>
              <a:t>Kelola pengguna, peran &amp; batas kapasitas poin.</a:t>
            </a:r>
          </a:p>
          <a:p>
            <a:pPr>
              <a:spcAft>
                <a:spcPts val="300"/>
              </a:spcAft>
            </a:pPr>
            <a:r>
              <a:rPr b="1" sz="1100">
                <a:solidFill>
                  <a:srgbClr val="0F172A"/>
                </a:solidFill>
              </a:rPr>
              <a:t>• Audit Trail: </a:t>
            </a:r>
            <a:r>
              <a:rPr sz="1050">
                <a:solidFill>
                  <a:srgbClr val="475569"/>
                </a:solidFill>
              </a:rPr>
              <a:t>Perekam jejak aktivitas sistem secara permanen.</a:t>
            </a:r>
          </a:p>
        </p:txBody>
      </p:sp>
      <p:pic>
        <p:nvPicPr>
          <p:cNvPr id="6" name="Picture 5" descr="sidebar_navigation_1791382271817.png"/>
          <p:cNvPicPr>
            <a:picLocks noChangeAspect="1"/>
          </p:cNvPicPr>
          <p:nvPr/>
        </p:nvPicPr>
        <p:blipFill>
          <a:blip r:embed="rId2"/>
          <a:stretch>
            <a:fillRect/>
          </a:stretch>
        </p:blipFill>
        <p:spPr>
          <a:xfrm>
            <a:off x="6400800" y="1280160"/>
            <a:ext cx="5029200" cy="4572000"/>
          </a:xfrm>
          <a:prstGeom prst="rect">
            <a:avLst/>
          </a:prstGeom>
        </p:spPr>
      </p:pic>
      <p:sp>
        <p:nvSpPr>
          <p:cNvPr id="7" name="TextBox 6"/>
          <p:cNvSpPr txBox="1"/>
          <p:nvPr/>
        </p:nvSpPr>
        <p:spPr>
          <a:xfrm>
            <a:off x="6400800" y="5907024"/>
            <a:ext cx="5029200" cy="228600"/>
          </a:xfrm>
          <a:prstGeom prst="rect">
            <a:avLst/>
          </a:prstGeom>
          <a:noFill/>
        </p:spPr>
        <p:txBody>
          <a:bodyPr wrap="square" lIns="0" tIns="0" rIns="0" bIns="0">
            <a:spAutoFit/>
          </a:bodyPr>
          <a:lstStyle/>
          <a:p>
            <a:pPr algn="ctr">
              <a:defRPr sz="950" i="1">
                <a:solidFill>
                  <a:srgbClr val="94A3B8"/>
                </a:solidFill>
                <a:latin typeface="Arial"/>
              </a:defRPr>
            </a:pPr>
            <a:r>
              <a:t>Tampilan Struktur Sidebar Menu Lengkap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Task Management (Pusat Kendali Desain Statis)</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8</a:t>
            </a:r>
          </a:p>
        </p:txBody>
      </p:sp>
      <p:sp>
        <p:nvSpPr>
          <p:cNvPr id="5" name="TextBox 4"/>
          <p:cNvSpPr txBox="1"/>
          <p:nvPr/>
        </p:nvSpPr>
        <p:spPr>
          <a:xfrm>
            <a:off x="731520" y="1188720"/>
            <a:ext cx="10698480" cy="731520"/>
          </a:xfrm>
          <a:prstGeom prst="rect">
            <a:avLst/>
          </a:prstGeom>
          <a:noFill/>
        </p:spPr>
        <p:txBody>
          <a:bodyPr wrap="square">
            <a:spAutoFit/>
          </a:bodyPr>
          <a:lstStyle/>
          <a:p>
            <a:pPr>
              <a:defRPr sz="1200">
                <a:solidFill>
                  <a:srgbClr val="475569"/>
                </a:solidFill>
              </a:defRPr>
            </a:pPr>
            <a:r>
              <a:t>Halaman Task Management adalah pusat kendali untuk memantau, mengelola, dan melacak seluruh permintaan Mockup dari awal hingga selesai. Halaman ini dirancang untuk memfasilitasi kolaborasi antara Requester (AE), Designer (GD), dan Team Lead.</a:t>
            </a:r>
          </a:p>
        </p:txBody>
      </p:sp>
      <p:pic>
        <p:nvPicPr>
          <p:cNvPr id="6" name="Picture 5" descr="page_04_img_1_35.jpeg"/>
          <p:cNvPicPr>
            <a:picLocks noChangeAspect="1"/>
          </p:cNvPicPr>
          <p:nvPr/>
        </p:nvPicPr>
        <p:blipFill>
          <a:blip r:embed="rId2"/>
          <a:stretch>
            <a:fillRect/>
          </a:stretch>
        </p:blipFill>
        <p:spPr>
          <a:xfrm>
            <a:off x="731520" y="2011680"/>
            <a:ext cx="10698480" cy="4114800"/>
          </a:xfrm>
          <a:prstGeom prst="rect">
            <a:avLst/>
          </a:prstGeom>
        </p:spPr>
      </p:pic>
      <p:sp>
        <p:nvSpPr>
          <p:cNvPr id="7" name="TextBox 6"/>
          <p:cNvSpPr txBox="1"/>
          <p:nvPr/>
        </p:nvSpPr>
        <p:spPr>
          <a:xfrm>
            <a:off x="731520" y="6181344"/>
            <a:ext cx="10698480" cy="228600"/>
          </a:xfrm>
          <a:prstGeom prst="rect">
            <a:avLst/>
          </a:prstGeom>
          <a:noFill/>
        </p:spPr>
        <p:txBody>
          <a:bodyPr wrap="square" lIns="0" tIns="0" rIns="0" bIns="0">
            <a:spAutoFit/>
          </a:bodyPr>
          <a:lstStyle/>
          <a:p>
            <a:pPr algn="ctr">
              <a:defRPr sz="950" i="1">
                <a:solidFill>
                  <a:srgbClr val="94A3B8"/>
                </a:solidFill>
                <a:latin typeface="Arial"/>
              </a:defRPr>
            </a:pPr>
            <a:r>
              <a:t>Tampilan Penuh Halaman Task Management (Mockup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2. Navigasi Tampilan (View Modes)</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9</a:t>
            </a:r>
          </a:p>
        </p:txBody>
      </p:sp>
      <p:sp>
        <p:nvSpPr>
          <p:cNvPr id="5" name="TextBox 4"/>
          <p:cNvSpPr txBox="1"/>
          <p:nvPr/>
        </p:nvSpPr>
        <p:spPr>
          <a:xfrm>
            <a:off x="731520" y="1188720"/>
            <a:ext cx="5303520" cy="2743200"/>
          </a:xfrm>
          <a:prstGeom prst="rect">
            <a:avLst/>
          </a:prstGeom>
          <a:noFill/>
        </p:spPr>
        <p:txBody>
          <a:bodyPr wrap="square">
            <a:spAutoFit/>
          </a:bodyPr>
          <a:lstStyle/>
          <a:p>
            <a:pPr>
              <a:spcAft>
                <a:spcPts val="800"/>
              </a:spcAft>
              <a:defRPr sz="1100">
                <a:solidFill>
                  <a:srgbClr val="475569"/>
                </a:solidFill>
              </a:defRPr>
            </a:pPr>
            <a:r>
              <a:t>Anda dapat melihat daftar tugas dalam dua pilihan tampilan sesuai dengan kebutuhan Anda. Tombol pengaturan tampilan berada di bagian kanan atas halaman (di sebelah kolom pencarian).</a:t>
            </a:r>
          </a:p>
          <a:p>
            <a:pPr>
              <a:spcAft>
                <a:spcPts val="400"/>
              </a:spcAft>
            </a:pPr>
            <a:r>
              <a:rPr b="1" sz="1050">
                <a:solidFill>
                  <a:srgbClr val="0F172A"/>
                </a:solidFill>
                <a:latin typeface="Arial"/>
              </a:rPr>
              <a:t>A. </a:t>
            </a:r>
            <a:r>
              <a:rPr b="1" sz="1050">
                <a:solidFill>
                  <a:srgbClr val="0F172A"/>
                </a:solidFill>
                <a:latin typeface="Arial"/>
              </a:rPr>
              <a:t>Tampilan Kanban (Kanban View): </a:t>
            </a:r>
            <a:r>
              <a:rPr b="0" sz="1050">
                <a:solidFill>
                  <a:srgbClr val="475569"/>
                </a:solidFill>
                <a:latin typeface="Arial"/>
              </a:rPr>
              <a:t>Tampilan visual berbentuk papan (board) yang membagi tugas berdasarkan statusnya saat ini (misal: Unassigned, Assigned, In Progress, Submitted, dsb.).</a:t>
            </a:r>
          </a:p>
          <a:p>
            <a:pPr>
              <a:spcAft>
                <a:spcPts val="400"/>
              </a:spcAft>
            </a:pPr>
            <a:r>
              <a:rPr b="1" sz="1050">
                <a:solidFill>
                  <a:srgbClr val="0F172A"/>
                </a:solidFill>
                <a:latin typeface="Arial"/>
              </a:rPr>
              <a:t>B. </a:t>
            </a:r>
            <a:r>
              <a:rPr b="1" sz="1050">
                <a:solidFill>
                  <a:srgbClr val="0F172A"/>
                </a:solidFill>
                <a:latin typeface="Arial"/>
              </a:rPr>
              <a:t>Tampilan Tabel (Table View): </a:t>
            </a:r>
            <a:r>
              <a:rPr b="0" sz="1050">
                <a:solidFill>
                  <a:srgbClr val="475569"/>
                </a:solidFill>
                <a:latin typeface="Arial"/>
              </a:rPr>
              <a:t>Tampilan berupa daftar baris yang padat informasi, menampilkan detail seperti Kode Task, Brand, Kesulitan, Status, SLA, Tanggal, dan Aksi.</a:t>
            </a:r>
          </a:p>
          <a:p>
            <a:pPr>
              <a:spcAft>
                <a:spcPts val="400"/>
              </a:spcAft>
            </a:pPr>
            <a:r>
              <a:rPr b="1" sz="1050">
                <a:solidFill>
                  <a:srgbClr val="0F172A"/>
                </a:solidFill>
                <a:latin typeface="Arial"/>
              </a:rPr>
              <a:t>Cara pakai: </a:t>
            </a:r>
            <a:r>
              <a:rPr b="0" sz="1050">
                <a:solidFill>
                  <a:srgbClr val="475569"/>
                </a:solidFill>
                <a:latin typeface="Arial"/>
              </a:rPr>
              <a:t>Klik card/kartu tugas untuk melihat detail dari tugas tersebut.</a:t>
            </a:r>
          </a:p>
        </p:txBody>
      </p:sp>
      <p:pic>
        <p:nvPicPr>
          <p:cNvPr id="6" name="Picture 5" descr="page_05_img_1_43.jpeg"/>
          <p:cNvPicPr>
            <a:picLocks noChangeAspect="1"/>
          </p:cNvPicPr>
          <p:nvPr/>
        </p:nvPicPr>
        <p:blipFill>
          <a:blip r:embed="rId2"/>
          <a:stretch>
            <a:fillRect/>
          </a:stretch>
        </p:blipFill>
        <p:spPr>
          <a:xfrm>
            <a:off x="731520" y="4114800"/>
            <a:ext cx="2926080" cy="1645920"/>
          </a:xfrm>
          <a:prstGeom prst="rect">
            <a:avLst/>
          </a:prstGeom>
        </p:spPr>
      </p:pic>
      <p:pic>
        <p:nvPicPr>
          <p:cNvPr id="7" name="Picture 6" descr="page_05_img_2_44.jpeg"/>
          <p:cNvPicPr>
            <a:picLocks noChangeAspect="1"/>
          </p:cNvPicPr>
          <p:nvPr/>
        </p:nvPicPr>
        <p:blipFill>
          <a:blip r:embed="rId3"/>
          <a:stretch>
            <a:fillRect/>
          </a:stretch>
        </p:blipFill>
        <p:spPr>
          <a:xfrm>
            <a:off x="6217920" y="1188720"/>
            <a:ext cx="5212080" cy="2468880"/>
          </a:xfrm>
          <a:prstGeom prst="rect">
            <a:avLst/>
          </a:prstGeom>
        </p:spPr>
      </p:pic>
      <p:sp>
        <p:nvSpPr>
          <p:cNvPr id="8" name="TextBox 7"/>
          <p:cNvSpPr txBox="1"/>
          <p:nvPr/>
        </p:nvSpPr>
        <p:spPr>
          <a:xfrm>
            <a:off x="6217920" y="3712464"/>
            <a:ext cx="5212080" cy="228600"/>
          </a:xfrm>
          <a:prstGeom prst="rect">
            <a:avLst/>
          </a:prstGeom>
          <a:noFill/>
        </p:spPr>
        <p:txBody>
          <a:bodyPr wrap="square" lIns="0" tIns="0" rIns="0" bIns="0">
            <a:spAutoFit/>
          </a:bodyPr>
          <a:lstStyle/>
          <a:p>
            <a:pPr algn="ctr">
              <a:defRPr sz="950" i="1">
                <a:solidFill>
                  <a:srgbClr val="94A3B8"/>
                </a:solidFill>
                <a:latin typeface="Arial"/>
              </a:defRPr>
            </a:pPr>
            <a:r>
              <a:t>Screenshot Tampilan Kanban</a:t>
            </a:r>
          </a:p>
        </p:txBody>
      </p:sp>
      <p:pic>
        <p:nvPicPr>
          <p:cNvPr id="9" name="Picture 8" descr="page_05_img_3_45.jpeg"/>
          <p:cNvPicPr>
            <a:picLocks noChangeAspect="1"/>
          </p:cNvPicPr>
          <p:nvPr/>
        </p:nvPicPr>
        <p:blipFill>
          <a:blip r:embed="rId4"/>
          <a:stretch>
            <a:fillRect/>
          </a:stretch>
        </p:blipFill>
        <p:spPr>
          <a:xfrm>
            <a:off x="6217920" y="3840480"/>
            <a:ext cx="5212080" cy="2468880"/>
          </a:xfrm>
          <a:prstGeom prst="rect">
            <a:avLst/>
          </a:prstGeom>
        </p:spPr>
      </p:pic>
      <p:sp>
        <p:nvSpPr>
          <p:cNvPr id="10" name="TextBox 9"/>
          <p:cNvSpPr txBox="1"/>
          <p:nvPr/>
        </p:nvSpPr>
        <p:spPr>
          <a:xfrm>
            <a:off x="6217920" y="6364224"/>
            <a:ext cx="5212080" cy="228600"/>
          </a:xfrm>
          <a:prstGeom prst="rect">
            <a:avLst/>
          </a:prstGeom>
          <a:noFill/>
        </p:spPr>
        <p:txBody>
          <a:bodyPr wrap="square" lIns="0" tIns="0" rIns="0" bIns="0">
            <a:spAutoFit/>
          </a:bodyPr>
          <a:lstStyle/>
          <a:p>
            <a:pPr algn="ctr">
              <a:defRPr sz="950" i="1">
                <a:solidFill>
                  <a:srgbClr val="94A3B8"/>
                </a:solidFill>
                <a:latin typeface="Arial"/>
              </a:defRPr>
            </a:pPr>
            <a:r>
              <a:t>Screenshot Tampilan Tabel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3. Fitur Pencarian dan Filter</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10</a:t>
            </a:r>
          </a:p>
        </p:txBody>
      </p:sp>
      <p:sp>
        <p:nvSpPr>
          <p:cNvPr id="5" name="TextBox 4"/>
          <p:cNvSpPr txBox="1"/>
          <p:nvPr/>
        </p:nvSpPr>
        <p:spPr>
          <a:xfrm>
            <a:off x="731520" y="1188720"/>
            <a:ext cx="10698480" cy="365760"/>
          </a:xfrm>
          <a:prstGeom prst="rect">
            <a:avLst/>
          </a:prstGeom>
          <a:noFill/>
        </p:spPr>
        <p:txBody>
          <a:bodyPr wrap="none">
            <a:spAutoFit/>
          </a:bodyPr>
          <a:lstStyle/>
          <a:p>
            <a:pPr>
              <a:defRPr sz="1150">
                <a:solidFill>
                  <a:srgbClr val="475569"/>
                </a:solidFill>
              </a:defRPr>
            </a:pPr>
            <a:r>
              <a:t>Gunakan toolbar di bagian atas untuk menemukan spesifik tugas yang Anda cari:</a:t>
            </a:r>
          </a:p>
        </p:txBody>
      </p:sp>
      <p:sp>
        <p:nvSpPr>
          <p:cNvPr id="6" name="TextBox 5"/>
          <p:cNvSpPr txBox="1"/>
          <p:nvPr/>
        </p:nvSpPr>
        <p:spPr>
          <a:xfrm>
            <a:off x="731520" y="1645920"/>
            <a:ext cx="10698480" cy="2011680"/>
          </a:xfrm>
          <a:prstGeom prst="rect">
            <a:avLst/>
          </a:prstGeom>
          <a:noFill/>
        </p:spPr>
        <p:txBody>
          <a:bodyPr wrap="square">
            <a:spAutoFit/>
          </a:bodyPr>
          <a:lstStyle/>
          <a:p>
            <a:pPr>
              <a:spcAft>
                <a:spcPts val="400"/>
              </a:spcAft>
            </a:pPr>
            <a:r>
              <a:rPr b="1" sz="1100">
                <a:solidFill>
                  <a:srgbClr val="0F172A"/>
                </a:solidFill>
                <a:latin typeface="Arial"/>
              </a:rPr>
              <a:t>• </a:t>
            </a:r>
            <a:r>
              <a:rPr b="1" sz="1100">
                <a:solidFill>
                  <a:srgbClr val="0F172A"/>
                </a:solidFill>
                <a:latin typeface="Arial"/>
              </a:rPr>
              <a:t>Kolom Pencarian: </a:t>
            </a:r>
            <a:r>
              <a:rPr b="0" sz="1100">
                <a:solidFill>
                  <a:srgbClr val="475569"/>
                </a:solidFill>
                <a:latin typeface="Arial"/>
              </a:rPr>
              <a:t>Ketik nama Brand, nama Campaign, Kode Task, atau nama Designer untuk mencari tugas dengan cepat.</a:t>
            </a:r>
          </a:p>
          <a:p>
            <a:pPr>
              <a:spcAft>
                <a:spcPts val="400"/>
              </a:spcAft>
            </a:pPr>
            <a:r>
              <a:rPr b="1" sz="1100">
                <a:solidFill>
                  <a:srgbClr val="0F172A"/>
                </a:solidFill>
                <a:latin typeface="Arial"/>
              </a:rPr>
              <a:t>• </a:t>
            </a:r>
            <a:r>
              <a:rPr b="1" sz="1100">
                <a:solidFill>
                  <a:srgbClr val="0F172A"/>
                </a:solidFill>
                <a:latin typeface="Arial"/>
              </a:rPr>
              <a:t>Filter Waktu: </a:t>
            </a:r>
            <a:r>
              <a:rPr b="0" sz="1100">
                <a:solidFill>
                  <a:srgbClr val="475569"/>
                </a:solidFill>
                <a:latin typeface="Arial"/>
              </a:rPr>
              <a:t>Menyaring daftar tugas berdasarkan Bulan dan Tahun, atau gunakan fitur kalender 'Exact Date' untuk mencari tugas di tanggal spesifik.</a:t>
            </a:r>
          </a:p>
          <a:p>
            <a:pPr>
              <a:spcAft>
                <a:spcPts val="400"/>
              </a:spcAft>
            </a:pPr>
            <a:r>
              <a:rPr b="1" sz="1100">
                <a:solidFill>
                  <a:srgbClr val="0F172A"/>
                </a:solidFill>
                <a:latin typeface="Arial"/>
              </a:rPr>
              <a:t>• </a:t>
            </a:r>
            <a:r>
              <a:rPr b="1" sz="1100">
                <a:solidFill>
                  <a:srgbClr val="0F172A"/>
                </a:solidFill>
                <a:latin typeface="Arial"/>
              </a:rPr>
              <a:t>Filter Status: </a:t>
            </a:r>
            <a:r>
              <a:rPr b="0" sz="1100">
                <a:solidFill>
                  <a:srgbClr val="475569"/>
                </a:solidFill>
                <a:latin typeface="Arial"/>
              </a:rPr>
              <a:t>Menampilkan tugas hanya dengan status tertentu (contoh: Hanya menampilkan yang 'In Progress').</a:t>
            </a:r>
          </a:p>
          <a:p>
            <a:pPr>
              <a:spcAft>
                <a:spcPts val="400"/>
              </a:spcAft>
            </a:pPr>
            <a:r>
              <a:rPr b="1" sz="1100">
                <a:solidFill>
                  <a:srgbClr val="0F172A"/>
                </a:solidFill>
                <a:latin typeface="Arial"/>
              </a:rPr>
              <a:t>• </a:t>
            </a:r>
            <a:r>
              <a:rPr b="1" sz="1100">
                <a:solidFill>
                  <a:srgbClr val="0F172A"/>
                </a:solidFill>
                <a:latin typeface="Arial"/>
              </a:rPr>
              <a:t>Filter Designer: </a:t>
            </a:r>
            <a:r>
              <a:rPr b="0" sz="1100">
                <a:solidFill>
                  <a:srgbClr val="475569"/>
                </a:solidFill>
                <a:latin typeface="Arial"/>
              </a:rPr>
              <a:t>Menampilkan tugas yang sedang dikerjakan oleh Designer tertentu.</a:t>
            </a:r>
          </a:p>
          <a:p>
            <a:pPr>
              <a:spcAft>
                <a:spcPts val="400"/>
              </a:spcAft>
            </a:pPr>
            <a:r>
              <a:rPr b="1" sz="1100">
                <a:solidFill>
                  <a:srgbClr val="0F172A"/>
                </a:solidFill>
                <a:latin typeface="Arial"/>
              </a:rPr>
              <a:t>• </a:t>
            </a:r>
            <a:r>
              <a:rPr b="1" sz="1100">
                <a:solidFill>
                  <a:srgbClr val="0F172A"/>
                </a:solidFill>
                <a:latin typeface="Arial"/>
              </a:rPr>
              <a:t>Tombol Export: </a:t>
            </a:r>
            <a:r>
              <a:rPr b="0" sz="1100">
                <a:solidFill>
                  <a:srgbClr val="475569"/>
                </a:solidFill>
                <a:latin typeface="Arial"/>
              </a:rPr>
              <a:t>Klik Export untuk mengunduh data tugas yang sedang tampil ke dalam bentuk file Microsoft Excel / CSV.</a:t>
            </a:r>
          </a:p>
        </p:txBody>
      </p:sp>
      <p:pic>
        <p:nvPicPr>
          <p:cNvPr id="7" name="Picture 6" descr="page_06_img_1_54.jpeg"/>
          <p:cNvPicPr>
            <a:picLocks noChangeAspect="1"/>
          </p:cNvPicPr>
          <p:nvPr/>
        </p:nvPicPr>
        <p:blipFill>
          <a:blip r:embed="rId2"/>
          <a:stretch>
            <a:fillRect/>
          </a:stretch>
        </p:blipFill>
        <p:spPr>
          <a:xfrm>
            <a:off x="731520" y="3931920"/>
            <a:ext cx="10698480" cy="2286000"/>
          </a:xfrm>
          <a:prstGeom prst="rect">
            <a:avLst/>
          </a:prstGeom>
        </p:spPr>
      </p:pic>
      <p:sp>
        <p:nvSpPr>
          <p:cNvPr id="8" name="TextBox 7"/>
          <p:cNvSpPr txBox="1"/>
          <p:nvPr/>
        </p:nvSpPr>
        <p:spPr>
          <a:xfrm>
            <a:off x="731520" y="6272784"/>
            <a:ext cx="10698480" cy="228600"/>
          </a:xfrm>
          <a:prstGeom prst="rect">
            <a:avLst/>
          </a:prstGeom>
          <a:noFill/>
        </p:spPr>
        <p:txBody>
          <a:bodyPr wrap="square" lIns="0" tIns="0" rIns="0" bIns="0">
            <a:spAutoFit/>
          </a:bodyPr>
          <a:lstStyle/>
          <a:p>
            <a:pPr algn="ctr">
              <a:defRPr sz="950" i="1">
                <a:solidFill>
                  <a:srgbClr val="94A3B8"/>
                </a:solidFill>
                <a:latin typeface="Arial"/>
              </a:defRPr>
            </a:pPr>
            <a:r>
              <a:t>Screenshot Bagian Toolbar / Filter &amp; Tombol Export</a:t>
            </a:r>
          </a:p>
        </p:txBody>
      </p:sp>
      <p:sp>
        <p:nvSpPr>
          <p:cNvPr id="9" name="Rectangle 8"/>
          <p:cNvSpPr/>
          <p:nvPr/>
        </p:nvSpPr>
        <p:spPr>
          <a:xfrm>
            <a:off x="777240" y="4297680"/>
            <a:ext cx="4389120" cy="1097280"/>
          </a:xfrm>
          <a:prstGeom prst="rect">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26880" y="4297680"/>
            <a:ext cx="2011680" cy="1097280"/>
          </a:xfrm>
          <a:prstGeom prst="rect">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4. Cara Membuat Task Baru (Create New Task)</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11</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Khusus Role: Admin, Team Lead, Requester, Strategic PIC</a:t>
            </a:r>
          </a:p>
        </p:txBody>
      </p:sp>
      <p:sp>
        <p:nvSpPr>
          <p:cNvPr id="6" name="TextBox 5"/>
          <p:cNvSpPr txBox="1"/>
          <p:nvPr/>
        </p:nvSpPr>
        <p:spPr>
          <a:xfrm>
            <a:off x="731520" y="1554480"/>
            <a:ext cx="5303520" cy="4389120"/>
          </a:xfrm>
          <a:prstGeom prst="rect">
            <a:avLst/>
          </a:prstGeom>
          <a:noFill/>
        </p:spPr>
        <p:txBody>
          <a:bodyPr wrap="square">
            <a:spAutoFit/>
          </a:bodyPr>
          <a:lstStyle/>
          <a:p>
            <a:pPr>
              <a:spcAft>
                <a:spcPts val="200"/>
              </a:spcAft>
            </a:pPr>
            <a:r>
              <a:rPr b="1" sz="1050">
                <a:solidFill>
                  <a:srgbClr val="0F172A"/>
                </a:solidFill>
              </a:rPr>
              <a:t>1. Klik Tombol: </a:t>
            </a:r>
            <a:r>
              <a:rPr sz="1000">
                <a:solidFill>
                  <a:srgbClr val="475569"/>
                </a:solidFill>
              </a:rPr>
              <a:t>Klik tombol '+ New Task' berwarna biru di pojok kanan atas.</a:t>
            </a:r>
          </a:p>
          <a:p>
            <a:pPr>
              <a:spcAft>
                <a:spcPts val="200"/>
              </a:spcAft>
            </a:pPr>
            <a:r>
              <a:rPr b="1" sz="1050">
                <a:solidFill>
                  <a:srgbClr val="0F172A"/>
                </a:solidFill>
              </a:rPr>
              <a:t>2. Form Input: </a:t>
            </a:r>
            <a:r>
              <a:rPr sz="1000">
                <a:solidFill>
                  <a:srgbClr val="475569"/>
                </a:solidFill>
              </a:rPr>
              <a:t>Akan muncul jendela Create New Task.</a:t>
            </a:r>
          </a:p>
          <a:p>
            <a:pPr>
              <a:spcAft>
                <a:spcPts val="200"/>
              </a:spcAft>
            </a:pPr>
            <a:r>
              <a:rPr b="1" sz="1050">
                <a:solidFill>
                  <a:srgbClr val="0F172A"/>
                </a:solidFill>
              </a:rPr>
              <a:t>3. Isi Data Wajib: </a:t>
            </a:r>
          </a:p>
          <a:p>
            <a:pPr>
              <a:spcAft>
                <a:spcPts val="200"/>
              </a:spcAft>
            </a:pPr>
            <a:r>
              <a:rPr b="1" sz="1050">
                <a:solidFill>
                  <a:srgbClr val="0F172A"/>
                </a:solidFill>
              </a:rPr>
              <a:t>   • Client / Brand: </a:t>
            </a:r>
            <a:r>
              <a:rPr sz="1000">
                <a:solidFill>
                  <a:srgbClr val="475569"/>
                </a:solidFill>
              </a:rPr>
              <a:t>Pilih brand terkait.</a:t>
            </a:r>
          </a:p>
          <a:p>
            <a:pPr>
              <a:spcAft>
                <a:spcPts val="200"/>
              </a:spcAft>
            </a:pPr>
            <a:r>
              <a:rPr b="1" sz="1050">
                <a:solidFill>
                  <a:srgbClr val="0F172A"/>
                </a:solidFill>
              </a:rPr>
              <a:t>   • Content Type: </a:t>
            </a:r>
            <a:r>
              <a:rPr sz="1000">
                <a:solidFill>
                  <a:srgbClr val="475569"/>
                </a:solidFill>
              </a:rPr>
              <a:t>Jenis konten (Feed, Story, Banner, dsb.).</a:t>
            </a:r>
          </a:p>
          <a:p>
            <a:pPr>
              <a:spcAft>
                <a:spcPts val="200"/>
              </a:spcAft>
            </a:pPr>
            <a:r>
              <a:rPr b="1" sz="1050">
                <a:solidFill>
                  <a:srgbClr val="0F172A"/>
                </a:solidFill>
              </a:rPr>
              <a:t>   • Campaign Name: </a:t>
            </a:r>
            <a:r>
              <a:rPr sz="1000">
                <a:solidFill>
                  <a:srgbClr val="475569"/>
                </a:solidFill>
              </a:rPr>
              <a:t>Nama acara/kampanye (misal: Promo 8.8).</a:t>
            </a:r>
          </a:p>
          <a:p>
            <a:pPr>
              <a:spcAft>
                <a:spcPts val="200"/>
              </a:spcAft>
            </a:pPr>
            <a:r>
              <a:rPr b="1" sz="1050">
                <a:solidFill>
                  <a:srgbClr val="0F172A"/>
                </a:solidFill>
              </a:rPr>
              <a:t>   • Task Source: </a:t>
            </a:r>
            <a:r>
              <a:rPr sz="1000">
                <a:solidFill>
                  <a:srgbClr val="475569"/>
                </a:solidFill>
              </a:rPr>
              <a:t>Sumber tugas (Orca atau E-Commerce).</a:t>
            </a:r>
          </a:p>
          <a:p>
            <a:pPr>
              <a:spcAft>
                <a:spcPts val="200"/>
              </a:spcAft>
            </a:pPr>
            <a:r>
              <a:rPr b="1" sz="1050">
                <a:solidFill>
                  <a:srgbClr val="0F172A"/>
                </a:solidFill>
              </a:rPr>
              <a:t>   • Request Qty: </a:t>
            </a:r>
            <a:r>
              <a:rPr sz="1000">
                <a:solidFill>
                  <a:srgbClr val="475569"/>
                </a:solidFill>
              </a:rPr>
              <a:t>Jumlah keluaran desain yang dibutuhkan.</a:t>
            </a:r>
          </a:p>
          <a:p>
            <a:pPr>
              <a:spcAft>
                <a:spcPts val="200"/>
              </a:spcAft>
            </a:pPr>
            <a:r>
              <a:rPr b="1" sz="1050">
                <a:solidFill>
                  <a:srgbClr val="0F172A"/>
                </a:solidFill>
              </a:rPr>
              <a:t>   • Req Date &amp; Due Date: </a:t>
            </a:r>
            <a:r>
              <a:rPr sz="1000">
                <a:solidFill>
                  <a:srgbClr val="475569"/>
                </a:solidFill>
              </a:rPr>
              <a:t>Tanggal diajukan dan target selesai.</a:t>
            </a:r>
          </a:p>
          <a:p>
            <a:pPr>
              <a:spcAft>
                <a:spcPts val="200"/>
              </a:spcAft>
            </a:pPr>
            <a:r>
              <a:rPr b="1" sz="1050">
                <a:solidFill>
                  <a:srgbClr val="0F172A"/>
                </a:solidFill>
              </a:rPr>
              <a:t>4. Opsi Strategic: </a:t>
            </a:r>
            <a:r>
              <a:rPr sz="1000">
                <a:solidFill>
                  <a:srgbClr val="475569"/>
                </a:solidFill>
              </a:rPr>
              <a:t>Jika butuh konsep strategis, aktifkan toggle 'Requires Strategic?' dan pilih nama Strategic PIC.</a:t>
            </a:r>
          </a:p>
          <a:p>
            <a:pPr>
              <a:spcAft>
                <a:spcPts val="200"/>
              </a:spcAft>
            </a:pPr>
            <a:r>
              <a:rPr b="1" sz="1050">
                <a:solidFill>
                  <a:srgbClr val="0F172A"/>
                </a:solidFill>
              </a:rPr>
              <a:t>5. Kolom Notes: </a:t>
            </a:r>
            <a:r>
              <a:rPr sz="1000">
                <a:solidFill>
                  <a:srgbClr val="475569"/>
                </a:solidFill>
              </a:rPr>
              <a:t>(Opsional) Tambahkan catatan/brief referensi.</a:t>
            </a:r>
          </a:p>
          <a:p>
            <a:pPr>
              <a:spcAft>
                <a:spcPts val="200"/>
              </a:spcAft>
            </a:pPr>
            <a:r>
              <a:rPr b="1" sz="1050">
                <a:solidFill>
                  <a:srgbClr val="0F172A"/>
                </a:solidFill>
              </a:rPr>
              <a:t>6. Simpan: </a:t>
            </a:r>
            <a:r>
              <a:rPr sz="1000">
                <a:solidFill>
                  <a:srgbClr val="475569"/>
                </a:solidFill>
              </a:rPr>
              <a:t>Klik 'Create Task'. Status awal adalah Unassigned.</a:t>
            </a:r>
          </a:p>
        </p:txBody>
      </p:sp>
      <p:pic>
        <p:nvPicPr>
          <p:cNvPr id="7" name="Picture 6" descr="page_07_img_2_61.jpeg"/>
          <p:cNvPicPr>
            <a:picLocks noChangeAspect="1"/>
          </p:cNvPicPr>
          <p:nvPr/>
        </p:nvPicPr>
        <p:blipFill>
          <a:blip r:embed="rId2"/>
          <a:stretch>
            <a:fillRect/>
          </a:stretch>
        </p:blipFill>
        <p:spPr>
          <a:xfrm>
            <a:off x="6217920" y="1554480"/>
            <a:ext cx="5212080" cy="4114800"/>
          </a:xfrm>
          <a:prstGeom prst="rect">
            <a:avLst/>
          </a:prstGeom>
        </p:spPr>
      </p:pic>
      <p:sp>
        <p:nvSpPr>
          <p:cNvPr id="8" name="TextBox 7"/>
          <p:cNvSpPr txBox="1"/>
          <p:nvPr/>
        </p:nvSpPr>
        <p:spPr>
          <a:xfrm>
            <a:off x="6217920" y="5724144"/>
            <a:ext cx="5212080" cy="228600"/>
          </a:xfrm>
          <a:prstGeom prst="rect">
            <a:avLst/>
          </a:prstGeom>
          <a:noFill/>
        </p:spPr>
        <p:txBody>
          <a:bodyPr wrap="square" lIns="0" tIns="0" rIns="0" bIns="0">
            <a:spAutoFit/>
          </a:bodyPr>
          <a:lstStyle/>
          <a:p>
            <a:pPr algn="ctr">
              <a:defRPr sz="950" i="1">
                <a:solidFill>
                  <a:srgbClr val="94A3B8"/>
                </a:solidFill>
                <a:latin typeface="Arial"/>
              </a:defRPr>
            </a:pPr>
            <a:r>
              <a:t>Screenshot Modal Create New Task</a:t>
            </a:r>
          </a:p>
        </p:txBody>
      </p:sp>
      <p:pic>
        <p:nvPicPr>
          <p:cNvPr id="9" name="Picture 8" descr="page_05_img_3_45.jpeg"/>
          <p:cNvPicPr>
            <a:picLocks noChangeAspect="1"/>
          </p:cNvPicPr>
          <p:nvPr/>
        </p:nvPicPr>
        <p:blipFill>
          <a:blip r:embed="rId3"/>
          <a:stretch>
            <a:fillRect/>
          </a:stretch>
        </p:blipFill>
        <p:spPr>
          <a:xfrm>
            <a:off x="1371600" y="5120640"/>
            <a:ext cx="2560320" cy="1005840"/>
          </a:xfrm>
          <a:prstGeom prst="rect">
            <a:avLst/>
          </a:prstGeom>
        </p:spPr>
      </p:pic>
      <p:sp>
        <p:nvSpPr>
          <p:cNvPr id="10" name="Rectangle 9"/>
          <p:cNvSpPr/>
          <p:nvPr/>
        </p:nvSpPr>
        <p:spPr>
          <a:xfrm>
            <a:off x="1920240" y="5212080"/>
            <a:ext cx="1920240" cy="822960"/>
          </a:xfrm>
          <a:prstGeom prst="rect">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5. Alur Kerja Tugas — Langkah 1: Assign Task</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12</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Admin, Team Lead</a:t>
            </a:r>
          </a:p>
        </p:txBody>
      </p:sp>
      <p:sp>
        <p:nvSpPr>
          <p:cNvPr id="6" name="TextBox 5"/>
          <p:cNvSpPr txBox="1"/>
          <p:nvPr/>
        </p:nvSpPr>
        <p:spPr>
          <a:xfrm>
            <a:off x="731520" y="1554480"/>
            <a:ext cx="7315200" cy="1920240"/>
          </a:xfrm>
          <a:prstGeom prst="rect">
            <a:avLst/>
          </a:prstGeom>
          <a:noFill/>
        </p:spPr>
        <p:txBody>
          <a:bodyPr wrap="square">
            <a:spAutoFit/>
          </a:bodyPr>
          <a:lstStyle/>
          <a:p>
            <a:pPr>
              <a:spcAft>
                <a:spcPts val="400"/>
              </a:spcAft>
            </a:pPr>
            <a:r>
              <a:rPr b="1" sz="1100">
                <a:solidFill>
                  <a:srgbClr val="0F172A"/>
                </a:solidFill>
                <a:latin typeface="Arial"/>
              </a:rPr>
              <a:t>• </a:t>
            </a:r>
            <a:r>
              <a:rPr b="1" sz="1100">
                <a:solidFill>
                  <a:srgbClr val="0F172A"/>
                </a:solidFill>
                <a:latin typeface="Arial"/>
              </a:rPr>
              <a:t>Cari Tugas: </a:t>
            </a:r>
            <a:r>
              <a:rPr b="0" sz="1100">
                <a:solidFill>
                  <a:srgbClr val="475569"/>
                </a:solidFill>
                <a:latin typeface="Arial"/>
              </a:rPr>
              <a:t>Temukan tugas dengan status Unassigned pada Kanban atau Tabel.</a:t>
            </a:r>
          </a:p>
          <a:p>
            <a:pPr>
              <a:spcAft>
                <a:spcPts val="400"/>
              </a:spcAft>
            </a:pPr>
            <a:r>
              <a:rPr b="1" sz="1100">
                <a:solidFill>
                  <a:srgbClr val="0F172A"/>
                </a:solidFill>
                <a:latin typeface="Arial"/>
              </a:rPr>
              <a:t>• </a:t>
            </a:r>
            <a:r>
              <a:rPr b="1" sz="1100">
                <a:solidFill>
                  <a:srgbClr val="0F172A"/>
                </a:solidFill>
                <a:latin typeface="Arial"/>
              </a:rPr>
              <a:t>Klik Assign: </a:t>
            </a:r>
            <a:r>
              <a:rPr b="0" sz="1100">
                <a:solidFill>
                  <a:srgbClr val="475569"/>
                </a:solidFill>
                <a:latin typeface="Arial"/>
              </a:rPr>
              <a:t>Klik tombol 'Assign' pada kartu tugas atau modal detail.</a:t>
            </a:r>
          </a:p>
          <a:p>
            <a:pPr>
              <a:spcAft>
                <a:spcPts val="400"/>
              </a:spcAft>
            </a:pPr>
            <a:r>
              <a:rPr b="1" sz="1100">
                <a:solidFill>
                  <a:srgbClr val="0F172A"/>
                </a:solidFill>
                <a:latin typeface="Arial"/>
              </a:rPr>
              <a:t>• </a:t>
            </a:r>
            <a:r>
              <a:rPr b="1" sz="1100">
                <a:solidFill>
                  <a:srgbClr val="0F172A"/>
                </a:solidFill>
                <a:latin typeface="Arial"/>
              </a:rPr>
              <a:t>Pilih Design PIC: </a:t>
            </a:r>
            <a:r>
              <a:rPr b="0" sz="1100">
                <a:solidFill>
                  <a:srgbClr val="475569"/>
                </a:solidFill>
                <a:latin typeface="Arial"/>
              </a:rPr>
              <a:t>Pilih Designer yang akan mengerjakan. Sistem menampilkan sisa kapasitas poin harian masing-masing desainer.</a:t>
            </a:r>
          </a:p>
          <a:p>
            <a:pPr>
              <a:spcAft>
                <a:spcPts val="400"/>
              </a:spcAft>
            </a:pPr>
            <a:r>
              <a:rPr b="1" sz="1100">
                <a:solidFill>
                  <a:srgbClr val="0F172A"/>
                </a:solidFill>
                <a:latin typeface="Arial"/>
              </a:rPr>
              <a:t>• </a:t>
            </a:r>
            <a:r>
              <a:rPr b="1" sz="1100">
                <a:solidFill>
                  <a:srgbClr val="0F172A"/>
                </a:solidFill>
                <a:latin typeface="Arial"/>
              </a:rPr>
              <a:t>Tentukan Difficulty: </a:t>
            </a:r>
            <a:r>
              <a:rPr b="0" sz="1100">
                <a:solidFill>
                  <a:srgbClr val="475569"/>
                </a:solidFill>
                <a:latin typeface="Arial"/>
              </a:rPr>
              <a:t>Pilih tingkat kesulitan (Low, Medium, High).</a:t>
            </a:r>
          </a:p>
          <a:p>
            <a:pPr>
              <a:spcAft>
                <a:spcPts val="400"/>
              </a:spcAft>
            </a:pPr>
            <a:r>
              <a:rPr b="1" sz="1100">
                <a:solidFill>
                  <a:srgbClr val="0F172A"/>
                </a:solidFill>
                <a:latin typeface="Arial"/>
              </a:rPr>
              <a:t>• </a:t>
            </a:r>
            <a:r>
              <a:rPr b="1" sz="1100">
                <a:solidFill>
                  <a:srgbClr val="0F172A"/>
                </a:solidFill>
                <a:latin typeface="Arial"/>
              </a:rPr>
              <a:t>Konfirmasi: </a:t>
            </a:r>
            <a:r>
              <a:rPr b="0" sz="1100">
                <a:solidFill>
                  <a:srgbClr val="475569"/>
                </a:solidFill>
                <a:latin typeface="Arial"/>
              </a:rPr>
              <a:t>Klik Assign. Status tugas akan berubah menjadi Assigned.</a:t>
            </a:r>
          </a:p>
        </p:txBody>
      </p:sp>
      <p:pic>
        <p:nvPicPr>
          <p:cNvPr id="7" name="Picture 6" descr="page_08_img_1_68.jpeg"/>
          <p:cNvPicPr>
            <a:picLocks noChangeAspect="1"/>
          </p:cNvPicPr>
          <p:nvPr/>
        </p:nvPicPr>
        <p:blipFill>
          <a:blip r:embed="rId2"/>
          <a:stretch>
            <a:fillRect/>
          </a:stretch>
        </p:blipFill>
        <p:spPr>
          <a:xfrm>
            <a:off x="731520" y="3657600"/>
            <a:ext cx="2926080" cy="2468880"/>
          </a:xfrm>
          <a:prstGeom prst="rect">
            <a:avLst/>
          </a:prstGeom>
        </p:spPr>
      </p:pic>
      <p:sp>
        <p:nvSpPr>
          <p:cNvPr id="8" name="Right Arrow 7"/>
          <p:cNvSpPr/>
          <p:nvPr/>
        </p:nvSpPr>
        <p:spPr>
          <a:xfrm>
            <a:off x="3749039" y="4754880"/>
            <a:ext cx="320040" cy="228600"/>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ge_08_img_3_70.jpeg"/>
          <p:cNvPicPr>
            <a:picLocks noChangeAspect="1"/>
          </p:cNvPicPr>
          <p:nvPr/>
        </p:nvPicPr>
        <p:blipFill>
          <a:blip r:embed="rId3"/>
          <a:stretch>
            <a:fillRect/>
          </a:stretch>
        </p:blipFill>
        <p:spPr>
          <a:xfrm>
            <a:off x="4160520" y="3840480"/>
            <a:ext cx="3474720" cy="2194560"/>
          </a:xfrm>
          <a:prstGeom prst="rect">
            <a:avLst/>
          </a:prstGeom>
        </p:spPr>
      </p:pic>
      <p:sp>
        <p:nvSpPr>
          <p:cNvPr id="10" name="Right Arrow 9"/>
          <p:cNvSpPr/>
          <p:nvPr/>
        </p:nvSpPr>
        <p:spPr>
          <a:xfrm>
            <a:off x="7726679" y="4754880"/>
            <a:ext cx="320040" cy="228600"/>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ge_08_img_2_69.jpeg"/>
          <p:cNvPicPr>
            <a:picLocks noChangeAspect="1"/>
          </p:cNvPicPr>
          <p:nvPr/>
        </p:nvPicPr>
        <p:blipFill>
          <a:blip r:embed="rId4"/>
          <a:stretch>
            <a:fillRect/>
          </a:stretch>
        </p:blipFill>
        <p:spPr>
          <a:xfrm>
            <a:off x="8138160" y="3657600"/>
            <a:ext cx="3291840" cy="2468880"/>
          </a:xfrm>
          <a:prstGeom prst="rect">
            <a:avLst/>
          </a:prstGeom>
        </p:spPr>
      </p:pic>
      <p:sp>
        <p:nvSpPr>
          <p:cNvPr id="12" name="TextBox 11"/>
          <p:cNvSpPr txBox="1"/>
          <p:nvPr/>
        </p:nvSpPr>
        <p:spPr>
          <a:xfrm>
            <a:off x="8138160" y="6181344"/>
            <a:ext cx="3291840" cy="228600"/>
          </a:xfrm>
          <a:prstGeom prst="rect">
            <a:avLst/>
          </a:prstGeom>
          <a:noFill/>
        </p:spPr>
        <p:txBody>
          <a:bodyPr wrap="square" lIns="0" tIns="0" rIns="0" bIns="0">
            <a:spAutoFit/>
          </a:bodyPr>
          <a:lstStyle/>
          <a:p>
            <a:pPr algn="ctr">
              <a:defRPr sz="950" i="1">
                <a:solidFill>
                  <a:srgbClr val="94A3B8"/>
                </a:solidFill>
                <a:latin typeface="Arial"/>
              </a:defRPr>
            </a:pPr>
            <a:r>
              <a:t>Screenshot Modal Assign Task</a:t>
            </a:r>
          </a:p>
        </p:txBody>
      </p:sp>
      <p:pic>
        <p:nvPicPr>
          <p:cNvPr id="13" name="Picture 12" descr="page_08_img_4_71.jpeg"/>
          <p:cNvPicPr>
            <a:picLocks noChangeAspect="1"/>
          </p:cNvPicPr>
          <p:nvPr/>
        </p:nvPicPr>
        <p:blipFill>
          <a:blip r:embed="rId5"/>
          <a:stretch>
            <a:fillRect/>
          </a:stretch>
        </p:blipFill>
        <p:spPr>
          <a:xfrm>
            <a:off x="8686800" y="1005840"/>
            <a:ext cx="2560320" cy="2286000"/>
          </a:xfrm>
          <a:prstGeom prst="rect">
            <a:avLst/>
          </a:prstGeom>
        </p:spPr>
      </p:pic>
      <p:sp>
        <p:nvSpPr>
          <p:cNvPr id="14" name="Up Arrow 13"/>
          <p:cNvSpPr/>
          <p:nvPr/>
        </p:nvSpPr>
        <p:spPr>
          <a:xfrm>
            <a:off x="9875520" y="3383280"/>
            <a:ext cx="228600" cy="320040"/>
          </a:xfrm>
          <a:prstGeom prst="up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Langkah 2: Start Task (Memulai Pengerjaan)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13</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Designer yang ditugaskan, Admin, Team Lead</a:t>
            </a:r>
          </a:p>
        </p:txBody>
      </p:sp>
      <p:sp>
        <p:nvSpPr>
          <p:cNvPr id="6" name="TextBox 5"/>
          <p:cNvSpPr txBox="1"/>
          <p:nvPr/>
        </p:nvSpPr>
        <p:spPr>
          <a:xfrm>
            <a:off x="731520" y="1645920"/>
            <a:ext cx="4937760" cy="4114800"/>
          </a:xfrm>
          <a:prstGeom prst="rect">
            <a:avLst/>
          </a:prstGeom>
          <a:noFill/>
        </p:spPr>
        <p:txBody>
          <a:bodyPr wrap="square">
            <a:spAutoFit/>
          </a:bodyPr>
          <a:lstStyle/>
          <a:p>
            <a:pPr>
              <a:spcAft>
                <a:spcPts val="400"/>
              </a:spcAft>
            </a:pPr>
            <a:r>
              <a:rPr b="1" sz="1150">
                <a:solidFill>
                  <a:srgbClr val="0F172A"/>
                </a:solidFill>
                <a:latin typeface="Arial"/>
              </a:rPr>
              <a:t>1. </a:t>
            </a:r>
            <a:r>
              <a:rPr b="1" sz="1150">
                <a:solidFill>
                  <a:srgbClr val="0F172A"/>
                </a:solidFill>
                <a:latin typeface="Arial"/>
              </a:rPr>
              <a:t>Siap Mengerjakan: </a:t>
            </a:r>
            <a:r>
              <a:rPr b="0" sz="1150">
                <a:solidFill>
                  <a:srgbClr val="475569"/>
                </a:solidFill>
                <a:latin typeface="Arial"/>
              </a:rPr>
              <a:t>Ketika Designer siap untuk mulai mengerjakan, cari tugas dengan status Assigned.</a:t>
            </a:r>
          </a:p>
          <a:p>
            <a:pPr>
              <a:spcAft>
                <a:spcPts val="400"/>
              </a:spcAft>
            </a:pPr>
            <a:r>
              <a:rPr b="1" sz="1150">
                <a:solidFill>
                  <a:srgbClr val="0F172A"/>
                </a:solidFill>
                <a:latin typeface="Arial"/>
              </a:rPr>
              <a:t>2. </a:t>
            </a:r>
            <a:r>
              <a:rPr b="1" sz="1150">
                <a:solidFill>
                  <a:srgbClr val="0F172A"/>
                </a:solidFill>
                <a:latin typeface="Arial"/>
              </a:rPr>
              <a:t>Klik Start Work: </a:t>
            </a:r>
            <a:r>
              <a:rPr b="0" sz="1150">
                <a:solidFill>
                  <a:srgbClr val="475569"/>
                </a:solidFill>
                <a:latin typeface="Arial"/>
              </a:rPr>
              <a:t>Klik tombol 'Start Work' (ikon Play warna hijau/cyan).</a:t>
            </a:r>
          </a:p>
          <a:p>
            <a:pPr>
              <a:spcAft>
                <a:spcPts val="400"/>
              </a:spcAft>
            </a:pPr>
            <a:r>
              <a:rPr b="1" sz="1150">
                <a:solidFill>
                  <a:srgbClr val="0F172A"/>
                </a:solidFill>
                <a:latin typeface="Arial"/>
              </a:rPr>
              <a:t>3. </a:t>
            </a:r>
            <a:r>
              <a:rPr b="1" sz="1150">
                <a:solidFill>
                  <a:srgbClr val="0F172A"/>
                </a:solidFill>
                <a:latin typeface="Arial"/>
              </a:rPr>
              <a:t>Status Berubah: </a:t>
            </a:r>
            <a:r>
              <a:rPr b="0" sz="1150">
                <a:solidFill>
                  <a:srgbClr val="475569"/>
                </a:solidFill>
                <a:latin typeface="Arial"/>
              </a:rPr>
              <a:t>Status tugas otomatis berubah menjadi In Progress.</a:t>
            </a:r>
          </a:p>
          <a:p>
            <a:pPr>
              <a:spcAft>
                <a:spcPts val="400"/>
              </a:spcAft>
            </a:pPr>
            <a:r>
              <a:rPr b="1" sz="1150">
                <a:solidFill>
                  <a:srgbClr val="0F172A"/>
                </a:solidFill>
                <a:latin typeface="Arial"/>
              </a:rPr>
              <a:t>4. </a:t>
            </a:r>
            <a:r>
              <a:rPr b="1" sz="1150">
                <a:solidFill>
                  <a:srgbClr val="0F172A"/>
                </a:solidFill>
                <a:latin typeface="Arial"/>
              </a:rPr>
              <a:t>Catatan SLA: </a:t>
            </a:r>
            <a:r>
              <a:rPr b="0" sz="1150">
                <a:solidFill>
                  <a:srgbClr val="475569"/>
                </a:solidFill>
                <a:latin typeface="Arial"/>
              </a:rPr>
              <a:t>Perhitungan waktu pengerjaan (SLA Working Days) otomatis akan mulai dihitung dari titik ini berdasarkan jam kerja efektif.</a:t>
            </a:r>
          </a:p>
        </p:txBody>
      </p:sp>
      <p:pic>
        <p:nvPicPr>
          <p:cNvPr id="7" name="Picture 6" descr="page_09_img_1_81.jpeg"/>
          <p:cNvPicPr>
            <a:picLocks noChangeAspect="1"/>
          </p:cNvPicPr>
          <p:nvPr/>
        </p:nvPicPr>
        <p:blipFill>
          <a:blip r:embed="rId2"/>
          <a:stretch>
            <a:fillRect/>
          </a:stretch>
        </p:blipFill>
        <p:spPr>
          <a:xfrm>
            <a:off x="5943600" y="1645920"/>
            <a:ext cx="5486400" cy="4389120"/>
          </a:xfrm>
          <a:prstGeom prst="rect">
            <a:avLst/>
          </a:prstGeom>
        </p:spPr>
      </p:pic>
      <p:sp>
        <p:nvSpPr>
          <p:cNvPr id="8" name="TextBox 7"/>
          <p:cNvSpPr txBox="1"/>
          <p:nvPr/>
        </p:nvSpPr>
        <p:spPr>
          <a:xfrm>
            <a:off x="5943600" y="6089904"/>
            <a:ext cx="5486400" cy="228600"/>
          </a:xfrm>
          <a:prstGeom prst="rect">
            <a:avLst/>
          </a:prstGeom>
          <a:noFill/>
        </p:spPr>
        <p:txBody>
          <a:bodyPr wrap="square" lIns="0" tIns="0" rIns="0" bIns="0">
            <a:spAutoFit/>
          </a:bodyPr>
          <a:lstStyle/>
          <a:p>
            <a:pPr algn="ctr">
              <a:defRPr sz="950" i="1">
                <a:solidFill>
                  <a:srgbClr val="94A3B8"/>
                </a:solidFill>
                <a:latin typeface="Arial"/>
              </a:defRPr>
            </a:pPr>
            <a:r>
              <a:t>Tombol Start Work pada Modal Task Detail</a:t>
            </a:r>
          </a:p>
        </p:txBody>
      </p:sp>
      <p:sp>
        <p:nvSpPr>
          <p:cNvPr id="9" name="Rectangle 8"/>
          <p:cNvSpPr/>
          <p:nvPr/>
        </p:nvSpPr>
        <p:spPr>
          <a:xfrm>
            <a:off x="9601200" y="4754880"/>
            <a:ext cx="1554480" cy="640080"/>
          </a:xfrm>
          <a:prstGeom prst="rect">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Langkah 3: Submit Design (Mengirimkan Hasil)</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14</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Designer yang ditugaskan, Admin, Team Lead</a:t>
            </a:r>
          </a:p>
        </p:txBody>
      </p:sp>
      <p:sp>
        <p:nvSpPr>
          <p:cNvPr id="6" name="TextBox 5"/>
          <p:cNvSpPr txBox="1"/>
          <p:nvPr/>
        </p:nvSpPr>
        <p:spPr>
          <a:xfrm>
            <a:off x="731520" y="1554480"/>
            <a:ext cx="10698480" cy="1463040"/>
          </a:xfrm>
          <a:prstGeom prst="rect">
            <a:avLst/>
          </a:prstGeom>
          <a:noFill/>
        </p:spPr>
        <p:txBody>
          <a:bodyPr wrap="square">
            <a:spAutoFit/>
          </a:bodyPr>
          <a:lstStyle/>
          <a:p>
            <a:pPr>
              <a:spcAft>
                <a:spcPts val="400"/>
              </a:spcAft>
            </a:pPr>
            <a:r>
              <a:rPr b="1" sz="1100">
                <a:solidFill>
                  <a:srgbClr val="0F172A"/>
                </a:solidFill>
                <a:latin typeface="Arial"/>
              </a:rPr>
              <a:t>• </a:t>
            </a:r>
            <a:r>
              <a:rPr b="1" sz="1100">
                <a:solidFill>
                  <a:srgbClr val="0F172A"/>
                </a:solidFill>
                <a:latin typeface="Arial"/>
              </a:rPr>
              <a:t>Selesai Pengerjaan: </a:t>
            </a:r>
            <a:r>
              <a:rPr b="0" sz="1100">
                <a:solidFill>
                  <a:srgbClr val="475569"/>
                </a:solidFill>
                <a:latin typeface="Arial"/>
              </a:rPr>
              <a:t>Setelah desain selesai dikerjakan, klik tombol Submit (ikon Pesawat Kertas).</a:t>
            </a:r>
          </a:p>
          <a:p>
            <a:pPr>
              <a:spcAft>
                <a:spcPts val="400"/>
              </a:spcAft>
            </a:pPr>
            <a:r>
              <a:rPr b="1" sz="1100">
                <a:solidFill>
                  <a:srgbClr val="0F172A"/>
                </a:solidFill>
                <a:latin typeface="Arial"/>
              </a:rPr>
              <a:t>• </a:t>
            </a:r>
            <a:r>
              <a:rPr b="1" sz="1100">
                <a:solidFill>
                  <a:srgbClr val="0F172A"/>
                </a:solidFill>
                <a:latin typeface="Arial"/>
              </a:rPr>
              <a:t>Formulir Pengiriman: </a:t>
            </a:r>
            <a:r>
              <a:rPr b="0" sz="1100">
                <a:solidFill>
                  <a:srgbClr val="475569"/>
                </a:solidFill>
                <a:latin typeface="Arial"/>
              </a:rPr>
              <a:t>Akan muncul formulir pelaporan yang harus diisi:</a:t>
            </a:r>
          </a:p>
          <a:p>
            <a:pPr>
              <a:spcAft>
                <a:spcPts val="400"/>
              </a:spcAft>
            </a:pPr>
            <a:r>
              <a:rPr b="1" sz="1100">
                <a:solidFill>
                  <a:srgbClr val="0F172A"/>
                </a:solidFill>
                <a:latin typeface="Arial"/>
              </a:rPr>
              <a:t>   - Output Quantity: </a:t>
            </a:r>
            <a:r>
              <a:rPr b="0" sz="1100">
                <a:solidFill>
                  <a:srgbClr val="475569"/>
                </a:solidFill>
                <a:latin typeface="Arial"/>
              </a:rPr>
              <a:t>Jumlah final hasil desain yang diserahkan.</a:t>
            </a:r>
          </a:p>
          <a:p>
            <a:pPr>
              <a:spcAft>
                <a:spcPts val="400"/>
              </a:spcAft>
            </a:pPr>
            <a:r>
              <a:rPr b="1" sz="1100">
                <a:solidFill>
                  <a:srgbClr val="0F172A"/>
                </a:solidFill>
                <a:latin typeface="Arial"/>
              </a:rPr>
              <a:t>   - Final Asset Name: </a:t>
            </a:r>
            <a:r>
              <a:rPr b="0" sz="1100">
                <a:solidFill>
                  <a:srgbClr val="475569"/>
                </a:solidFill>
                <a:latin typeface="Arial"/>
              </a:rPr>
              <a:t>Nama file aset final yang distandarisasi.</a:t>
            </a:r>
          </a:p>
          <a:p>
            <a:pPr>
              <a:spcAft>
                <a:spcPts val="400"/>
              </a:spcAft>
            </a:pPr>
            <a:r>
              <a:rPr b="1" sz="1100">
                <a:solidFill>
                  <a:srgbClr val="0F172A"/>
                </a:solidFill>
                <a:latin typeface="Arial"/>
              </a:rPr>
              <a:t>   - Google Drive Link: </a:t>
            </a:r>
            <a:r>
              <a:rPr b="0" sz="1100">
                <a:solidFill>
                  <a:srgbClr val="475569"/>
                </a:solidFill>
                <a:latin typeface="Arial"/>
              </a:rPr>
              <a:t>Tautan URL menuju folder desain di Google Drive.</a:t>
            </a:r>
          </a:p>
          <a:p>
            <a:pPr>
              <a:spcAft>
                <a:spcPts val="400"/>
              </a:spcAft>
            </a:pPr>
            <a:r>
              <a:rPr b="1" sz="1100">
                <a:solidFill>
                  <a:srgbClr val="0F172A"/>
                </a:solidFill>
                <a:latin typeface="Arial"/>
              </a:rPr>
              <a:t>• </a:t>
            </a:r>
            <a:r>
              <a:rPr b="1" sz="1100">
                <a:solidFill>
                  <a:srgbClr val="0F172A"/>
                </a:solidFill>
                <a:latin typeface="Arial"/>
              </a:rPr>
              <a:t>Hasil: </a:t>
            </a:r>
            <a:r>
              <a:rPr b="0" sz="1100">
                <a:solidFill>
                  <a:srgbClr val="475569"/>
                </a:solidFill>
                <a:latin typeface="Arial"/>
              </a:rPr>
              <a:t>Klik Submit. Status tugas akan berubah menjadi Submitted.</a:t>
            </a:r>
          </a:p>
        </p:txBody>
      </p:sp>
      <p:pic>
        <p:nvPicPr>
          <p:cNvPr id="7" name="Picture 6" descr="page_10_img_1_88.jpeg"/>
          <p:cNvPicPr>
            <a:picLocks noChangeAspect="1"/>
          </p:cNvPicPr>
          <p:nvPr/>
        </p:nvPicPr>
        <p:blipFill>
          <a:blip r:embed="rId2"/>
          <a:stretch>
            <a:fillRect/>
          </a:stretch>
        </p:blipFill>
        <p:spPr>
          <a:xfrm>
            <a:off x="731520" y="3200400"/>
            <a:ext cx="2560320" cy="2926080"/>
          </a:xfrm>
          <a:prstGeom prst="rect">
            <a:avLst/>
          </a:prstGeom>
        </p:spPr>
      </p:pic>
      <p:sp>
        <p:nvSpPr>
          <p:cNvPr id="8" name="Right Arrow 7"/>
          <p:cNvSpPr/>
          <p:nvPr/>
        </p:nvSpPr>
        <p:spPr>
          <a:xfrm>
            <a:off x="3474720" y="4389120"/>
            <a:ext cx="365760" cy="274320"/>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ge_10_img_2_89.jpeg"/>
          <p:cNvPicPr>
            <a:picLocks noChangeAspect="1"/>
          </p:cNvPicPr>
          <p:nvPr/>
        </p:nvPicPr>
        <p:blipFill>
          <a:blip r:embed="rId3"/>
          <a:stretch>
            <a:fillRect/>
          </a:stretch>
        </p:blipFill>
        <p:spPr>
          <a:xfrm>
            <a:off x="4023360" y="3291840"/>
            <a:ext cx="3840480" cy="2743200"/>
          </a:xfrm>
          <a:prstGeom prst="rect">
            <a:avLst/>
          </a:prstGeom>
        </p:spPr>
      </p:pic>
      <p:sp>
        <p:nvSpPr>
          <p:cNvPr id="10" name="Right Arrow 9"/>
          <p:cNvSpPr/>
          <p:nvPr/>
        </p:nvSpPr>
        <p:spPr>
          <a:xfrm>
            <a:off x="8046720" y="4389120"/>
            <a:ext cx="365760" cy="274320"/>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ge_10_img_3_90.jpeg"/>
          <p:cNvPicPr>
            <a:picLocks noChangeAspect="1"/>
          </p:cNvPicPr>
          <p:nvPr/>
        </p:nvPicPr>
        <p:blipFill>
          <a:blip r:embed="rId4"/>
          <a:stretch>
            <a:fillRect/>
          </a:stretch>
        </p:blipFill>
        <p:spPr>
          <a:xfrm>
            <a:off x="8595360" y="3291840"/>
            <a:ext cx="2926080" cy="2743200"/>
          </a:xfrm>
          <a:prstGeom prst="rect">
            <a:avLst/>
          </a:prstGeom>
        </p:spPr>
      </p:pic>
      <p:sp>
        <p:nvSpPr>
          <p:cNvPr id="12" name="TextBox 11"/>
          <p:cNvSpPr txBox="1"/>
          <p:nvPr/>
        </p:nvSpPr>
        <p:spPr>
          <a:xfrm>
            <a:off x="8595360" y="6089904"/>
            <a:ext cx="2926080" cy="228600"/>
          </a:xfrm>
          <a:prstGeom prst="rect">
            <a:avLst/>
          </a:prstGeom>
          <a:noFill/>
        </p:spPr>
        <p:txBody>
          <a:bodyPr wrap="square" lIns="0" tIns="0" rIns="0" bIns="0">
            <a:spAutoFit/>
          </a:bodyPr>
          <a:lstStyle/>
          <a:p>
            <a:pPr algn="ctr">
              <a:defRPr sz="950" i="1">
                <a:solidFill>
                  <a:srgbClr val="94A3B8"/>
                </a:solidFill>
                <a:latin typeface="Arial"/>
              </a:defRPr>
            </a:pPr>
            <a:r>
              <a:t>Screenshot Form Submit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Langkah 4: Approve / Revise (Proses Review)</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15</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Requester, Admin, Team Lead</a:t>
            </a:r>
          </a:p>
        </p:txBody>
      </p:sp>
      <p:sp>
        <p:nvSpPr>
          <p:cNvPr id="6" name="TextBox 5"/>
          <p:cNvSpPr txBox="1"/>
          <p:nvPr/>
        </p:nvSpPr>
        <p:spPr>
          <a:xfrm>
            <a:off x="731520" y="1645920"/>
            <a:ext cx="5029200" cy="4389120"/>
          </a:xfrm>
          <a:prstGeom prst="rect">
            <a:avLst/>
          </a:prstGeom>
          <a:noFill/>
        </p:spPr>
        <p:txBody>
          <a:bodyPr wrap="square">
            <a:spAutoFit/>
          </a:bodyPr>
          <a:lstStyle/>
          <a:p>
            <a:pPr>
              <a:spcAft>
                <a:spcPts val="400"/>
              </a:spcAft>
            </a:pPr>
            <a:r>
              <a:rPr b="1" sz="1100">
                <a:solidFill>
                  <a:srgbClr val="0F172A"/>
                </a:solidFill>
                <a:latin typeface="Arial"/>
              </a:rPr>
              <a:t>• </a:t>
            </a:r>
            <a:r>
              <a:rPr b="1" sz="1100">
                <a:solidFill>
                  <a:srgbClr val="0F172A"/>
                </a:solidFill>
                <a:latin typeface="Arial"/>
              </a:rPr>
              <a:t>Pemeriksaan Hasil: </a:t>
            </a:r>
            <a:r>
              <a:rPr b="0" sz="1100">
                <a:solidFill>
                  <a:srgbClr val="475569"/>
                </a:solidFill>
                <a:latin typeface="Arial"/>
              </a:rPr>
              <a:t>Requester diwajibkan memeriksa hasil desain menggunakan tautan Google Drive yang disertakan.</a:t>
            </a:r>
          </a:p>
          <a:p>
            <a:pPr>
              <a:spcAft>
                <a:spcPts val="400"/>
              </a:spcAft>
            </a:pPr>
            <a:r>
              <a:rPr b="1" sz="1100">
                <a:solidFill>
                  <a:srgbClr val="0F172A"/>
                </a:solidFill>
                <a:latin typeface="Arial"/>
              </a:rPr>
              <a:t>• </a:t>
            </a:r>
            <a:r>
              <a:rPr b="1" sz="1100">
                <a:solidFill>
                  <a:srgbClr val="0F172A"/>
                </a:solidFill>
                <a:latin typeface="Arial"/>
              </a:rPr>
              <a:t>Opsi 1: Approve (Sesuai): </a:t>
            </a:r>
            <a:r>
              <a:rPr b="0" sz="1100">
                <a:solidFill>
                  <a:srgbClr val="475569"/>
                </a:solidFill>
                <a:latin typeface="Arial"/>
              </a:rPr>
              <a:t>Jika sudah sesuai, klik tombol 'Approve Design' (ikon Centang hijau). Status menjadi Approved dan tugas dianggap selesai.</a:t>
            </a:r>
          </a:p>
          <a:p>
            <a:pPr>
              <a:spcAft>
                <a:spcPts val="400"/>
              </a:spcAft>
            </a:pPr>
            <a:r>
              <a:rPr b="1" sz="1100">
                <a:solidFill>
                  <a:srgbClr val="0F172A"/>
                </a:solidFill>
                <a:latin typeface="Arial"/>
              </a:rPr>
              <a:t>• </a:t>
            </a:r>
            <a:r>
              <a:rPr b="1" sz="1100">
                <a:solidFill>
                  <a:srgbClr val="0F172A"/>
                </a:solidFill>
                <a:latin typeface="Arial"/>
              </a:rPr>
              <a:t>Opsi 2: Revise (Perlu Perbaikan): </a:t>
            </a:r>
            <a:r>
              <a:rPr b="0" sz="1100">
                <a:solidFill>
                  <a:srgbClr val="475569"/>
                </a:solidFill>
                <a:latin typeface="Arial"/>
              </a:rPr>
              <a:t>Jika ada revisi, klik tombol 'Request Revision' (ikon Putar Balik/Rotate).</a:t>
            </a:r>
          </a:p>
          <a:p>
            <a:pPr>
              <a:spcAft>
                <a:spcPts val="400"/>
              </a:spcAft>
            </a:pPr>
            <a:r>
              <a:rPr b="1" sz="1100">
                <a:solidFill>
                  <a:srgbClr val="0F172A"/>
                </a:solidFill>
                <a:latin typeface="Arial"/>
              </a:rPr>
              <a:t>   - Alasan Revisi: </a:t>
            </a:r>
            <a:r>
              <a:rPr b="0" sz="1100">
                <a:solidFill>
                  <a:srgbClr val="475569"/>
                </a:solidFill>
                <a:latin typeface="Arial"/>
              </a:rPr>
              <a:t>Pilih Reason Category (misal: Copywriting, Color, Layout).</a:t>
            </a:r>
          </a:p>
          <a:p>
            <a:pPr>
              <a:spcAft>
                <a:spcPts val="400"/>
              </a:spcAft>
            </a:pPr>
            <a:r>
              <a:rPr b="1" sz="1100">
                <a:solidFill>
                  <a:srgbClr val="0F172A"/>
                </a:solidFill>
                <a:latin typeface="Arial"/>
              </a:rPr>
              <a:t>   - Catatan Revisi: </a:t>
            </a:r>
            <a:r>
              <a:rPr b="0" sz="1100">
                <a:solidFill>
                  <a:srgbClr val="475569"/>
                </a:solidFill>
                <a:latin typeface="Arial"/>
              </a:rPr>
              <a:t>Tuliskan instruksi perbaikan spesifik di kolom Notes.</a:t>
            </a:r>
          </a:p>
          <a:p>
            <a:pPr>
              <a:spcAft>
                <a:spcPts val="400"/>
              </a:spcAft>
            </a:pPr>
            <a:r>
              <a:rPr b="1" sz="1100">
                <a:solidFill>
                  <a:srgbClr val="0F172A"/>
                </a:solidFill>
                <a:latin typeface="Arial"/>
              </a:rPr>
              <a:t>• </a:t>
            </a:r>
            <a:r>
              <a:rPr b="1" sz="1100">
                <a:solidFill>
                  <a:srgbClr val="0F172A"/>
                </a:solidFill>
                <a:latin typeface="Arial"/>
              </a:rPr>
              <a:t>Hasil Revisi: </a:t>
            </a:r>
            <a:r>
              <a:rPr b="0" sz="1100">
                <a:solidFill>
                  <a:srgbClr val="475569"/>
                </a:solidFill>
                <a:latin typeface="Arial"/>
              </a:rPr>
              <a:t>Status berubah menjadi Revision dan tugas kembali ke antrean Designer.</a:t>
            </a:r>
          </a:p>
        </p:txBody>
      </p:sp>
      <p:pic>
        <p:nvPicPr>
          <p:cNvPr id="7" name="Picture 6" descr="page_11_img_1_99.jpeg"/>
          <p:cNvPicPr>
            <a:picLocks noChangeAspect="1"/>
          </p:cNvPicPr>
          <p:nvPr/>
        </p:nvPicPr>
        <p:blipFill>
          <a:blip r:embed="rId2"/>
          <a:stretch>
            <a:fillRect/>
          </a:stretch>
        </p:blipFill>
        <p:spPr>
          <a:xfrm>
            <a:off x="5943600" y="1645920"/>
            <a:ext cx="5486400" cy="4389120"/>
          </a:xfrm>
          <a:prstGeom prst="rect">
            <a:avLst/>
          </a:prstGeom>
        </p:spPr>
      </p:pic>
      <p:sp>
        <p:nvSpPr>
          <p:cNvPr id="8" name="TextBox 7"/>
          <p:cNvSpPr txBox="1"/>
          <p:nvPr/>
        </p:nvSpPr>
        <p:spPr>
          <a:xfrm>
            <a:off x="5943600" y="6089904"/>
            <a:ext cx="5486400" cy="228600"/>
          </a:xfrm>
          <a:prstGeom prst="rect">
            <a:avLst/>
          </a:prstGeom>
          <a:noFill/>
        </p:spPr>
        <p:txBody>
          <a:bodyPr wrap="square" lIns="0" tIns="0" rIns="0" bIns="0">
            <a:spAutoFit/>
          </a:bodyPr>
          <a:lstStyle/>
          <a:p>
            <a:pPr algn="ctr">
              <a:defRPr sz="950" i="1">
                <a:solidFill>
                  <a:srgbClr val="94A3B8"/>
                </a:solidFill>
                <a:latin typeface="Arial"/>
              </a:defRPr>
            </a:pPr>
            <a:r>
              <a:t>Tombol Request Revision &amp; Approve Design</a:t>
            </a:r>
          </a:p>
        </p:txBody>
      </p:sp>
      <p:sp>
        <p:nvSpPr>
          <p:cNvPr id="9" name="Rectangle 8"/>
          <p:cNvSpPr/>
          <p:nvPr/>
        </p:nvSpPr>
        <p:spPr>
          <a:xfrm>
            <a:off x="6035040" y="4846320"/>
            <a:ext cx="5303520" cy="731520"/>
          </a:xfrm>
          <a:prstGeom prst="rect">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Langkah 5: Pengerjaan Revisi (Revision Flow)</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16</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Graphic Designer</a:t>
            </a:r>
          </a:p>
        </p:txBody>
      </p:sp>
      <p:sp>
        <p:nvSpPr>
          <p:cNvPr id="6" name="TextBox 5"/>
          <p:cNvSpPr txBox="1"/>
          <p:nvPr/>
        </p:nvSpPr>
        <p:spPr>
          <a:xfrm>
            <a:off x="731520" y="1645920"/>
            <a:ext cx="5029200" cy="4389120"/>
          </a:xfrm>
          <a:prstGeom prst="rect">
            <a:avLst/>
          </a:prstGeom>
          <a:noFill/>
        </p:spPr>
        <p:txBody>
          <a:bodyPr wrap="square">
            <a:spAutoFit/>
          </a:bodyPr>
          <a:lstStyle/>
          <a:p>
            <a:pPr>
              <a:spcAft>
                <a:spcPts val="400"/>
              </a:spcAft>
            </a:pPr>
            <a:r>
              <a:rPr b="1" sz="1150">
                <a:solidFill>
                  <a:srgbClr val="0F172A"/>
                </a:solidFill>
                <a:latin typeface="Arial"/>
              </a:rPr>
              <a:t>1. </a:t>
            </a:r>
            <a:r>
              <a:rPr b="1" sz="1150">
                <a:solidFill>
                  <a:srgbClr val="0F172A"/>
                </a:solidFill>
                <a:latin typeface="Arial"/>
              </a:rPr>
              <a:t>Pantau Antrean Revisi: </a:t>
            </a:r>
            <a:r>
              <a:rPr b="0" sz="1150">
                <a:solidFill>
                  <a:srgbClr val="475569"/>
                </a:solidFill>
                <a:latin typeface="Arial"/>
              </a:rPr>
              <a:t>Designer wajib memantau kartu tugas yang berstatus Revision pada kolom papan Kanban.</a:t>
            </a:r>
          </a:p>
          <a:p>
            <a:pPr>
              <a:spcAft>
                <a:spcPts val="400"/>
              </a:spcAft>
            </a:pPr>
            <a:r>
              <a:rPr b="1" sz="1150">
                <a:solidFill>
                  <a:srgbClr val="0F172A"/>
                </a:solidFill>
                <a:latin typeface="Arial"/>
              </a:rPr>
              <a:t>2. </a:t>
            </a:r>
            <a:r>
              <a:rPr b="1" sz="1150">
                <a:solidFill>
                  <a:srgbClr val="0F172A"/>
                </a:solidFill>
                <a:latin typeface="Arial"/>
              </a:rPr>
              <a:t>Baca Catatan Revisi: </a:t>
            </a:r>
            <a:r>
              <a:rPr b="0" sz="1150">
                <a:solidFill>
                  <a:srgbClr val="475569"/>
                </a:solidFill>
                <a:latin typeface="Arial"/>
              </a:rPr>
              <a:t>Buka detail tugas untuk membaca Revision History dan instruksi perbaikan dari Requester.</a:t>
            </a:r>
          </a:p>
          <a:p>
            <a:pPr>
              <a:spcAft>
                <a:spcPts val="400"/>
              </a:spcAft>
            </a:pPr>
            <a:r>
              <a:rPr b="1" sz="1150">
                <a:solidFill>
                  <a:srgbClr val="0F172A"/>
                </a:solidFill>
                <a:latin typeface="Arial"/>
              </a:rPr>
              <a:t>3. </a:t>
            </a:r>
            <a:r>
              <a:rPr b="1" sz="1150">
                <a:solidFill>
                  <a:srgbClr val="0F172A"/>
                </a:solidFill>
                <a:latin typeface="Arial"/>
              </a:rPr>
              <a:t>Perbaiki Desain: </a:t>
            </a:r>
            <a:r>
              <a:rPr b="0" sz="1150">
                <a:solidFill>
                  <a:srgbClr val="475569"/>
                </a:solidFill>
                <a:latin typeface="Arial"/>
              </a:rPr>
              <a:t>Lakukan revisi aset desain sesuai catatan yang diminta.</a:t>
            </a:r>
          </a:p>
          <a:p>
            <a:pPr>
              <a:spcAft>
                <a:spcPts val="400"/>
              </a:spcAft>
            </a:pPr>
            <a:r>
              <a:rPr b="1" sz="1150">
                <a:solidFill>
                  <a:srgbClr val="0F172A"/>
                </a:solidFill>
                <a:latin typeface="Arial"/>
              </a:rPr>
              <a:t>4. </a:t>
            </a:r>
            <a:r>
              <a:rPr b="1" sz="1150">
                <a:solidFill>
                  <a:srgbClr val="0F172A"/>
                </a:solidFill>
                <a:latin typeface="Arial"/>
              </a:rPr>
              <a:t>Re-Submit: </a:t>
            </a:r>
            <a:r>
              <a:rPr b="0" sz="1150">
                <a:solidFill>
                  <a:srgbClr val="475569"/>
                </a:solidFill>
                <a:latin typeface="Arial"/>
              </a:rPr>
              <a:t>Setelah selesai, klik tombol 'Submit Output / Re-Submit' dan perbarui tautan aset Google Drive jika ada versi baru.</a:t>
            </a:r>
          </a:p>
          <a:p>
            <a:pPr>
              <a:spcAft>
                <a:spcPts val="400"/>
              </a:spcAft>
            </a:pPr>
            <a:r>
              <a:rPr b="1" sz="1150">
                <a:solidFill>
                  <a:srgbClr val="0F172A"/>
                </a:solidFill>
                <a:latin typeface="Arial"/>
              </a:rPr>
              <a:t>5. </a:t>
            </a:r>
            <a:r>
              <a:rPr b="1" sz="1150">
                <a:solidFill>
                  <a:srgbClr val="0F172A"/>
                </a:solidFill>
                <a:latin typeface="Arial"/>
              </a:rPr>
              <a:t>Siklus Review Ulang: </a:t>
            </a:r>
            <a:r>
              <a:rPr b="0" sz="1150">
                <a:solidFill>
                  <a:srgbClr val="475569"/>
                </a:solidFill>
                <a:latin typeface="Arial"/>
              </a:rPr>
              <a:t>Proses akan kembali mengulang Langkah 4 untuk di-review ulang oleh Requester hingga disetujui.</a:t>
            </a:r>
          </a:p>
        </p:txBody>
      </p:sp>
      <p:pic>
        <p:nvPicPr>
          <p:cNvPr id="7" name="Picture 6" descr="page_12_img_1_106.jpeg"/>
          <p:cNvPicPr>
            <a:picLocks noChangeAspect="1"/>
          </p:cNvPicPr>
          <p:nvPr/>
        </p:nvPicPr>
        <p:blipFill>
          <a:blip r:embed="rId2"/>
          <a:stretch>
            <a:fillRect/>
          </a:stretch>
        </p:blipFill>
        <p:spPr>
          <a:xfrm>
            <a:off x="5943600" y="1645920"/>
            <a:ext cx="5486400" cy="4389120"/>
          </a:xfrm>
          <a:prstGeom prst="rect">
            <a:avLst/>
          </a:prstGeom>
        </p:spPr>
      </p:pic>
      <p:sp>
        <p:nvSpPr>
          <p:cNvPr id="8" name="TextBox 7"/>
          <p:cNvSpPr txBox="1"/>
          <p:nvPr/>
        </p:nvSpPr>
        <p:spPr>
          <a:xfrm>
            <a:off x="5943600" y="608990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Riwayat Catatan Revisi &amp; Tombol Re-Submit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Fitur Tambahan: Batal Status (Undo Status)</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17</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Admin, Team Lead</a:t>
            </a:r>
          </a:p>
        </p:txBody>
      </p:sp>
      <p:sp>
        <p:nvSpPr>
          <p:cNvPr id="6" name="TextBox 5"/>
          <p:cNvSpPr txBox="1"/>
          <p:nvPr/>
        </p:nvSpPr>
        <p:spPr>
          <a:xfrm>
            <a:off x="731520" y="1645920"/>
            <a:ext cx="5029200" cy="4114800"/>
          </a:xfrm>
          <a:prstGeom prst="rect">
            <a:avLst/>
          </a:prstGeom>
          <a:noFill/>
        </p:spPr>
        <p:txBody>
          <a:bodyPr wrap="square">
            <a:spAutoFit/>
          </a:bodyPr>
          <a:lstStyle/>
          <a:p>
            <a:pPr>
              <a:spcAft>
                <a:spcPts val="400"/>
              </a:spcAft>
            </a:pPr>
            <a:r>
              <a:rPr b="1" sz="1150">
                <a:solidFill>
                  <a:srgbClr val="0F172A"/>
                </a:solidFill>
                <a:latin typeface="Arial"/>
              </a:rPr>
              <a:t>• </a:t>
            </a:r>
            <a:r>
              <a:rPr b="1" sz="1150">
                <a:solidFill>
                  <a:srgbClr val="0F172A"/>
                </a:solidFill>
                <a:latin typeface="Arial"/>
              </a:rPr>
              <a:t>Fungsi Proteksi Alur Kerja: </a:t>
            </a:r>
            <a:r>
              <a:rPr b="0" sz="1150">
                <a:solidFill>
                  <a:srgbClr val="475569"/>
                </a:solidFill>
                <a:latin typeface="Arial"/>
              </a:rPr>
              <a:t>Jika terjadi kesalahan klik tahapan (misalnya tugas belum selesai tapi tidak sengaja ter-submit atau salah di-approve), Admin atau Team Lead dapat menggunakan fitur Undo Status.</a:t>
            </a:r>
          </a:p>
          <a:p>
            <a:pPr>
              <a:spcAft>
                <a:spcPts val="400"/>
              </a:spcAft>
            </a:pPr>
            <a:r>
              <a:rPr b="1" sz="1150">
                <a:solidFill>
                  <a:srgbClr val="0F172A"/>
                </a:solidFill>
                <a:latin typeface="Arial"/>
              </a:rPr>
              <a:t>• </a:t>
            </a:r>
            <a:r>
              <a:rPr b="1" sz="1150">
                <a:solidFill>
                  <a:srgbClr val="0F172A"/>
                </a:solidFill>
                <a:latin typeface="Arial"/>
              </a:rPr>
              <a:t>Cara Pakai: </a:t>
            </a:r>
            <a:r>
              <a:rPr b="0" sz="1150">
                <a:solidFill>
                  <a:srgbClr val="475569"/>
                </a:solidFill>
                <a:latin typeface="Arial"/>
              </a:rPr>
              <a:t>Buka Task Detail pada tugas yang ingin diperbaiki, lalu klik tombol 'Undo Status' (ikon Panah Mundur).</a:t>
            </a:r>
          </a:p>
          <a:p>
            <a:pPr>
              <a:spcAft>
                <a:spcPts val="400"/>
              </a:spcAft>
            </a:pPr>
            <a:r>
              <a:rPr b="1" sz="1150">
                <a:solidFill>
                  <a:srgbClr val="0F172A"/>
                </a:solidFill>
                <a:latin typeface="Arial"/>
              </a:rPr>
              <a:t>• </a:t>
            </a:r>
            <a:r>
              <a:rPr b="1" sz="1150">
                <a:solidFill>
                  <a:srgbClr val="0F172A"/>
                </a:solidFill>
                <a:latin typeface="Arial"/>
              </a:rPr>
              <a:t>Efek: </a:t>
            </a:r>
            <a:r>
              <a:rPr b="0" sz="1150">
                <a:solidFill>
                  <a:srgbClr val="475569"/>
                </a:solidFill>
                <a:latin typeface="Arial"/>
              </a:rPr>
              <a:t>Status tugas akan kembali mundur 1 tahapan sebelumnya (misal: dari Submitted kembali ke In Progress).</a:t>
            </a:r>
          </a:p>
          <a:p>
            <a:pPr>
              <a:spcAft>
                <a:spcPts val="400"/>
              </a:spcAft>
            </a:pPr>
            <a:r>
              <a:rPr b="1" sz="1150">
                <a:solidFill>
                  <a:srgbClr val="0F172A"/>
                </a:solidFill>
                <a:latin typeface="Arial"/>
              </a:rPr>
              <a:t>• </a:t>
            </a:r>
            <a:r>
              <a:rPr b="1" sz="1150">
                <a:solidFill>
                  <a:srgbClr val="0F172A"/>
                </a:solidFill>
                <a:latin typeface="Arial"/>
              </a:rPr>
              <a:t>Pencatatan Log: </a:t>
            </a:r>
            <a:r>
              <a:rPr b="0" sz="1150">
                <a:solidFill>
                  <a:srgbClr val="475569"/>
                </a:solidFill>
                <a:latin typeface="Arial"/>
              </a:rPr>
              <a:t>Setiap aksi Undo dicatat dalam Audit Trail untuk mencegah penyalahgunaan alur.</a:t>
            </a:r>
          </a:p>
        </p:txBody>
      </p:sp>
      <p:pic>
        <p:nvPicPr>
          <p:cNvPr id="7" name="Picture 6" descr="page_13_img_1_113.jpeg"/>
          <p:cNvPicPr>
            <a:picLocks noChangeAspect="1"/>
          </p:cNvPicPr>
          <p:nvPr/>
        </p:nvPicPr>
        <p:blipFill>
          <a:blip r:embed="rId2"/>
          <a:stretch>
            <a:fillRect/>
          </a:stretch>
        </p:blipFill>
        <p:spPr>
          <a:xfrm>
            <a:off x="5943600" y="1645920"/>
            <a:ext cx="5486400" cy="4389120"/>
          </a:xfrm>
          <a:prstGeom prst="rect">
            <a:avLst/>
          </a:prstGeom>
        </p:spPr>
      </p:pic>
      <p:sp>
        <p:nvSpPr>
          <p:cNvPr id="8" name="TextBox 7"/>
          <p:cNvSpPr txBox="1"/>
          <p:nvPr/>
        </p:nvSpPr>
        <p:spPr>
          <a:xfrm>
            <a:off x="5943600" y="6089904"/>
            <a:ext cx="5486400" cy="228600"/>
          </a:xfrm>
          <a:prstGeom prst="rect">
            <a:avLst/>
          </a:prstGeom>
          <a:noFill/>
        </p:spPr>
        <p:txBody>
          <a:bodyPr wrap="square" lIns="0" tIns="0" rIns="0" bIns="0">
            <a:spAutoFit/>
          </a:bodyPr>
          <a:lstStyle/>
          <a:p>
            <a:pPr algn="ctr">
              <a:defRPr sz="950" i="1">
                <a:solidFill>
                  <a:srgbClr val="94A3B8"/>
                </a:solidFill>
                <a:latin typeface="Arial"/>
              </a:defRPr>
            </a:pPr>
            <a:r>
              <a:t>Tombol Undo Status pada Modal Detail</a:t>
            </a:r>
          </a:p>
        </p:txBody>
      </p:sp>
      <p:sp>
        <p:nvSpPr>
          <p:cNvPr id="9" name="Rectangle 8"/>
          <p:cNvSpPr/>
          <p:nvPr/>
        </p:nvSpPr>
        <p:spPr>
          <a:xfrm>
            <a:off x="8046720" y="4937760"/>
            <a:ext cx="1097280" cy="548640"/>
          </a:xfrm>
          <a:prstGeom prst="rect">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TASK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6. Melihat Detail &amp; Riwayat Tugas (Task Detail)</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18</a:t>
            </a:r>
          </a:p>
        </p:txBody>
      </p:sp>
      <p:sp>
        <p:nvSpPr>
          <p:cNvPr id="5" name="TextBox 4"/>
          <p:cNvSpPr txBox="1"/>
          <p:nvPr/>
        </p:nvSpPr>
        <p:spPr>
          <a:xfrm>
            <a:off x="731520" y="1554480"/>
            <a:ext cx="5029200" cy="4389120"/>
          </a:xfrm>
          <a:prstGeom prst="rect">
            <a:avLst/>
          </a:prstGeom>
          <a:noFill/>
        </p:spPr>
        <p:txBody>
          <a:bodyPr wrap="square">
            <a:spAutoFit/>
          </a:bodyPr>
          <a:lstStyle/>
          <a:p>
            <a:pPr>
              <a:spcAft>
                <a:spcPts val="400"/>
              </a:spcAft>
            </a:pPr>
            <a:r>
              <a:rPr b="1" sz="1100">
                <a:solidFill>
                  <a:srgbClr val="0F172A"/>
                </a:solidFill>
                <a:latin typeface="Arial"/>
              </a:rPr>
              <a:t>Untuk Melacak Progres Detail &amp; Riwayat Tugas: </a:t>
            </a:r>
          </a:p>
          <a:p>
            <a:pPr>
              <a:spcAft>
                <a:spcPts val="400"/>
              </a:spcAft>
            </a:pPr>
            <a:r>
              <a:rPr b="1" sz="1100">
                <a:solidFill>
                  <a:srgbClr val="0F172A"/>
                </a:solidFill>
                <a:latin typeface="Arial"/>
              </a:rPr>
              <a:t>1. Buka Detail: </a:t>
            </a:r>
            <a:r>
              <a:rPr b="0" sz="1100">
                <a:solidFill>
                  <a:srgbClr val="475569"/>
                </a:solidFill>
                <a:latin typeface="Arial"/>
              </a:rPr>
              <a:t>Klik area kartu pada mode Kanban, ATAU klik teks berwarna biru pada Task Code (contoh: REQ-2026-001) pada mode Table.</a:t>
            </a:r>
          </a:p>
          <a:p>
            <a:pPr>
              <a:spcAft>
                <a:spcPts val="400"/>
              </a:spcAft>
            </a:pPr>
            <a:r>
              <a:rPr b="1" sz="1100">
                <a:solidFill>
                  <a:srgbClr val="0F172A"/>
                </a:solidFill>
                <a:latin typeface="Arial"/>
              </a:rPr>
              <a:t>2. Konten Modal Detail: </a:t>
            </a:r>
          </a:p>
          <a:p>
            <a:pPr>
              <a:spcAft>
                <a:spcPts val="400"/>
              </a:spcAft>
            </a:pPr>
            <a:r>
              <a:rPr b="1" sz="1100">
                <a:solidFill>
                  <a:srgbClr val="0F172A"/>
                </a:solidFill>
                <a:latin typeface="Arial"/>
              </a:rPr>
              <a:t>   • Informasi Spesifikasi: </a:t>
            </a:r>
            <a:r>
              <a:rPr b="0" sz="1100">
                <a:solidFill>
                  <a:srgbClr val="475569"/>
                </a:solidFill>
                <a:latin typeface="Arial"/>
              </a:rPr>
              <a:t>Data Klien/Brand, Campaign, Content Type, Qty, Target Due Date, dan Strategic PIC.</a:t>
            </a:r>
          </a:p>
          <a:p>
            <a:pPr>
              <a:spcAft>
                <a:spcPts val="400"/>
              </a:spcAft>
            </a:pPr>
            <a:r>
              <a:rPr b="1" sz="1100">
                <a:solidFill>
                  <a:srgbClr val="0F172A"/>
                </a:solidFill>
                <a:latin typeface="Arial"/>
              </a:rPr>
              <a:t>   • Metrik SLA: </a:t>
            </a:r>
            <a:r>
              <a:rPr b="0" sz="1100">
                <a:solidFill>
                  <a:srgbClr val="475569"/>
                </a:solidFill>
                <a:latin typeface="Arial"/>
              </a:rPr>
              <a:t>Waktu mulai, waktu selesai, dan durasi SLA Working Days.</a:t>
            </a:r>
          </a:p>
          <a:p>
            <a:pPr>
              <a:spcAft>
                <a:spcPts val="400"/>
              </a:spcAft>
            </a:pPr>
            <a:r>
              <a:rPr b="1" sz="1100">
                <a:solidFill>
                  <a:srgbClr val="0F172A"/>
                </a:solidFill>
                <a:latin typeface="Arial"/>
              </a:rPr>
              <a:t>   • Tautan Aset Final: </a:t>
            </a:r>
            <a:r>
              <a:rPr b="0" sz="1100">
                <a:solidFill>
                  <a:srgbClr val="475569"/>
                </a:solidFill>
                <a:latin typeface="Arial"/>
              </a:rPr>
              <a:t>Akses langsung menuju Google Drive folder.</a:t>
            </a:r>
          </a:p>
          <a:p>
            <a:pPr>
              <a:spcAft>
                <a:spcPts val="400"/>
              </a:spcAft>
            </a:pPr>
            <a:r>
              <a:rPr b="1" sz="1100">
                <a:solidFill>
                  <a:srgbClr val="0F172A"/>
                </a:solidFill>
                <a:latin typeface="Arial"/>
              </a:rPr>
              <a:t>   • Audit Trail (Riwayat Aktivitas): </a:t>
            </a:r>
            <a:r>
              <a:rPr b="0" sz="1100">
                <a:solidFill>
                  <a:srgbClr val="475569"/>
                </a:solidFill>
                <a:latin typeface="Arial"/>
              </a:rPr>
              <a:t>Menampilkan semua rekam jejak berurutan: siapa pelaku, kapan waktu tepatnya, dan catatan perubahan data.</a:t>
            </a:r>
          </a:p>
        </p:txBody>
      </p:sp>
      <p:pic>
        <p:nvPicPr>
          <p:cNvPr id="6" name="Picture 5" descr="page_14_img_2_121.jpeg"/>
          <p:cNvPicPr>
            <a:picLocks noChangeAspect="1"/>
          </p:cNvPicPr>
          <p:nvPr/>
        </p:nvPicPr>
        <p:blipFill>
          <a:blip r:embed="rId2"/>
          <a:stretch>
            <a:fillRect/>
          </a:stretch>
        </p:blipFill>
        <p:spPr>
          <a:xfrm>
            <a:off x="5943600" y="1554480"/>
            <a:ext cx="5486400" cy="4389120"/>
          </a:xfrm>
          <a:prstGeom prst="rect">
            <a:avLst/>
          </a:prstGeom>
        </p:spPr>
      </p:pic>
      <p:sp>
        <p:nvSpPr>
          <p:cNvPr id="7" name="TextBox 6"/>
          <p:cNvSpPr txBox="1"/>
          <p:nvPr/>
        </p:nvSpPr>
        <p:spPr>
          <a:xfrm>
            <a:off x="5943600" y="599846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Modal Task Detail &amp; Audit Trail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Motion Pipeline (Produksi Video &amp; Animasi)</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19</a:t>
            </a:r>
          </a:p>
        </p:txBody>
      </p:sp>
      <p:sp>
        <p:nvSpPr>
          <p:cNvPr id="5" name="TextBox 4"/>
          <p:cNvSpPr txBox="1"/>
          <p:nvPr/>
        </p:nvSpPr>
        <p:spPr>
          <a:xfrm>
            <a:off x="731520" y="1188720"/>
            <a:ext cx="10698480" cy="731520"/>
          </a:xfrm>
          <a:prstGeom prst="rect">
            <a:avLst/>
          </a:prstGeom>
          <a:noFill/>
        </p:spPr>
        <p:txBody>
          <a:bodyPr wrap="square">
            <a:spAutoFit/>
          </a:bodyPr>
          <a:lstStyle/>
          <a:p>
            <a:pPr>
              <a:defRPr sz="1200">
                <a:solidFill>
                  <a:srgbClr val="475569"/>
                </a:solidFill>
              </a:defRPr>
            </a:pPr>
            <a:r>
              <a:t>Halaman Motion Management atau Motion Graphics Pipeline adalah fitur yang dikhususkan untuk memantau, mengelola, dan mengeksekusi tugas-tugas berbasis video atau animasi (Motion Graphics). Halaman ini mempertemukan Requester/AE, Motion Designer, dan Operator (Tim Live).</a:t>
            </a:r>
          </a:p>
        </p:txBody>
      </p:sp>
      <p:pic>
        <p:nvPicPr>
          <p:cNvPr id="6" name="Picture 5" descr="page_15_img_1_129.jpeg"/>
          <p:cNvPicPr>
            <a:picLocks noChangeAspect="1"/>
          </p:cNvPicPr>
          <p:nvPr/>
        </p:nvPicPr>
        <p:blipFill>
          <a:blip r:embed="rId2"/>
          <a:stretch>
            <a:fillRect/>
          </a:stretch>
        </p:blipFill>
        <p:spPr>
          <a:xfrm>
            <a:off x="731520" y="2011680"/>
            <a:ext cx="10698480" cy="4114800"/>
          </a:xfrm>
          <a:prstGeom prst="rect">
            <a:avLst/>
          </a:prstGeom>
        </p:spPr>
      </p:pic>
      <p:sp>
        <p:nvSpPr>
          <p:cNvPr id="7" name="TextBox 6"/>
          <p:cNvSpPr txBox="1"/>
          <p:nvPr/>
        </p:nvSpPr>
        <p:spPr>
          <a:xfrm>
            <a:off x="731520" y="6181344"/>
            <a:ext cx="10698480" cy="228600"/>
          </a:xfrm>
          <a:prstGeom prst="rect">
            <a:avLst/>
          </a:prstGeom>
          <a:noFill/>
        </p:spPr>
        <p:txBody>
          <a:bodyPr wrap="square" lIns="0" tIns="0" rIns="0" bIns="0">
            <a:spAutoFit/>
          </a:bodyPr>
          <a:lstStyle/>
          <a:p>
            <a:pPr algn="ctr">
              <a:defRPr sz="950" i="1">
                <a:solidFill>
                  <a:srgbClr val="94A3B8"/>
                </a:solidFill>
                <a:latin typeface="Arial"/>
              </a:defRPr>
            </a:pPr>
            <a:r>
              <a:t>Screenshot Penuh Halaman Motion Graphics Pipeline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2. Navigasi Tampilan (Kanban Board Motion)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20</a:t>
            </a:r>
          </a:p>
        </p:txBody>
      </p:sp>
      <p:sp>
        <p:nvSpPr>
          <p:cNvPr id="5" name="TextBox 4"/>
          <p:cNvSpPr txBox="1"/>
          <p:nvPr/>
        </p:nvSpPr>
        <p:spPr>
          <a:xfrm>
            <a:off x="731520" y="1188720"/>
            <a:ext cx="10698480" cy="1097280"/>
          </a:xfrm>
          <a:prstGeom prst="rect">
            <a:avLst/>
          </a:prstGeom>
          <a:noFill/>
        </p:spPr>
        <p:txBody>
          <a:bodyPr wrap="square">
            <a:spAutoFit/>
          </a:bodyPr>
          <a:lstStyle/>
          <a:p>
            <a:pPr>
              <a:spcAft>
                <a:spcPts val="400"/>
              </a:spcAft>
              <a:defRPr sz="1150">
                <a:solidFill>
                  <a:srgbClr val="475569"/>
                </a:solidFill>
              </a:defRPr>
            </a:pPr>
            <a:r>
              <a:t>Berbeda dengan tugas desain statis, halaman Motion secara eksklusif menggunakan Tampilan Kanban (Papan Visual). Tugas bergerak dari kiri ke kanan berdasarkan statusnya:</a:t>
            </a:r>
          </a:p>
          <a:p>
            <a:pPr>
              <a:defRPr b="1" sz="1200">
                <a:solidFill>
                  <a:srgbClr val="0F766E"/>
                </a:solidFill>
              </a:defRPr>
            </a:pPr>
            <a:r>
              <a:t>Queued (Antrean)  ➔  In Progress  ➔  Submitted  ➔  Revision  ➔  Approved  ➔  Completed (Handover)</a:t>
            </a:r>
          </a:p>
        </p:txBody>
      </p:sp>
      <p:pic>
        <p:nvPicPr>
          <p:cNvPr id="6" name="Picture 5" descr="page_16_img_1_136.jpeg"/>
          <p:cNvPicPr>
            <a:picLocks noChangeAspect="1"/>
          </p:cNvPicPr>
          <p:nvPr/>
        </p:nvPicPr>
        <p:blipFill>
          <a:blip r:embed="rId2"/>
          <a:stretch>
            <a:fillRect/>
          </a:stretch>
        </p:blipFill>
        <p:spPr>
          <a:xfrm>
            <a:off x="731520" y="2560320"/>
            <a:ext cx="10698480" cy="3657600"/>
          </a:xfrm>
          <a:prstGeom prst="rect">
            <a:avLst/>
          </a:prstGeom>
        </p:spPr>
      </p:pic>
      <p:sp>
        <p:nvSpPr>
          <p:cNvPr id="7" name="TextBox 6"/>
          <p:cNvSpPr txBox="1"/>
          <p:nvPr/>
        </p:nvSpPr>
        <p:spPr>
          <a:xfrm>
            <a:off x="731520" y="6272784"/>
            <a:ext cx="10698480" cy="228600"/>
          </a:xfrm>
          <a:prstGeom prst="rect">
            <a:avLst/>
          </a:prstGeom>
          <a:noFill/>
        </p:spPr>
        <p:txBody>
          <a:bodyPr wrap="square" lIns="0" tIns="0" rIns="0" bIns="0">
            <a:spAutoFit/>
          </a:bodyPr>
          <a:lstStyle/>
          <a:p>
            <a:pPr algn="ctr">
              <a:defRPr sz="950" i="1">
                <a:solidFill>
                  <a:srgbClr val="94A3B8"/>
                </a:solidFill>
                <a:latin typeface="Arial"/>
              </a:defRPr>
            </a:pPr>
            <a:r>
              <a:t>Screenshot Papan Kanban Motion Pipeline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3. Fitur Pencarian dan Filter Motion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21</a:t>
            </a:r>
          </a:p>
        </p:txBody>
      </p:sp>
      <p:sp>
        <p:nvSpPr>
          <p:cNvPr id="5" name="TextBox 4"/>
          <p:cNvSpPr txBox="1"/>
          <p:nvPr/>
        </p:nvSpPr>
        <p:spPr>
          <a:xfrm>
            <a:off x="731520" y="1188720"/>
            <a:ext cx="10698480" cy="2011680"/>
          </a:xfrm>
          <a:prstGeom prst="rect">
            <a:avLst/>
          </a:prstGeom>
          <a:noFill/>
        </p:spPr>
        <p:txBody>
          <a:bodyPr wrap="square">
            <a:spAutoFit/>
          </a:bodyPr>
          <a:lstStyle/>
          <a:p>
            <a:pPr>
              <a:spcAft>
                <a:spcPts val="400"/>
              </a:spcAft>
            </a:pPr>
            <a:r>
              <a:rPr b="1" sz="1100">
                <a:solidFill>
                  <a:srgbClr val="0F172A"/>
                </a:solidFill>
                <a:latin typeface="Arial"/>
              </a:rPr>
              <a:t>Alat Penyaringan Antrean Video Khusus: </a:t>
            </a:r>
          </a:p>
          <a:p>
            <a:pPr>
              <a:spcAft>
                <a:spcPts val="400"/>
              </a:spcAft>
            </a:pPr>
            <a:r>
              <a:rPr b="1" sz="1100">
                <a:solidFill>
                  <a:srgbClr val="0F172A"/>
                </a:solidFill>
                <a:latin typeface="Arial"/>
              </a:rPr>
              <a:t>• Kolom Pencarian: </a:t>
            </a:r>
            <a:r>
              <a:rPr b="0" sz="1100">
                <a:solidFill>
                  <a:srgbClr val="475569"/>
                </a:solidFill>
                <a:latin typeface="Arial"/>
              </a:rPr>
              <a:t>Cari tugas berdasarkan Nama Brand, Jenis Kampanye, Kode Tugas (contoh: MOT-2026-001), atau Nama Motion Designer.</a:t>
            </a:r>
          </a:p>
          <a:p>
            <a:pPr>
              <a:spcAft>
                <a:spcPts val="400"/>
              </a:spcAft>
            </a:pPr>
            <a:r>
              <a:rPr b="1" sz="1100">
                <a:solidFill>
                  <a:srgbClr val="0F172A"/>
                </a:solidFill>
                <a:latin typeface="Arial"/>
              </a:rPr>
              <a:t>• Filter Waktu: </a:t>
            </a:r>
            <a:r>
              <a:rPr b="0" sz="1100">
                <a:solidFill>
                  <a:srgbClr val="475569"/>
                </a:solidFill>
                <a:latin typeface="Arial"/>
              </a:rPr>
              <a:t>Menyaring daftar berdasarkan Bulan, Tahun, atau tanggal spesifik (Exact Date).</a:t>
            </a:r>
          </a:p>
          <a:p>
            <a:pPr>
              <a:spcAft>
                <a:spcPts val="400"/>
              </a:spcAft>
            </a:pPr>
            <a:r>
              <a:rPr b="1" sz="1100">
                <a:solidFill>
                  <a:srgbClr val="0F172A"/>
                </a:solidFill>
                <a:latin typeface="Arial"/>
              </a:rPr>
              <a:t>• Filter Status: </a:t>
            </a:r>
            <a:r>
              <a:rPr b="0" sz="1100">
                <a:solidFill>
                  <a:srgbClr val="475569"/>
                </a:solidFill>
                <a:latin typeface="Arial"/>
              </a:rPr>
              <a:t>Menampilkan tugas hanya dengan status tertentu (misal: Queued, In Progress, Submitted).</a:t>
            </a:r>
          </a:p>
          <a:p>
            <a:pPr>
              <a:spcAft>
                <a:spcPts val="400"/>
              </a:spcAft>
            </a:pPr>
            <a:r>
              <a:rPr b="1" sz="1100">
                <a:solidFill>
                  <a:srgbClr val="0F172A"/>
                </a:solidFill>
                <a:latin typeface="Arial"/>
              </a:rPr>
              <a:t>• Filter Designer: </a:t>
            </a:r>
            <a:r>
              <a:rPr b="0" sz="1100">
                <a:solidFill>
                  <a:srgbClr val="475569"/>
                </a:solidFill>
                <a:latin typeface="Arial"/>
              </a:rPr>
              <a:t>Menampilkan daftar tugas milik PIC Motion tertentu.</a:t>
            </a:r>
          </a:p>
        </p:txBody>
      </p:sp>
      <p:pic>
        <p:nvPicPr>
          <p:cNvPr id="6" name="Picture 5" descr="page_17_img_1_143.jpeg"/>
          <p:cNvPicPr>
            <a:picLocks noChangeAspect="1"/>
          </p:cNvPicPr>
          <p:nvPr/>
        </p:nvPicPr>
        <p:blipFill>
          <a:blip r:embed="rId2"/>
          <a:stretch>
            <a:fillRect/>
          </a:stretch>
        </p:blipFill>
        <p:spPr>
          <a:xfrm>
            <a:off x="731520" y="3474720"/>
            <a:ext cx="10698480" cy="2560320"/>
          </a:xfrm>
          <a:prstGeom prst="rect">
            <a:avLst/>
          </a:prstGeom>
        </p:spPr>
      </p:pic>
      <p:sp>
        <p:nvSpPr>
          <p:cNvPr id="7" name="TextBox 6"/>
          <p:cNvSpPr txBox="1"/>
          <p:nvPr/>
        </p:nvSpPr>
        <p:spPr>
          <a:xfrm>
            <a:off x="731520" y="6089904"/>
            <a:ext cx="10698480" cy="228600"/>
          </a:xfrm>
          <a:prstGeom prst="rect">
            <a:avLst/>
          </a:prstGeom>
          <a:noFill/>
        </p:spPr>
        <p:txBody>
          <a:bodyPr wrap="square" lIns="0" tIns="0" rIns="0" bIns="0">
            <a:spAutoFit/>
          </a:bodyPr>
          <a:lstStyle/>
          <a:p>
            <a:pPr algn="ctr">
              <a:defRPr sz="950" i="1">
                <a:solidFill>
                  <a:srgbClr val="94A3B8"/>
                </a:solidFill>
                <a:latin typeface="Arial"/>
              </a:defRPr>
            </a:pPr>
            <a:r>
              <a:t>Screenshot Bagian Filter &amp; Tombol Create Request Motion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4. Cara Membuat Tugas Motion Baru (Create Request)</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22</a:t>
            </a:r>
          </a:p>
        </p:txBody>
      </p:sp>
      <p:sp>
        <p:nvSpPr>
          <p:cNvPr id="5" name="TextBox 4"/>
          <p:cNvSpPr txBox="1"/>
          <p:nvPr/>
        </p:nvSpPr>
        <p:spPr>
          <a:xfrm>
            <a:off x="731520" y="1371600"/>
            <a:ext cx="5303520" cy="4572000"/>
          </a:xfrm>
          <a:prstGeom prst="rect">
            <a:avLst/>
          </a:prstGeom>
          <a:noFill/>
        </p:spPr>
        <p:txBody>
          <a:bodyPr wrap="square">
            <a:spAutoFit/>
          </a:bodyPr>
          <a:lstStyle/>
          <a:p>
            <a:pPr>
              <a:spcAft>
                <a:spcPts val="400"/>
              </a:spcAft>
            </a:pPr>
            <a:r>
              <a:rPr b="1" sz="1050">
                <a:solidFill>
                  <a:srgbClr val="0F172A"/>
                </a:solidFill>
                <a:latin typeface="Arial"/>
              </a:rPr>
              <a:t>Pembuatan Tugas Motion (Standalone): </a:t>
            </a:r>
          </a:p>
          <a:p>
            <a:pPr>
              <a:spcAft>
                <a:spcPts val="400"/>
              </a:spcAft>
            </a:pPr>
            <a:r>
              <a:rPr b="1" sz="1050">
                <a:solidFill>
                  <a:srgbClr val="0F172A"/>
                </a:solidFill>
                <a:latin typeface="Arial"/>
              </a:rPr>
              <a:t>1. Klik Tombol: </a:t>
            </a:r>
            <a:r>
              <a:rPr b="0" sz="1050">
                <a:solidFill>
                  <a:srgbClr val="475569"/>
                </a:solidFill>
                <a:latin typeface="Arial"/>
              </a:rPr>
              <a:t>Klik tombol 'Create Request' berwarna pink di pojok kanan atas.</a:t>
            </a:r>
          </a:p>
          <a:p>
            <a:pPr>
              <a:spcAft>
                <a:spcPts val="400"/>
              </a:spcAft>
            </a:pPr>
            <a:r>
              <a:rPr b="1" sz="1050">
                <a:solidFill>
                  <a:srgbClr val="0F172A"/>
                </a:solidFill>
                <a:latin typeface="Arial"/>
              </a:rPr>
              <a:t>2. Isi Kolom Wajib: </a:t>
            </a:r>
          </a:p>
          <a:p>
            <a:pPr>
              <a:spcAft>
                <a:spcPts val="400"/>
              </a:spcAft>
            </a:pPr>
            <a:r>
              <a:rPr b="1" sz="1050">
                <a:solidFill>
                  <a:srgbClr val="0F172A"/>
                </a:solidFill>
                <a:latin typeface="Arial"/>
              </a:rPr>
              <a:t>   • Brand: </a:t>
            </a:r>
            <a:r>
              <a:rPr b="0" sz="1050">
                <a:solidFill>
                  <a:srgbClr val="475569"/>
                </a:solidFill>
                <a:latin typeface="Arial"/>
              </a:rPr>
              <a:t>Pilih nama klien/brand.</a:t>
            </a:r>
          </a:p>
          <a:p>
            <a:pPr>
              <a:spcAft>
                <a:spcPts val="400"/>
              </a:spcAft>
            </a:pPr>
            <a:r>
              <a:rPr b="1" sz="1050">
                <a:solidFill>
                  <a:srgbClr val="0F172A"/>
                </a:solidFill>
                <a:latin typeface="Arial"/>
              </a:rPr>
              <a:t>   • Platform: </a:t>
            </a:r>
            <a:r>
              <a:rPr b="0" sz="1050">
                <a:solidFill>
                  <a:srgbClr val="475569"/>
                </a:solidFill>
                <a:latin typeface="Arial"/>
              </a:rPr>
              <a:t>Target tayang (TikTok, Shopee, Reels, YouTube).</a:t>
            </a:r>
          </a:p>
          <a:p>
            <a:pPr>
              <a:spcAft>
                <a:spcPts val="400"/>
              </a:spcAft>
            </a:pPr>
            <a:r>
              <a:rPr b="1" sz="1050">
                <a:solidFill>
                  <a:srgbClr val="0F172A"/>
                </a:solidFill>
                <a:latin typeface="Arial"/>
              </a:rPr>
              <a:t>   • Tipe Motion: </a:t>
            </a:r>
            <a:r>
              <a:rPr b="0" sz="1050">
                <a:solidFill>
                  <a:srgbClr val="475569"/>
                </a:solidFill>
                <a:latin typeface="Arial"/>
              </a:rPr>
              <a:t>Deskripsi animasi (2D Animation, Lower Thirds, dsb.).</a:t>
            </a:r>
          </a:p>
          <a:p>
            <a:pPr>
              <a:spcAft>
                <a:spcPts val="400"/>
              </a:spcAft>
            </a:pPr>
            <a:r>
              <a:rPr b="1" sz="1050">
                <a:solidFill>
                  <a:srgbClr val="0F172A"/>
                </a:solidFill>
                <a:latin typeface="Arial"/>
              </a:rPr>
              <a:t>   • Jenis Kampanye: </a:t>
            </a:r>
            <a:r>
              <a:rPr b="0" sz="1050">
                <a:solidFill>
                  <a:srgbClr val="475569"/>
                </a:solidFill>
                <a:latin typeface="Arial"/>
              </a:rPr>
              <a:t>Pilih BaU, PayDay, Double Date (DD), atau Special.</a:t>
            </a:r>
          </a:p>
          <a:p>
            <a:pPr>
              <a:spcAft>
                <a:spcPts val="400"/>
              </a:spcAft>
            </a:pPr>
            <a:r>
              <a:rPr b="1" sz="1050">
                <a:solidFill>
                  <a:srgbClr val="0F172A"/>
                </a:solidFill>
                <a:latin typeface="Arial"/>
              </a:rPr>
              <a:t>   • Studio: </a:t>
            </a:r>
            <a:r>
              <a:rPr b="0" sz="1050">
                <a:solidFill>
                  <a:srgbClr val="475569"/>
                </a:solidFill>
                <a:latin typeface="Arial"/>
              </a:rPr>
              <a:t>Tentukan lokasi studio (Jakarta / Bandung).</a:t>
            </a:r>
          </a:p>
          <a:p>
            <a:pPr>
              <a:spcAft>
                <a:spcPts val="400"/>
              </a:spcAft>
            </a:pPr>
            <a:r>
              <a:rPr b="1" sz="1050">
                <a:solidFill>
                  <a:srgbClr val="0F172A"/>
                </a:solidFill>
                <a:latin typeface="Arial"/>
              </a:rPr>
              <a:t>   • Tanggal Produksi &amp; Periode: </a:t>
            </a:r>
            <a:r>
              <a:rPr b="0" sz="1050">
                <a:solidFill>
                  <a:srgbClr val="475569"/>
                </a:solidFill>
                <a:latin typeface="Arial"/>
              </a:rPr>
              <a:t>Jadwal produksi &amp; tanggal tayang.</a:t>
            </a:r>
          </a:p>
          <a:p>
            <a:pPr>
              <a:spcAft>
                <a:spcPts val="400"/>
              </a:spcAft>
            </a:pPr>
            <a:r>
              <a:rPr b="1" sz="1050">
                <a:solidFill>
                  <a:srgbClr val="0F172A"/>
                </a:solidFill>
                <a:latin typeface="Arial"/>
              </a:rPr>
              <a:t>3. Pilih PIC Motion: </a:t>
            </a:r>
            <a:r>
              <a:rPr b="0" sz="1050">
                <a:solidFill>
                  <a:srgbClr val="475569"/>
                </a:solidFill>
                <a:latin typeface="Arial"/>
              </a:rPr>
              <a:t>(Opsional) Pilih desainer video yang ditugaskan.</a:t>
            </a:r>
          </a:p>
          <a:p>
            <a:pPr>
              <a:spcAft>
                <a:spcPts val="400"/>
              </a:spcAft>
            </a:pPr>
            <a:r>
              <a:rPr b="1" sz="1050">
                <a:solidFill>
                  <a:srgbClr val="0F172A"/>
                </a:solidFill>
                <a:latin typeface="Arial"/>
              </a:rPr>
              <a:t>4. Simpan: </a:t>
            </a:r>
            <a:r>
              <a:rPr b="0" sz="1050">
                <a:solidFill>
                  <a:srgbClr val="475569"/>
                </a:solidFill>
                <a:latin typeface="Arial"/>
              </a:rPr>
              <a:t>Klik 'Buat Request'. Tugas otomatis masuk kolom Queued.</a:t>
            </a:r>
          </a:p>
        </p:txBody>
      </p:sp>
      <p:pic>
        <p:nvPicPr>
          <p:cNvPr id="6" name="Picture 5" descr="page_18_img_1_150.jpeg"/>
          <p:cNvPicPr>
            <a:picLocks noChangeAspect="1"/>
          </p:cNvPicPr>
          <p:nvPr/>
        </p:nvPicPr>
        <p:blipFill>
          <a:blip r:embed="rId2"/>
          <a:stretch>
            <a:fillRect/>
          </a:stretch>
        </p:blipFill>
        <p:spPr>
          <a:xfrm>
            <a:off x="6217920" y="1371600"/>
            <a:ext cx="5212080" cy="4389120"/>
          </a:xfrm>
          <a:prstGeom prst="rect">
            <a:avLst/>
          </a:prstGeom>
        </p:spPr>
      </p:pic>
      <p:sp>
        <p:nvSpPr>
          <p:cNvPr id="7" name="TextBox 6"/>
          <p:cNvSpPr txBox="1"/>
          <p:nvPr/>
        </p:nvSpPr>
        <p:spPr>
          <a:xfrm>
            <a:off x="6217920" y="5815584"/>
            <a:ext cx="5212080" cy="228600"/>
          </a:xfrm>
          <a:prstGeom prst="rect">
            <a:avLst/>
          </a:prstGeom>
          <a:noFill/>
        </p:spPr>
        <p:txBody>
          <a:bodyPr wrap="square" lIns="0" tIns="0" rIns="0" bIns="0">
            <a:spAutoFit/>
          </a:bodyPr>
          <a:lstStyle/>
          <a:p>
            <a:pPr algn="ctr">
              <a:defRPr sz="950" i="1">
                <a:solidFill>
                  <a:srgbClr val="94A3B8"/>
                </a:solidFill>
                <a:latin typeface="Arial"/>
              </a:defRPr>
            </a:pPr>
            <a:r>
              <a:t>Screenshot Modal Create Motion Request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Alur Kerja Motion — Start &amp; Submit Render</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23</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Motion PIC yang ditugaskan, Admin, Team Lead</a:t>
            </a:r>
          </a:p>
        </p:txBody>
      </p:sp>
      <p:sp>
        <p:nvSpPr>
          <p:cNvPr id="6" name="TextBox 5"/>
          <p:cNvSpPr txBox="1"/>
          <p:nvPr/>
        </p:nvSpPr>
        <p:spPr>
          <a:xfrm>
            <a:off x="731520" y="1645920"/>
            <a:ext cx="5029200" cy="2011680"/>
          </a:xfrm>
          <a:prstGeom prst="rect">
            <a:avLst/>
          </a:prstGeom>
          <a:noFill/>
        </p:spPr>
        <p:txBody>
          <a:bodyPr wrap="square">
            <a:spAutoFit/>
          </a:bodyPr>
          <a:lstStyle/>
          <a:p>
            <a:pPr>
              <a:spcAft>
                <a:spcPts val="400"/>
              </a:spcAft>
            </a:pPr>
            <a:r>
              <a:rPr b="1" sz="1100">
                <a:solidFill>
                  <a:srgbClr val="0F172A"/>
                </a:solidFill>
                <a:latin typeface="Arial"/>
              </a:rPr>
              <a:t>Langkah 2: Memulai (Start) </a:t>
            </a:r>
          </a:p>
          <a:p>
            <a:pPr>
              <a:spcAft>
                <a:spcPts val="400"/>
              </a:spcAft>
            </a:pPr>
            <a:r>
              <a:rPr b="1" sz="1100">
                <a:solidFill>
                  <a:srgbClr val="0F172A"/>
                </a:solidFill>
                <a:latin typeface="Arial"/>
              </a:rPr>
              <a:t>• Cari Tugas: </a:t>
            </a:r>
            <a:r>
              <a:rPr b="0" sz="1100">
                <a:solidFill>
                  <a:srgbClr val="475569"/>
                </a:solidFill>
                <a:latin typeface="Arial"/>
              </a:rPr>
              <a:t>Motion PIC mencari tugasnya di kolom Queued.</a:t>
            </a:r>
          </a:p>
          <a:p>
            <a:pPr>
              <a:spcAft>
                <a:spcPts val="400"/>
              </a:spcAft>
            </a:pPr>
            <a:r>
              <a:rPr b="1" sz="1100">
                <a:solidFill>
                  <a:srgbClr val="0F172A"/>
                </a:solidFill>
                <a:latin typeface="Arial"/>
              </a:rPr>
              <a:t>• Klik Start: </a:t>
            </a:r>
            <a:r>
              <a:rPr b="0" sz="1100">
                <a:solidFill>
                  <a:srgbClr val="475569"/>
                </a:solidFill>
                <a:latin typeface="Arial"/>
              </a:rPr>
              <a:t>Klik tombol Start (ikon Play warna Cyan).</a:t>
            </a:r>
          </a:p>
          <a:p>
            <a:pPr>
              <a:spcAft>
                <a:spcPts val="400"/>
              </a:spcAft>
            </a:pPr>
            <a:r>
              <a:rPr b="1" sz="1100">
                <a:solidFill>
                  <a:srgbClr val="0F172A"/>
                </a:solidFill>
                <a:latin typeface="Arial"/>
              </a:rPr>
              <a:t>• Status: </a:t>
            </a:r>
            <a:r>
              <a:rPr b="0" sz="1100">
                <a:solidFill>
                  <a:srgbClr val="475569"/>
                </a:solidFill>
                <a:latin typeface="Arial"/>
              </a:rPr>
              <a:t>Berpindah ke kolom In Progress. SLA pengerjaan mulai berjalan.</a:t>
            </a:r>
          </a:p>
        </p:txBody>
      </p:sp>
      <p:pic>
        <p:nvPicPr>
          <p:cNvPr id="7" name="Picture 6" descr="page_19_img_1_157.jpeg"/>
          <p:cNvPicPr>
            <a:picLocks noChangeAspect="1"/>
          </p:cNvPicPr>
          <p:nvPr/>
        </p:nvPicPr>
        <p:blipFill>
          <a:blip r:embed="rId2"/>
          <a:stretch>
            <a:fillRect/>
          </a:stretch>
        </p:blipFill>
        <p:spPr>
          <a:xfrm>
            <a:off x="731520" y="3657600"/>
            <a:ext cx="5029200" cy="2468880"/>
          </a:xfrm>
          <a:prstGeom prst="rect">
            <a:avLst/>
          </a:prstGeom>
        </p:spPr>
      </p:pic>
      <p:sp>
        <p:nvSpPr>
          <p:cNvPr id="8" name="TextBox 7"/>
          <p:cNvSpPr txBox="1"/>
          <p:nvPr/>
        </p:nvSpPr>
        <p:spPr>
          <a:xfrm>
            <a:off x="731520" y="6181344"/>
            <a:ext cx="5029200" cy="228600"/>
          </a:xfrm>
          <a:prstGeom prst="rect">
            <a:avLst/>
          </a:prstGeom>
          <a:noFill/>
        </p:spPr>
        <p:txBody>
          <a:bodyPr wrap="square" lIns="0" tIns="0" rIns="0" bIns="0">
            <a:spAutoFit/>
          </a:bodyPr>
          <a:lstStyle/>
          <a:p>
            <a:pPr algn="ctr">
              <a:defRPr sz="950" i="1">
                <a:solidFill>
                  <a:srgbClr val="94A3B8"/>
                </a:solidFill>
                <a:latin typeface="Arial"/>
              </a:defRPr>
            </a:pPr>
            <a:r>
              <a:t>Tombol Start pada Kolom Queued</a:t>
            </a:r>
          </a:p>
        </p:txBody>
      </p:sp>
      <p:sp>
        <p:nvSpPr>
          <p:cNvPr id="9" name="TextBox 8"/>
          <p:cNvSpPr txBox="1"/>
          <p:nvPr/>
        </p:nvSpPr>
        <p:spPr>
          <a:xfrm>
            <a:off x="6217920" y="1645920"/>
            <a:ext cx="5212080" cy="2011680"/>
          </a:xfrm>
          <a:prstGeom prst="rect">
            <a:avLst/>
          </a:prstGeom>
          <a:noFill/>
        </p:spPr>
        <p:txBody>
          <a:bodyPr wrap="square">
            <a:spAutoFit/>
          </a:bodyPr>
          <a:lstStyle/>
          <a:p>
            <a:pPr>
              <a:spcAft>
                <a:spcPts val="400"/>
              </a:spcAft>
            </a:pPr>
            <a:r>
              <a:rPr b="1" sz="1100">
                <a:solidFill>
                  <a:srgbClr val="0F172A"/>
                </a:solidFill>
                <a:latin typeface="Arial"/>
              </a:rPr>
              <a:t>Langkah 3: Pengiriman (Submit) </a:t>
            </a:r>
          </a:p>
          <a:p>
            <a:pPr>
              <a:spcAft>
                <a:spcPts val="400"/>
              </a:spcAft>
            </a:pPr>
            <a:r>
              <a:rPr b="1" sz="1100">
                <a:solidFill>
                  <a:srgbClr val="0F172A"/>
                </a:solidFill>
                <a:latin typeface="Arial"/>
              </a:rPr>
              <a:t>• Render Selesai: </a:t>
            </a:r>
            <a:r>
              <a:rPr b="0" sz="1100">
                <a:solidFill>
                  <a:srgbClr val="475569"/>
                </a:solidFill>
                <a:latin typeface="Arial"/>
              </a:rPr>
              <a:t>Setelah video dirender dan diunggah ke cloud (Drive).</a:t>
            </a:r>
          </a:p>
          <a:p>
            <a:pPr>
              <a:spcAft>
                <a:spcPts val="400"/>
              </a:spcAft>
            </a:pPr>
            <a:r>
              <a:rPr b="1" sz="1100">
                <a:solidFill>
                  <a:srgbClr val="0F172A"/>
                </a:solidFill>
                <a:latin typeface="Arial"/>
              </a:rPr>
              <a:t>• Klik Submit: </a:t>
            </a:r>
            <a:r>
              <a:rPr b="0" sz="1100">
                <a:solidFill>
                  <a:srgbClr val="475569"/>
                </a:solidFill>
                <a:latin typeface="Arial"/>
              </a:rPr>
              <a:t>Klik tombol Submit (ikon Centang).</a:t>
            </a:r>
          </a:p>
          <a:p>
            <a:pPr>
              <a:spcAft>
                <a:spcPts val="400"/>
              </a:spcAft>
            </a:pPr>
            <a:r>
              <a:rPr b="1" sz="1100">
                <a:solidFill>
                  <a:srgbClr val="0F172A"/>
                </a:solidFill>
                <a:latin typeface="Arial"/>
              </a:rPr>
              <a:t>• Isi Link Output: </a:t>
            </a:r>
            <a:r>
              <a:rPr b="0" sz="1100">
                <a:solidFill>
                  <a:srgbClr val="475569"/>
                </a:solidFill>
                <a:latin typeface="Arial"/>
              </a:rPr>
              <a:t>Masukkan URL file render final &amp; catatan (opsional).</a:t>
            </a:r>
          </a:p>
          <a:p>
            <a:pPr>
              <a:spcAft>
                <a:spcPts val="400"/>
              </a:spcAft>
            </a:pPr>
            <a:r>
              <a:rPr b="1" sz="1100">
                <a:solidFill>
                  <a:srgbClr val="0F172A"/>
                </a:solidFill>
                <a:latin typeface="Arial"/>
              </a:rPr>
              <a:t>• Status: </a:t>
            </a:r>
            <a:r>
              <a:rPr b="0" sz="1100">
                <a:solidFill>
                  <a:srgbClr val="475569"/>
                </a:solidFill>
                <a:latin typeface="Arial"/>
              </a:rPr>
              <a:t>Berpindah ke kolom Submitted.</a:t>
            </a:r>
          </a:p>
        </p:txBody>
      </p:sp>
      <p:pic>
        <p:nvPicPr>
          <p:cNvPr id="10" name="Picture 9" descr="page_20_img_1_164.jpeg"/>
          <p:cNvPicPr>
            <a:picLocks noChangeAspect="1"/>
          </p:cNvPicPr>
          <p:nvPr/>
        </p:nvPicPr>
        <p:blipFill>
          <a:blip r:embed="rId3"/>
          <a:stretch>
            <a:fillRect/>
          </a:stretch>
        </p:blipFill>
        <p:spPr>
          <a:xfrm>
            <a:off x="6217920" y="3657600"/>
            <a:ext cx="5212080" cy="2468880"/>
          </a:xfrm>
          <a:prstGeom prst="rect">
            <a:avLst/>
          </a:prstGeom>
        </p:spPr>
      </p:pic>
      <p:sp>
        <p:nvSpPr>
          <p:cNvPr id="11" name="TextBox 10"/>
          <p:cNvSpPr txBox="1"/>
          <p:nvPr/>
        </p:nvSpPr>
        <p:spPr>
          <a:xfrm>
            <a:off x="6217920" y="6181344"/>
            <a:ext cx="5212080" cy="228600"/>
          </a:xfrm>
          <a:prstGeom prst="rect">
            <a:avLst/>
          </a:prstGeom>
          <a:noFill/>
        </p:spPr>
        <p:txBody>
          <a:bodyPr wrap="square" lIns="0" tIns="0" rIns="0" bIns="0">
            <a:spAutoFit/>
          </a:bodyPr>
          <a:lstStyle/>
          <a:p>
            <a:pPr algn="ctr">
              <a:defRPr sz="950" i="1">
                <a:solidFill>
                  <a:srgbClr val="94A3B8"/>
                </a:solidFill>
                <a:latin typeface="Arial"/>
              </a:defRPr>
            </a:pPr>
            <a:r>
              <a:t>Screenshot Modal Submit Motion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Langkah 4: Review, Approve &amp; Revision Motion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24</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Requester, Admin, Team Lead</a:t>
            </a:r>
          </a:p>
        </p:txBody>
      </p:sp>
      <p:sp>
        <p:nvSpPr>
          <p:cNvPr id="6" name="TextBox 5"/>
          <p:cNvSpPr txBox="1"/>
          <p:nvPr/>
        </p:nvSpPr>
        <p:spPr>
          <a:xfrm>
            <a:off x="731520" y="1645920"/>
            <a:ext cx="5029200" cy="4389120"/>
          </a:xfrm>
          <a:prstGeom prst="rect">
            <a:avLst/>
          </a:prstGeom>
          <a:noFill/>
        </p:spPr>
        <p:txBody>
          <a:bodyPr wrap="square">
            <a:spAutoFit/>
          </a:bodyPr>
          <a:lstStyle/>
          <a:p>
            <a:pPr>
              <a:spcAft>
                <a:spcPts val="400"/>
              </a:spcAft>
            </a:pPr>
            <a:r>
              <a:rPr b="1" sz="1100">
                <a:solidFill>
                  <a:srgbClr val="0F172A"/>
                </a:solidFill>
                <a:latin typeface="Arial"/>
              </a:rPr>
              <a:t>Proses Review Hasil Render Video: </a:t>
            </a:r>
          </a:p>
          <a:p>
            <a:pPr>
              <a:spcAft>
                <a:spcPts val="400"/>
              </a:spcAft>
            </a:pPr>
            <a:r>
              <a:rPr b="1" sz="1100">
                <a:solidFill>
                  <a:srgbClr val="0F172A"/>
                </a:solidFill>
                <a:latin typeface="Arial"/>
              </a:rPr>
              <a:t>1. Pengecekan Video: </a:t>
            </a:r>
            <a:r>
              <a:rPr b="0" sz="1100">
                <a:solidFill>
                  <a:srgbClr val="475569"/>
                </a:solidFill>
                <a:latin typeface="Arial"/>
              </a:rPr>
              <a:t>Requester melakukan review hasil render melalui tautan 'View Output' pada kartu tugas.</a:t>
            </a:r>
          </a:p>
          <a:p>
            <a:pPr>
              <a:spcAft>
                <a:spcPts val="400"/>
              </a:spcAft>
            </a:pPr>
            <a:r>
              <a:rPr b="1" sz="1100">
                <a:solidFill>
                  <a:srgbClr val="0F172A"/>
                </a:solidFill>
                <a:latin typeface="Arial"/>
              </a:rPr>
              <a:t>2. Opsi Sesuai (Approve): </a:t>
            </a:r>
            <a:r>
              <a:rPr b="0" sz="1100">
                <a:solidFill>
                  <a:srgbClr val="475569"/>
                </a:solidFill>
                <a:latin typeface="Arial"/>
              </a:rPr>
              <a:t>Klik tombol Approve (ikon Centang hijau). Status maju ke Approved.</a:t>
            </a:r>
          </a:p>
          <a:p>
            <a:pPr>
              <a:spcAft>
                <a:spcPts val="400"/>
              </a:spcAft>
            </a:pPr>
            <a:r>
              <a:rPr b="1" sz="1100">
                <a:solidFill>
                  <a:srgbClr val="0F172A"/>
                </a:solidFill>
                <a:latin typeface="Arial"/>
              </a:rPr>
              <a:t>3. Opsi Perlu Revisi: </a:t>
            </a:r>
            <a:r>
              <a:rPr b="0" sz="1100">
                <a:solidFill>
                  <a:srgbClr val="475569"/>
                </a:solidFill>
                <a:latin typeface="Arial"/>
              </a:rPr>
              <a:t>Klik tombol Revision (ikon Putar Balik kuning).</a:t>
            </a:r>
          </a:p>
          <a:p>
            <a:pPr>
              <a:spcAft>
                <a:spcPts val="400"/>
              </a:spcAft>
            </a:pPr>
            <a:r>
              <a:rPr b="1" sz="1100">
                <a:solidFill>
                  <a:srgbClr val="0F172A"/>
                </a:solidFill>
                <a:latin typeface="Arial"/>
              </a:rPr>
              <a:t>   - Tulis Catatan: </a:t>
            </a:r>
            <a:r>
              <a:rPr b="0" sz="1100">
                <a:solidFill>
                  <a:srgbClr val="475569"/>
                </a:solidFill>
                <a:latin typeface="Arial"/>
              </a:rPr>
              <a:t>Masukkan detail perbaikan (misal: timing transisi, audio sync, typo).</a:t>
            </a:r>
          </a:p>
          <a:p>
            <a:pPr>
              <a:spcAft>
                <a:spcPts val="400"/>
              </a:spcAft>
            </a:pPr>
            <a:r>
              <a:rPr b="1" sz="1100">
                <a:solidFill>
                  <a:srgbClr val="0F172A"/>
                </a:solidFill>
                <a:latin typeface="Arial"/>
              </a:rPr>
              <a:t>   - Status: </a:t>
            </a:r>
            <a:r>
              <a:rPr b="0" sz="1100">
                <a:solidFill>
                  <a:srgbClr val="475569"/>
                </a:solidFill>
                <a:latin typeface="Arial"/>
              </a:rPr>
              <a:t>Mundur ke kolom Revision agar Motion PIC memperbaiki dan melakukan Re-submit.</a:t>
            </a:r>
          </a:p>
        </p:txBody>
      </p:sp>
      <p:pic>
        <p:nvPicPr>
          <p:cNvPr id="7" name="Picture 6" descr="page_21_img_1_171.jpeg"/>
          <p:cNvPicPr>
            <a:picLocks noChangeAspect="1"/>
          </p:cNvPicPr>
          <p:nvPr/>
        </p:nvPicPr>
        <p:blipFill>
          <a:blip r:embed="rId2"/>
          <a:stretch>
            <a:fillRect/>
          </a:stretch>
        </p:blipFill>
        <p:spPr>
          <a:xfrm>
            <a:off x="5943600" y="1645920"/>
            <a:ext cx="5486400" cy="4389120"/>
          </a:xfrm>
          <a:prstGeom prst="rect">
            <a:avLst/>
          </a:prstGeom>
        </p:spPr>
      </p:pic>
      <p:sp>
        <p:nvSpPr>
          <p:cNvPr id="8" name="TextBox 7"/>
          <p:cNvSpPr txBox="1"/>
          <p:nvPr/>
        </p:nvSpPr>
        <p:spPr>
          <a:xfrm>
            <a:off x="5943600" y="608990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Kolom Submitted &amp; Revision Motion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Langkah 5: Handover / Complete (Penyerahan ke Operator)</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25</a:t>
            </a: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Arial"/>
              </a:defRPr>
            </a:pPr>
            <a:r>
              <a:t>Role: Admin, Team Lead</a:t>
            </a:r>
          </a:p>
        </p:txBody>
      </p:sp>
      <p:sp>
        <p:nvSpPr>
          <p:cNvPr id="6" name="TextBox 5"/>
          <p:cNvSpPr txBox="1"/>
          <p:nvPr/>
        </p:nvSpPr>
        <p:spPr>
          <a:xfrm>
            <a:off x="731520" y="1645920"/>
            <a:ext cx="5029200" cy="4389120"/>
          </a:xfrm>
          <a:prstGeom prst="rect">
            <a:avLst/>
          </a:prstGeom>
          <a:noFill/>
        </p:spPr>
        <p:txBody>
          <a:bodyPr wrap="square">
            <a:spAutoFit/>
          </a:bodyPr>
          <a:lstStyle/>
          <a:p>
            <a:pPr>
              <a:spcAft>
                <a:spcPts val="400"/>
              </a:spcAft>
            </a:pPr>
            <a:r>
              <a:rPr b="1" sz="1150">
                <a:solidFill>
                  <a:srgbClr val="0F172A"/>
                </a:solidFill>
                <a:latin typeface="Arial"/>
              </a:rPr>
              <a:t>Penyerahan Video ke Tim Live / Broadcast: </a:t>
            </a:r>
          </a:p>
          <a:p>
            <a:pPr>
              <a:spcAft>
                <a:spcPts val="400"/>
              </a:spcAft>
            </a:pPr>
            <a:r>
              <a:rPr b="1" sz="1150">
                <a:solidFill>
                  <a:srgbClr val="0F172A"/>
                </a:solidFill>
                <a:latin typeface="Arial"/>
              </a:rPr>
              <a:t>• Video Approved: </a:t>
            </a:r>
            <a:r>
              <a:rPr b="0" sz="1150">
                <a:solidFill>
                  <a:srgbClr val="475569"/>
                </a:solidFill>
                <a:latin typeface="Arial"/>
              </a:rPr>
              <a:t>Video yang sudah Approved harus diserahkan kepada tim operasional (Operator/Tim Live) untuk ditayangkan.</a:t>
            </a:r>
          </a:p>
          <a:p>
            <a:pPr>
              <a:spcAft>
                <a:spcPts val="400"/>
              </a:spcAft>
            </a:pPr>
            <a:r>
              <a:rPr b="1" sz="1150">
                <a:solidFill>
                  <a:srgbClr val="0F172A"/>
                </a:solidFill>
                <a:latin typeface="Arial"/>
              </a:rPr>
              <a:t>• Klik Handover: </a:t>
            </a:r>
            <a:r>
              <a:rPr b="0" sz="1150">
                <a:solidFill>
                  <a:srgbClr val="475569"/>
                </a:solidFill>
                <a:latin typeface="Arial"/>
              </a:rPr>
              <a:t>Klik tombol Handover pada kartu tugas berstatus Approved.</a:t>
            </a:r>
          </a:p>
          <a:p>
            <a:pPr>
              <a:spcAft>
                <a:spcPts val="400"/>
              </a:spcAft>
            </a:pPr>
            <a:r>
              <a:rPr b="1" sz="1150">
                <a:solidFill>
                  <a:srgbClr val="0F172A"/>
                </a:solidFill>
                <a:latin typeface="Arial"/>
              </a:rPr>
              <a:t>• Pilih Operator: </a:t>
            </a:r>
            <a:r>
              <a:rPr b="0" sz="1150">
                <a:solidFill>
                  <a:srgbClr val="475569"/>
                </a:solidFill>
                <a:latin typeface="Arial"/>
              </a:rPr>
              <a:t>Akan muncul daftar Operator. Pilih nama Operator yang bertugas (contoh: Sam Operator).</a:t>
            </a:r>
          </a:p>
          <a:p>
            <a:pPr>
              <a:spcAft>
                <a:spcPts val="400"/>
              </a:spcAft>
            </a:pPr>
            <a:r>
              <a:rPr b="1" sz="1150">
                <a:solidFill>
                  <a:srgbClr val="0F172A"/>
                </a:solidFill>
                <a:latin typeface="Arial"/>
              </a:rPr>
              <a:t>• Selesai: </a:t>
            </a:r>
            <a:r>
              <a:rPr b="0" sz="1150">
                <a:solidFill>
                  <a:srgbClr val="475569"/>
                </a:solidFill>
                <a:latin typeface="Arial"/>
              </a:rPr>
              <a:t>Klik Handover (Complete). Status akhir menjadi Completed dan video siap disiarkan!</a:t>
            </a:r>
          </a:p>
        </p:txBody>
      </p:sp>
      <p:pic>
        <p:nvPicPr>
          <p:cNvPr id="7" name="Picture 6" descr="page_22_img_1_178.jpeg"/>
          <p:cNvPicPr>
            <a:picLocks noChangeAspect="1"/>
          </p:cNvPicPr>
          <p:nvPr/>
        </p:nvPicPr>
        <p:blipFill>
          <a:blip r:embed="rId2"/>
          <a:stretch>
            <a:fillRect/>
          </a:stretch>
        </p:blipFill>
        <p:spPr>
          <a:xfrm>
            <a:off x="5943600" y="1828800"/>
            <a:ext cx="2286000" cy="2926080"/>
          </a:xfrm>
          <a:prstGeom prst="rect">
            <a:avLst/>
          </a:prstGeom>
        </p:spPr>
      </p:pic>
      <p:sp>
        <p:nvSpPr>
          <p:cNvPr id="8" name="Right Arrow 7"/>
          <p:cNvSpPr/>
          <p:nvPr/>
        </p:nvSpPr>
        <p:spPr>
          <a:xfrm>
            <a:off x="8412480" y="3200400"/>
            <a:ext cx="365760" cy="274320"/>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ge_22_img_2_179.jpeg"/>
          <p:cNvPicPr>
            <a:picLocks noChangeAspect="1"/>
          </p:cNvPicPr>
          <p:nvPr/>
        </p:nvPicPr>
        <p:blipFill>
          <a:blip r:embed="rId3"/>
          <a:stretch>
            <a:fillRect/>
          </a:stretch>
        </p:blipFill>
        <p:spPr>
          <a:xfrm>
            <a:off x="8961120" y="2103120"/>
            <a:ext cx="2468880" cy="2377440"/>
          </a:xfrm>
          <a:prstGeom prst="rect">
            <a:avLst/>
          </a:prstGeom>
        </p:spPr>
      </p:pic>
      <p:sp>
        <p:nvSpPr>
          <p:cNvPr id="10" name="TextBox 9"/>
          <p:cNvSpPr txBox="1"/>
          <p:nvPr/>
        </p:nvSpPr>
        <p:spPr>
          <a:xfrm>
            <a:off x="8961120" y="4535424"/>
            <a:ext cx="2468880" cy="228600"/>
          </a:xfrm>
          <a:prstGeom prst="rect">
            <a:avLst/>
          </a:prstGeom>
          <a:noFill/>
        </p:spPr>
        <p:txBody>
          <a:bodyPr wrap="square" lIns="0" tIns="0" rIns="0" bIns="0">
            <a:spAutoFit/>
          </a:bodyPr>
          <a:lstStyle/>
          <a:p>
            <a:pPr algn="ctr">
              <a:defRPr sz="950" i="1">
                <a:solidFill>
                  <a:srgbClr val="94A3B8"/>
                </a:solidFill>
                <a:latin typeface="Arial"/>
              </a:defRPr>
            </a:pPr>
            <a:r>
              <a:t>Modal Handover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MOTION MANAGEMENT</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6. Melihat Detail Motion Task</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26</a:t>
            </a:r>
          </a:p>
        </p:txBody>
      </p:sp>
      <p:sp>
        <p:nvSpPr>
          <p:cNvPr id="5" name="TextBox 4"/>
          <p:cNvSpPr txBox="1"/>
          <p:nvPr/>
        </p:nvSpPr>
        <p:spPr>
          <a:xfrm>
            <a:off x="731520" y="1554480"/>
            <a:ext cx="5029200" cy="4389120"/>
          </a:xfrm>
          <a:prstGeom prst="rect">
            <a:avLst/>
          </a:prstGeom>
          <a:noFill/>
        </p:spPr>
        <p:txBody>
          <a:bodyPr wrap="square">
            <a:spAutoFit/>
          </a:bodyPr>
          <a:lstStyle/>
          <a:p>
            <a:pPr>
              <a:spcAft>
                <a:spcPts val="400"/>
              </a:spcAft>
            </a:pPr>
            <a:r>
              <a:rPr b="1" sz="1100">
                <a:solidFill>
                  <a:srgbClr val="0F172A"/>
                </a:solidFill>
                <a:latin typeface="Arial"/>
              </a:rPr>
              <a:t>Akses Informasi Mendalam Tugas Video: </a:t>
            </a:r>
          </a:p>
          <a:p>
            <a:pPr>
              <a:spcAft>
                <a:spcPts val="400"/>
              </a:spcAft>
            </a:pPr>
            <a:r>
              <a:rPr b="1" sz="1100">
                <a:solidFill>
                  <a:srgbClr val="0F172A"/>
                </a:solidFill>
                <a:latin typeface="Arial"/>
              </a:rPr>
              <a:t>1. Cara Buka: </a:t>
            </a:r>
            <a:r>
              <a:rPr b="0" sz="1100">
                <a:solidFill>
                  <a:srgbClr val="475569"/>
                </a:solidFill>
                <a:latin typeface="Arial"/>
              </a:rPr>
              <a:t>Klik tepat di tengah/area kartu tugas pada papan Kanban Motion.</a:t>
            </a:r>
          </a:p>
          <a:p>
            <a:pPr>
              <a:spcAft>
                <a:spcPts val="400"/>
              </a:spcAft>
            </a:pPr>
            <a:r>
              <a:rPr b="1" sz="1100">
                <a:solidFill>
                  <a:srgbClr val="0F172A"/>
                </a:solidFill>
                <a:latin typeface="Arial"/>
              </a:rPr>
              <a:t>2. Jendela Detail Memuat: </a:t>
            </a:r>
          </a:p>
          <a:p>
            <a:pPr>
              <a:spcAft>
                <a:spcPts val="400"/>
              </a:spcAft>
            </a:pPr>
            <a:r>
              <a:rPr b="1" sz="1100">
                <a:solidFill>
                  <a:srgbClr val="0F172A"/>
                </a:solidFill>
                <a:latin typeface="Arial"/>
              </a:rPr>
              <a:t>   • Metadata Lengkap: </a:t>
            </a:r>
            <a:r>
              <a:rPr b="0" sz="1100">
                <a:solidFill>
                  <a:srgbClr val="475569"/>
                </a:solidFill>
                <a:latin typeface="Arial"/>
              </a:rPr>
              <a:t>Klien/Brand, Nama Campaign, Platform, Studio, Tanggal Produksi &amp; Periode.</a:t>
            </a:r>
          </a:p>
          <a:p>
            <a:pPr>
              <a:spcAft>
                <a:spcPts val="400"/>
              </a:spcAft>
            </a:pPr>
            <a:r>
              <a:rPr b="1" sz="1100">
                <a:solidFill>
                  <a:srgbClr val="0F172A"/>
                </a:solidFill>
                <a:latin typeface="Arial"/>
              </a:rPr>
              <a:t>   • Asset Request Link: </a:t>
            </a:r>
            <a:r>
              <a:rPr b="0" sz="1100">
                <a:solidFill>
                  <a:srgbClr val="475569"/>
                </a:solidFill>
                <a:latin typeface="Arial"/>
              </a:rPr>
              <a:t>Tautan aset mentahan (jika request datang langsung/standalone).</a:t>
            </a:r>
          </a:p>
          <a:p>
            <a:pPr>
              <a:spcAft>
                <a:spcPts val="400"/>
              </a:spcAft>
            </a:pPr>
            <a:r>
              <a:rPr b="1" sz="1100">
                <a:solidFill>
                  <a:srgbClr val="0F172A"/>
                </a:solidFill>
                <a:latin typeface="Arial"/>
              </a:rPr>
              <a:t>   • Final Asset Handoff (Design): </a:t>
            </a:r>
            <a:r>
              <a:rPr b="0" sz="1100">
                <a:solidFill>
                  <a:srgbClr val="475569"/>
                </a:solidFill>
                <a:latin typeface="Arial"/>
              </a:rPr>
              <a:t>Tautan file desain statis final dari Graphic Designer (jika turunan dari Mockup).</a:t>
            </a:r>
          </a:p>
          <a:p>
            <a:pPr>
              <a:spcAft>
                <a:spcPts val="400"/>
              </a:spcAft>
            </a:pPr>
            <a:r>
              <a:rPr b="1" sz="1100">
                <a:solidFill>
                  <a:srgbClr val="0F172A"/>
                </a:solidFill>
                <a:latin typeface="Arial"/>
              </a:rPr>
              <a:t>   • Output Motion Render: </a:t>
            </a:r>
            <a:r>
              <a:rPr b="0" sz="1100">
                <a:solidFill>
                  <a:srgbClr val="475569"/>
                </a:solidFill>
                <a:latin typeface="Arial"/>
              </a:rPr>
              <a:t>Tautan langsung menuju video hasil render final.</a:t>
            </a:r>
          </a:p>
        </p:txBody>
      </p:sp>
      <p:pic>
        <p:nvPicPr>
          <p:cNvPr id="6" name="Picture 5" descr="page_23_img_1_187.jpeg"/>
          <p:cNvPicPr>
            <a:picLocks noChangeAspect="1"/>
          </p:cNvPicPr>
          <p:nvPr/>
        </p:nvPicPr>
        <p:blipFill>
          <a:blip r:embed="rId2"/>
          <a:stretch>
            <a:fillRect/>
          </a:stretch>
        </p:blipFill>
        <p:spPr>
          <a:xfrm>
            <a:off x="5943600" y="1554480"/>
            <a:ext cx="5486400" cy="4389120"/>
          </a:xfrm>
          <a:prstGeom prst="rect">
            <a:avLst/>
          </a:prstGeom>
        </p:spPr>
      </p:pic>
      <p:sp>
        <p:nvSpPr>
          <p:cNvPr id="7" name="TextBox 6"/>
          <p:cNvSpPr txBox="1"/>
          <p:nvPr/>
        </p:nvSpPr>
        <p:spPr>
          <a:xfrm>
            <a:off x="5943600" y="599846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Jendela Detail Motion Task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APPROVED ARCHIVE</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Approved Archive (Pusat Arsip Tugas Selesai)</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27</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50">
                <a:solidFill>
                  <a:srgbClr val="0F172A"/>
                </a:solidFill>
                <a:latin typeface="Arial"/>
              </a:rPr>
              <a:t>Solusi Overload Papan Kerja Aktif: </a:t>
            </a:r>
          </a:p>
          <a:p>
            <a:pPr>
              <a:spcAft>
                <a:spcPts val="400"/>
              </a:spcAft>
            </a:pPr>
            <a:r>
              <a:rPr b="1" sz="1150">
                <a:solidFill>
                  <a:srgbClr val="0F172A"/>
                </a:solidFill>
                <a:latin typeface="Arial"/>
              </a:rPr>
              <a:t>• Latar Belakang: </a:t>
            </a:r>
            <a:r>
              <a:rPr b="0" sz="1150">
                <a:solidFill>
                  <a:srgbClr val="475569"/>
                </a:solidFill>
                <a:latin typeface="Arial"/>
              </a:rPr>
              <a:t>Ketika tugas desain/motion telah disetujui (Approved), menumpuknya kartu pada kolom Approved aktif dapat mengganggu visibilitas kerja tim.</a:t>
            </a:r>
          </a:p>
          <a:p>
            <a:pPr>
              <a:spcAft>
                <a:spcPts val="400"/>
              </a:spcAft>
            </a:pPr>
            <a:r>
              <a:rPr b="1" sz="1150">
                <a:solidFill>
                  <a:srgbClr val="0F172A"/>
                </a:solidFill>
                <a:latin typeface="Arial"/>
              </a:rPr>
              <a:t>• Otomatisasi Arsip: </a:t>
            </a:r>
            <a:r>
              <a:rPr b="0" sz="1150">
                <a:solidFill>
                  <a:srgbClr val="475569"/>
                </a:solidFill>
                <a:latin typeface="Arial"/>
              </a:rPr>
              <a:t>Setiap tiket yang statusnya berubah menjadi APPROVED otomatis dialihkan ke section Approved Archive.</a:t>
            </a:r>
          </a:p>
          <a:p>
            <a:pPr>
              <a:spcAft>
                <a:spcPts val="400"/>
              </a:spcAft>
            </a:pPr>
            <a:r>
              <a:rPr b="1" sz="1150">
                <a:solidFill>
                  <a:srgbClr val="0F172A"/>
                </a:solidFill>
                <a:latin typeface="Arial"/>
              </a:rPr>
              <a:t>• Integritas Data: </a:t>
            </a:r>
            <a:r>
              <a:rPr b="0" sz="1150">
                <a:solidFill>
                  <a:srgbClr val="475569"/>
                </a:solidFill>
                <a:latin typeface="Arial"/>
              </a:rPr>
              <a:t>Tidak membuat duplikasi record. Menggunakan data request asli dengan pengelompokan berbasis tanggal persetujuan (approved_at).</a:t>
            </a:r>
          </a:p>
          <a:p>
            <a:pPr>
              <a:spcAft>
                <a:spcPts val="400"/>
              </a:spcAft>
            </a:pPr>
            <a:r>
              <a:rPr b="1" sz="1150">
                <a:solidFill>
                  <a:srgbClr val="0F172A"/>
                </a:solidFill>
                <a:latin typeface="Arial"/>
              </a:rPr>
              <a:t>• Keunggulan: </a:t>
            </a:r>
            <a:r>
              <a:rPr b="0" sz="1150">
                <a:solidFill>
                  <a:srgbClr val="475569"/>
                </a:solidFill>
                <a:latin typeface="Arial"/>
              </a:rPr>
              <a:t>Papan kerja aktif tetap bersih, sementara data historis tersimpan rapi dan mudah ditelusuri kapan saja.</a:t>
            </a:r>
          </a:p>
        </p:txBody>
      </p:sp>
      <p:pic>
        <p:nvPicPr>
          <p:cNvPr id="6" name="Picture 5" descr="04_request_archive_kanban_1791381372292.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Tampilan Approved Archive Kanban View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APPROVED ARCHIVE</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Struktur Kanban 5-Minggu (Time-Based Distribution)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28</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00">
                <a:solidFill>
                  <a:srgbClr val="0F172A"/>
                </a:solidFill>
                <a:latin typeface="Arial"/>
              </a:rPr>
              <a:t>Struktur Pengelompokan Berbasis Waktu: </a:t>
            </a:r>
          </a:p>
          <a:p>
            <a:pPr>
              <a:spcAft>
                <a:spcPts val="400"/>
              </a:spcAft>
            </a:pPr>
            <a:r>
              <a:rPr b="1" sz="1100">
                <a:solidFill>
                  <a:srgbClr val="0F172A"/>
                </a:solidFill>
                <a:latin typeface="Arial"/>
              </a:rPr>
              <a:t>• Kolom Periode: </a:t>
            </a:r>
            <a:r>
              <a:rPr b="0" sz="1100">
                <a:solidFill>
                  <a:srgbClr val="475569"/>
                </a:solidFill>
                <a:latin typeface="Arial"/>
              </a:rPr>
              <a:t>Alih-alih membagi berdasarkan status, kolom pada Approved Archive merepresentasikan periode waktu:</a:t>
            </a:r>
          </a:p>
          <a:p>
            <a:pPr>
              <a:spcAft>
                <a:spcPts val="400"/>
              </a:spcAft>
            </a:pPr>
            <a:r>
              <a:rPr b="1" sz="1100">
                <a:solidFill>
                  <a:srgbClr val="0F172A"/>
                </a:solidFill>
                <a:latin typeface="Arial"/>
              </a:rPr>
              <a:t>   - Week 1: </a:t>
            </a:r>
            <a:r>
              <a:rPr b="0" sz="1100">
                <a:solidFill>
                  <a:srgbClr val="475569"/>
                </a:solidFill>
                <a:latin typeface="Arial"/>
              </a:rPr>
              <a:t>Tanggal 1 s/d 7 dalam bulan terpilih.</a:t>
            </a:r>
          </a:p>
          <a:p>
            <a:pPr>
              <a:spcAft>
                <a:spcPts val="400"/>
              </a:spcAft>
            </a:pPr>
            <a:r>
              <a:rPr b="1" sz="1100">
                <a:solidFill>
                  <a:srgbClr val="0F172A"/>
                </a:solidFill>
                <a:latin typeface="Arial"/>
              </a:rPr>
              <a:t>   - Week 2: </a:t>
            </a:r>
            <a:r>
              <a:rPr b="0" sz="1100">
                <a:solidFill>
                  <a:srgbClr val="475569"/>
                </a:solidFill>
                <a:latin typeface="Arial"/>
              </a:rPr>
              <a:t>Tanggal 8 s/d 14.</a:t>
            </a:r>
          </a:p>
          <a:p>
            <a:pPr>
              <a:spcAft>
                <a:spcPts val="400"/>
              </a:spcAft>
            </a:pPr>
            <a:r>
              <a:rPr b="1" sz="1100">
                <a:solidFill>
                  <a:srgbClr val="0F172A"/>
                </a:solidFill>
                <a:latin typeface="Arial"/>
              </a:rPr>
              <a:t>   - Week 3: </a:t>
            </a:r>
            <a:r>
              <a:rPr b="0" sz="1100">
                <a:solidFill>
                  <a:srgbClr val="475569"/>
                </a:solidFill>
                <a:latin typeface="Arial"/>
              </a:rPr>
              <a:t>Tanggal 15 s/d 21.</a:t>
            </a:r>
          </a:p>
          <a:p>
            <a:pPr>
              <a:spcAft>
                <a:spcPts val="400"/>
              </a:spcAft>
            </a:pPr>
            <a:r>
              <a:rPr b="1" sz="1100">
                <a:solidFill>
                  <a:srgbClr val="0F172A"/>
                </a:solidFill>
                <a:latin typeface="Arial"/>
              </a:rPr>
              <a:t>   - Week 4: </a:t>
            </a:r>
            <a:r>
              <a:rPr b="0" sz="1100">
                <a:solidFill>
                  <a:srgbClr val="475569"/>
                </a:solidFill>
                <a:latin typeface="Arial"/>
              </a:rPr>
              <a:t>Tanggal 22 s/d 28.</a:t>
            </a:r>
          </a:p>
          <a:p>
            <a:pPr>
              <a:spcAft>
                <a:spcPts val="400"/>
              </a:spcAft>
            </a:pPr>
            <a:r>
              <a:rPr b="1" sz="1100">
                <a:solidFill>
                  <a:srgbClr val="0F172A"/>
                </a:solidFill>
                <a:latin typeface="Arial"/>
              </a:rPr>
              <a:t>   - Week 5: </a:t>
            </a:r>
            <a:r>
              <a:rPr b="0" sz="1100">
                <a:solidFill>
                  <a:srgbClr val="475569"/>
                </a:solidFill>
                <a:latin typeface="Arial"/>
              </a:rPr>
              <a:t>Tanggal 29 s/d akhir bulan.</a:t>
            </a:r>
          </a:p>
          <a:p>
            <a:pPr>
              <a:spcAft>
                <a:spcPts val="400"/>
              </a:spcAft>
            </a:pPr>
            <a:r>
              <a:rPr b="1" sz="1100">
                <a:solidFill>
                  <a:srgbClr val="0F172A"/>
                </a:solidFill>
                <a:latin typeface="Arial"/>
              </a:rPr>
              <a:t>• Penempatan Otomatis: </a:t>
            </a:r>
            <a:r>
              <a:rPr b="0" sz="1100">
                <a:solidFill>
                  <a:srgbClr val="475569"/>
                </a:solidFill>
                <a:latin typeface="Arial"/>
              </a:rPr>
              <a:t>Sistem otomatis menempatkan kartu ke kolom minggu yang sesuai berdasarkan approved_at.</a:t>
            </a:r>
          </a:p>
          <a:p>
            <a:pPr>
              <a:spcAft>
                <a:spcPts val="400"/>
              </a:spcAft>
            </a:pPr>
            <a:r>
              <a:rPr b="1" sz="1100">
                <a:solidFill>
                  <a:srgbClr val="0F172A"/>
                </a:solidFill>
                <a:latin typeface="Arial"/>
              </a:rPr>
              <a:t>• Ringkasan Jumlah: </a:t>
            </a:r>
            <a:r>
              <a:rPr b="0" sz="1100">
                <a:solidFill>
                  <a:srgbClr val="475569"/>
                </a:solidFill>
                <a:latin typeface="Arial"/>
              </a:rPr>
              <a:t>Setiap kolom menampilkan counter jumlah desain selesai pada minggu tersebut.</a:t>
            </a:r>
          </a:p>
        </p:txBody>
      </p:sp>
      <p:pic>
        <p:nvPicPr>
          <p:cNvPr id="6" name="Picture 5" descr="approved_archive_view_1791383308596.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Distribusi 5 Minggu pada Approved Archive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APPROVED ARCHIVE</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Filter Periode Historis &amp; Ekspor Data CSV</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29</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50">
                <a:solidFill>
                  <a:srgbClr val="0F172A"/>
                </a:solidFill>
                <a:latin typeface="Arial"/>
              </a:rPr>
              <a:t>Kemudahan Navigasi &amp; Pelaporan Historis: </a:t>
            </a:r>
          </a:p>
          <a:p>
            <a:pPr>
              <a:spcAft>
                <a:spcPts val="400"/>
              </a:spcAft>
            </a:pPr>
            <a:r>
              <a:rPr b="1" sz="1150">
                <a:solidFill>
                  <a:srgbClr val="0F172A"/>
                </a:solidFill>
                <a:latin typeface="Arial"/>
              </a:rPr>
              <a:t>• Pemilih Bulan &amp; Tahun: </a:t>
            </a:r>
            <a:r>
              <a:rPr b="0" sz="1150">
                <a:solidFill>
                  <a:srgbClr val="475569"/>
                </a:solidFill>
                <a:latin typeface="Arial"/>
              </a:rPr>
              <a:t>Pilih bulan (Januari–Desember) dan tahun untuk membuka arsip periode manapun.</a:t>
            </a:r>
          </a:p>
          <a:p>
            <a:pPr>
              <a:spcAft>
                <a:spcPts val="400"/>
              </a:spcAft>
            </a:pPr>
            <a:r>
              <a:rPr b="1" sz="1150">
                <a:solidFill>
                  <a:srgbClr val="0F172A"/>
                </a:solidFill>
                <a:latin typeface="Arial"/>
              </a:rPr>
              <a:t>• Pencarian Cepat: </a:t>
            </a:r>
            <a:r>
              <a:rPr b="0" sz="1150">
                <a:solidFill>
                  <a:srgbClr val="475569"/>
                </a:solidFill>
                <a:latin typeface="Arial"/>
              </a:rPr>
              <a:t>Ketik nama Brand, Campaign, Kode Task, atau Designer untuk memfilter kartu di seluruh kolom minggu secara instan.</a:t>
            </a:r>
          </a:p>
          <a:p>
            <a:pPr>
              <a:spcAft>
                <a:spcPts val="400"/>
              </a:spcAft>
            </a:pPr>
            <a:r>
              <a:rPr b="1" sz="1150">
                <a:solidFill>
                  <a:srgbClr val="0F172A"/>
                </a:solidFill>
                <a:latin typeface="Arial"/>
              </a:rPr>
              <a:t>• Ekspor CSV / Excel: </a:t>
            </a:r>
            <a:r>
              <a:rPr b="0" sz="1150">
                <a:solidFill>
                  <a:srgbClr val="475569"/>
                </a:solidFill>
                <a:latin typeface="Arial"/>
              </a:rPr>
              <a:t>Klik tombol 'Export' untuk mengunduh seluruh data arsip periode yang sedang aktif ke format spreadsheet.</a:t>
            </a:r>
          </a:p>
          <a:p>
            <a:pPr>
              <a:spcAft>
                <a:spcPts val="400"/>
              </a:spcAft>
            </a:pPr>
            <a:r>
              <a:rPr b="1" sz="1150">
                <a:solidFill>
                  <a:srgbClr val="0F172A"/>
                </a:solidFill>
                <a:latin typeface="Arial"/>
              </a:rPr>
              <a:t>• Konsistensi: </a:t>
            </a:r>
            <a:r>
              <a:rPr b="0" sz="1150">
                <a:solidFill>
                  <a:srgbClr val="475569"/>
                </a:solidFill>
                <a:latin typeface="Arial"/>
              </a:rPr>
              <a:t>Tersedia baik pada modul Mockup Task Management maupun Motion Graphics Pipeline.</a:t>
            </a:r>
          </a:p>
        </p:txBody>
      </p:sp>
      <p:pic>
        <p:nvPicPr>
          <p:cNvPr id="6" name="Picture 5" descr="07_motion_archive_kanban_1791381748040.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Motion Approved Archive &amp; Toolbar Filter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KOLABORASI TIM</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Fitur Diskusi &amp; Chat Real-Time per Request</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30</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00">
                <a:solidFill>
                  <a:srgbClr val="0F172A"/>
                </a:solidFill>
                <a:latin typeface="Arial"/>
              </a:rPr>
              <a:t>Komunikasi Terpusat Tanpa Aplikasi Pihak Ketiga: </a:t>
            </a:r>
          </a:p>
          <a:p>
            <a:pPr>
              <a:spcAft>
                <a:spcPts val="400"/>
              </a:spcAft>
            </a:pPr>
            <a:r>
              <a:rPr b="1" sz="1100">
                <a:solidFill>
                  <a:srgbClr val="0F172A"/>
                </a:solidFill>
                <a:latin typeface="Arial"/>
              </a:rPr>
              <a:t>• Buka Tab Diskusi: </a:t>
            </a:r>
            <a:r>
              <a:rPr b="0" sz="1100">
                <a:solidFill>
                  <a:srgbClr val="475569"/>
                </a:solidFill>
                <a:latin typeface="Arial"/>
              </a:rPr>
              <a:t>Setiap tiket tugas memiliki tab 'Discussion / Chat' terintegrasi di dalam modal detail.</a:t>
            </a:r>
          </a:p>
          <a:p>
            <a:pPr>
              <a:spcAft>
                <a:spcPts val="400"/>
              </a:spcAft>
            </a:pPr>
            <a:r>
              <a:rPr b="1" sz="1100">
                <a:solidFill>
                  <a:srgbClr val="0F172A"/>
                </a:solidFill>
                <a:latin typeface="Arial"/>
              </a:rPr>
              <a:t>• Gelembung Pesan Terstruktur: </a:t>
            </a:r>
            <a:r>
              <a:rPr b="0" sz="1100">
                <a:solidFill>
                  <a:srgbClr val="475569"/>
                </a:solidFill>
                <a:latin typeface="Arial"/>
              </a:rPr>
              <a:t>Pesan pengguna yang sedang login muncul di sebelah KANAN (gelembung aksen pink), sementara pesan rekan tim muncul di sebelah KIRI (gelembung dark slate).</a:t>
            </a:r>
          </a:p>
          <a:p>
            <a:pPr>
              <a:spcAft>
                <a:spcPts val="400"/>
              </a:spcAft>
            </a:pPr>
            <a:r>
              <a:rPr b="1" sz="1100">
                <a:solidFill>
                  <a:srgbClr val="0F172A"/>
                </a:solidFill>
                <a:latin typeface="Arial"/>
              </a:rPr>
              <a:t>• Identifikasi Pengirim: </a:t>
            </a:r>
            <a:r>
              <a:rPr b="0" sz="1100">
                <a:solidFill>
                  <a:srgbClr val="475569"/>
                </a:solidFill>
                <a:latin typeface="Arial"/>
              </a:rPr>
              <a:t>Setiap pesan mencantumkan nama pengirim, role tag, dan timestamp pengiriman yang akurat.</a:t>
            </a:r>
          </a:p>
          <a:p>
            <a:pPr>
              <a:spcAft>
                <a:spcPts val="400"/>
              </a:spcAft>
            </a:pPr>
            <a:r>
              <a:rPr b="1" sz="1100">
                <a:solidFill>
                  <a:srgbClr val="0F172A"/>
                </a:solidFill>
                <a:latin typeface="Arial"/>
              </a:rPr>
              <a:t>• Attachment / Lampiran: </a:t>
            </a:r>
            <a:r>
              <a:rPr b="0" sz="1100">
                <a:solidFill>
                  <a:srgbClr val="475569"/>
                </a:solidFill>
                <a:latin typeface="Arial"/>
              </a:rPr>
              <a:t>Mendukung pengiriman tautan file dan brief revisi cepat.</a:t>
            </a:r>
          </a:p>
          <a:p>
            <a:pPr>
              <a:spcAft>
                <a:spcPts val="400"/>
              </a:spcAft>
            </a:pPr>
            <a:r>
              <a:rPr b="1" sz="1100">
                <a:solidFill>
                  <a:srgbClr val="0F172A"/>
                </a:solidFill>
                <a:latin typeface="Arial"/>
              </a:rPr>
              <a:t>• Notifikasi Otomatis: </a:t>
            </a:r>
            <a:r>
              <a:rPr b="0" sz="1100">
                <a:solidFill>
                  <a:srgbClr val="475569"/>
                </a:solidFill>
                <a:latin typeface="Arial"/>
              </a:rPr>
              <a:t>Pesan baru memicu lonceng notifikasi bagi seluruh pengguna yang terkait dengan tiket tersebut.</a:t>
            </a:r>
          </a:p>
        </p:txBody>
      </p:sp>
      <p:pic>
        <p:nvPicPr>
          <p:cNvPr id="6" name="Picture 5" descr="request_chat_view_1791383172222.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Tampilan Chat Diskusi dengan Layout Gelembung Kanan-Kiri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NOTIFIKASI</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Pusat Notifikasi &amp; Pemantauan Perubahan Status</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31</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00">
                <a:solidFill>
                  <a:srgbClr val="0F172A"/>
                </a:solidFill>
                <a:latin typeface="Arial"/>
              </a:rPr>
              <a:t>Pemberitahuan Cepat Aktivitas Penting: </a:t>
            </a:r>
          </a:p>
          <a:p>
            <a:pPr>
              <a:spcAft>
                <a:spcPts val="400"/>
              </a:spcAft>
            </a:pPr>
            <a:r>
              <a:rPr b="1" sz="1100">
                <a:solidFill>
                  <a:srgbClr val="0F172A"/>
                </a:solidFill>
                <a:latin typeface="Arial"/>
              </a:rPr>
              <a:t>• Ikon Lonceng Header: </a:t>
            </a:r>
            <a:r>
              <a:rPr b="0" sz="1100">
                <a:solidFill>
                  <a:srgbClr val="475569"/>
                </a:solidFill>
                <a:latin typeface="Arial"/>
              </a:rPr>
              <a:t>Terletak di pojok kanan atas dengan indikator badge angka merah untuk notifikasi yang belum dibaca (unread).</a:t>
            </a:r>
          </a:p>
          <a:p>
            <a:pPr>
              <a:spcAft>
                <a:spcPts val="400"/>
              </a:spcAft>
            </a:pPr>
            <a:r>
              <a:rPr b="1" sz="1100">
                <a:solidFill>
                  <a:srgbClr val="0F172A"/>
                </a:solidFill>
                <a:latin typeface="Arial"/>
              </a:rPr>
              <a:t>• Jenis Notifikasi yang Didukung: </a:t>
            </a:r>
          </a:p>
          <a:p>
            <a:pPr>
              <a:spcAft>
                <a:spcPts val="400"/>
              </a:spcAft>
            </a:pPr>
            <a:r>
              <a:rPr b="0" sz="1100">
                <a:solidFill>
                  <a:srgbClr val="475569"/>
                </a:solidFill>
                <a:latin typeface="Arial"/>
              </a:rPr>
              <a:t>   - Penugasan Baru (Task Assigned)</a:t>
            </a:r>
          </a:p>
          <a:p>
            <a:pPr>
              <a:spcAft>
                <a:spcPts val="400"/>
              </a:spcAft>
            </a:pPr>
            <a:r>
              <a:rPr b="0" sz="1100">
                <a:solidFill>
                  <a:srgbClr val="475569"/>
                </a:solidFill>
                <a:latin typeface="Arial"/>
              </a:rPr>
              <a:t>   - Permintaan Revisi (Revision Requested)</a:t>
            </a:r>
          </a:p>
          <a:p>
            <a:pPr>
              <a:spcAft>
                <a:spcPts val="400"/>
              </a:spcAft>
            </a:pPr>
            <a:r>
              <a:rPr b="0" sz="1100">
                <a:solidFill>
                  <a:srgbClr val="475569"/>
                </a:solidFill>
                <a:latin typeface="Arial"/>
              </a:rPr>
              <a:t>   - Persetujuan Desain (Task Approved)</a:t>
            </a:r>
          </a:p>
          <a:p>
            <a:pPr>
              <a:spcAft>
                <a:spcPts val="400"/>
              </a:spcAft>
            </a:pPr>
            <a:r>
              <a:rPr b="0" sz="1100">
                <a:solidFill>
                  <a:srgbClr val="475569"/>
                </a:solidFill>
                <a:latin typeface="Arial"/>
              </a:rPr>
              <a:t>   - Pesan Diskusi Baru (New Chat Message)</a:t>
            </a:r>
          </a:p>
          <a:p>
            <a:pPr>
              <a:spcAft>
                <a:spcPts val="400"/>
              </a:spcAft>
            </a:pPr>
            <a:r>
              <a:rPr b="0" sz="1100">
                <a:solidFill>
                  <a:srgbClr val="475569"/>
                </a:solidFill>
                <a:latin typeface="Arial"/>
              </a:rPr>
              <a:t>   - Peringatan Tenggat Waktu (SLA Warning)</a:t>
            </a:r>
          </a:p>
          <a:p>
            <a:pPr>
              <a:spcAft>
                <a:spcPts val="400"/>
              </a:spcAft>
            </a:pPr>
            <a:r>
              <a:rPr b="1" sz="1100">
                <a:solidFill>
                  <a:srgbClr val="0F172A"/>
                </a:solidFill>
                <a:latin typeface="Arial"/>
              </a:rPr>
              <a:t>• Navigasi Instan: </a:t>
            </a:r>
            <a:r>
              <a:rPr b="0" sz="1100">
                <a:solidFill>
                  <a:srgbClr val="475569"/>
                </a:solidFill>
                <a:latin typeface="Arial"/>
              </a:rPr>
              <a:t>Klik pada salah satu notifikasi untuk langsung membuka modal detail tiket yang bersangkutan.</a:t>
            </a:r>
          </a:p>
          <a:p>
            <a:pPr>
              <a:spcAft>
                <a:spcPts val="400"/>
              </a:spcAft>
            </a:pPr>
            <a:r>
              <a:rPr b="1" sz="1100">
                <a:solidFill>
                  <a:srgbClr val="0F172A"/>
                </a:solidFill>
                <a:latin typeface="Arial"/>
              </a:rPr>
              <a:t>• Tandai Sudah Dibaca: </a:t>
            </a:r>
            <a:r>
              <a:rPr b="0" sz="1100">
                <a:solidFill>
                  <a:srgbClr val="475569"/>
                </a:solidFill>
                <a:latin typeface="Arial"/>
              </a:rPr>
              <a:t>Dapat ditandai sebagai telah dibaca secara individual atau sekaligus.</a:t>
            </a:r>
          </a:p>
        </p:txBody>
      </p:sp>
      <p:pic>
        <p:nvPicPr>
          <p:cNvPr id="6" name="Picture 5" descr="notification_panel_1791382291165.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Panel Notifikasi Real-Time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KAPASITAS KERJA</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Workload &amp; Capacity Intelligence (Monitoring Beban Kerja)</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32</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00">
                <a:solidFill>
                  <a:srgbClr val="0F172A"/>
                </a:solidFill>
                <a:latin typeface="Arial"/>
              </a:rPr>
              <a:t>Manajemen Kapasitas &amp; Pencegahan Burnout: </a:t>
            </a:r>
          </a:p>
          <a:p>
            <a:pPr>
              <a:spcAft>
                <a:spcPts val="400"/>
              </a:spcAft>
            </a:pPr>
            <a:r>
              <a:rPr b="1" sz="1100">
                <a:solidFill>
                  <a:srgbClr val="0F172A"/>
                </a:solidFill>
                <a:latin typeface="Arial"/>
              </a:rPr>
              <a:t>• Standar Kuota Poin Harian: </a:t>
            </a:r>
          </a:p>
          <a:p>
            <a:pPr>
              <a:spcAft>
                <a:spcPts val="400"/>
              </a:spcAft>
            </a:pPr>
            <a:r>
              <a:rPr b="0" sz="1100">
                <a:solidFill>
                  <a:srgbClr val="475569"/>
                </a:solidFill>
                <a:latin typeface="Arial"/>
              </a:rPr>
              <a:t>   - Graphic Designer: Kuota 5.0 s/d 7.0 Poin per hari.</a:t>
            </a:r>
          </a:p>
          <a:p>
            <a:pPr>
              <a:spcAft>
                <a:spcPts val="400"/>
              </a:spcAft>
            </a:pPr>
            <a:r>
              <a:rPr b="0" sz="1100">
                <a:solidFill>
                  <a:srgbClr val="475569"/>
                </a:solidFill>
                <a:latin typeface="Arial"/>
              </a:rPr>
              <a:t>   - Motion Designer: Kuota 7.0 Poin per hari.</a:t>
            </a:r>
          </a:p>
          <a:p>
            <a:pPr>
              <a:spcAft>
                <a:spcPts val="400"/>
              </a:spcAft>
            </a:pPr>
            <a:r>
              <a:rPr b="1" sz="1100">
                <a:solidFill>
                  <a:srgbClr val="0F172A"/>
                </a:solidFill>
                <a:latin typeface="Arial"/>
              </a:rPr>
              <a:t>• Bobot Kesulitan Konten: </a:t>
            </a:r>
            <a:r>
              <a:rPr b="0" sz="1100">
                <a:solidFill>
                  <a:srgbClr val="475569"/>
                </a:solidFill>
                <a:latin typeface="Arial"/>
              </a:rPr>
              <a:t>Low (1-2 pts), Medium (3-4 pts), High (4.5-5 pts).</a:t>
            </a:r>
          </a:p>
          <a:p>
            <a:pPr>
              <a:spcAft>
                <a:spcPts val="400"/>
              </a:spcAft>
            </a:pPr>
            <a:r>
              <a:rPr b="1" sz="1100">
                <a:solidFill>
                  <a:srgbClr val="0F172A"/>
                </a:solidFill>
                <a:latin typeface="Arial"/>
              </a:rPr>
              <a:t>• Matriks Occupancy %: </a:t>
            </a:r>
            <a:r>
              <a:rPr b="0" sz="1100">
                <a:solidFill>
                  <a:srgbClr val="475569"/>
                </a:solidFill>
                <a:latin typeface="Arial"/>
              </a:rPr>
              <a:t>Menampilkan persentase keterisian beban kerja setiap desainer secara visual.</a:t>
            </a:r>
          </a:p>
          <a:p>
            <a:pPr>
              <a:spcAft>
                <a:spcPts val="400"/>
              </a:spcAft>
            </a:pPr>
            <a:r>
              <a:rPr b="1" sz="1100">
                <a:solidFill>
                  <a:srgbClr val="0F172A"/>
                </a:solidFill>
                <a:latin typeface="Arial"/>
              </a:rPr>
              <a:t>• Peringatan Overload: </a:t>
            </a:r>
            <a:r>
              <a:rPr b="0" sz="1100">
                <a:solidFill>
                  <a:srgbClr val="475569"/>
                </a:solidFill>
                <a:latin typeface="Arial"/>
              </a:rPr>
              <a:t>Jika beban aktif melebihi kuota harian, sistem memberikan badge peringatan 'Overload' merah agar Team Lead dapat mendistribusikan ulang (rebalance) tugas.</a:t>
            </a:r>
          </a:p>
        </p:txBody>
      </p:sp>
      <p:pic>
        <p:nvPicPr>
          <p:cNvPr id="6" name="Picture 5" descr="07_workload_capacity_1791381544943.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Matriks Beban Kerja &amp; Kapasitas Harian Desainer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ANALITIK &amp; LAPORAN</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Reports &amp; Analytics Engine (Performa SLA &amp; Tren)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33</a:t>
            </a:r>
          </a:p>
        </p:txBody>
      </p:sp>
      <p:sp>
        <p:nvSpPr>
          <p:cNvPr id="5" name="TextBox 4"/>
          <p:cNvSpPr txBox="1"/>
          <p:nvPr/>
        </p:nvSpPr>
        <p:spPr>
          <a:xfrm>
            <a:off x="731520" y="1280160"/>
            <a:ext cx="5029200" cy="4572000"/>
          </a:xfrm>
          <a:prstGeom prst="rect">
            <a:avLst/>
          </a:prstGeom>
          <a:noFill/>
        </p:spPr>
        <p:txBody>
          <a:bodyPr wrap="square">
            <a:spAutoFit/>
          </a:bodyPr>
          <a:lstStyle/>
          <a:p>
            <a:pPr>
              <a:spcAft>
                <a:spcPts val="400"/>
              </a:spcAft>
            </a:pPr>
            <a:r>
              <a:rPr b="1" sz="1100">
                <a:solidFill>
                  <a:srgbClr val="0F172A"/>
                </a:solidFill>
                <a:latin typeface="Arial"/>
              </a:rPr>
              <a:t>Evaluasi Efisiensi &amp; Kinerja Operasional: </a:t>
            </a:r>
          </a:p>
          <a:p>
            <a:pPr>
              <a:spcAft>
                <a:spcPts val="400"/>
              </a:spcAft>
            </a:pPr>
            <a:r>
              <a:rPr b="1" sz="1100">
                <a:solidFill>
                  <a:srgbClr val="0F172A"/>
                </a:solidFill>
                <a:latin typeface="Arial"/>
              </a:rPr>
              <a:t>• SLA Performance: </a:t>
            </a:r>
            <a:r>
              <a:rPr b="0" sz="1100">
                <a:solidFill>
                  <a:srgbClr val="475569"/>
                </a:solidFill>
                <a:latin typeface="Arial"/>
              </a:rPr>
              <a:t>Tingkat kepatuhan penyelesaian tepat waktu (% On-Time vs % Overdue) berdasarkan jam kerja riil.</a:t>
            </a:r>
          </a:p>
          <a:p>
            <a:pPr>
              <a:spcAft>
                <a:spcPts val="400"/>
              </a:spcAft>
            </a:pPr>
            <a:r>
              <a:rPr b="1" sz="1100">
                <a:solidFill>
                  <a:srgbClr val="0F172A"/>
                </a:solidFill>
                <a:latin typeface="Arial"/>
              </a:rPr>
              <a:t>• Rasio Request vs Output: </a:t>
            </a:r>
            <a:r>
              <a:rPr b="0" sz="1100">
                <a:solidFill>
                  <a:srgbClr val="475569"/>
                </a:solidFill>
                <a:latin typeface="Arial"/>
              </a:rPr>
              <a:t>Perbandingan volume permintaan masuk dibandingkan jumlah aset final yang disetujui per bulan.</a:t>
            </a:r>
          </a:p>
          <a:p>
            <a:pPr>
              <a:spcAft>
                <a:spcPts val="400"/>
              </a:spcAft>
            </a:pPr>
            <a:r>
              <a:rPr b="1" sz="1100">
                <a:solidFill>
                  <a:srgbClr val="0F172A"/>
                </a:solidFill>
                <a:latin typeface="Arial"/>
              </a:rPr>
              <a:t>• Distribusi Brand: </a:t>
            </a:r>
            <a:r>
              <a:rPr b="0" sz="1100">
                <a:solidFill>
                  <a:srgbClr val="475569"/>
                </a:solidFill>
                <a:latin typeface="Arial"/>
              </a:rPr>
              <a:t>Pivot kontribusi pekerjaan per klien untuk analisis alokasi sumber daya agensi.</a:t>
            </a:r>
          </a:p>
          <a:p>
            <a:pPr>
              <a:spcAft>
                <a:spcPts val="400"/>
              </a:spcAft>
            </a:pPr>
            <a:r>
              <a:rPr b="1" sz="1100">
                <a:solidFill>
                  <a:srgbClr val="0F172A"/>
                </a:solidFill>
                <a:latin typeface="Arial"/>
              </a:rPr>
              <a:t>• Rata-rata Turnaround Time: </a:t>
            </a:r>
            <a:r>
              <a:rPr b="0" sz="1100">
                <a:solidFill>
                  <a:srgbClr val="475569"/>
                </a:solidFill>
                <a:latin typeface="Arial"/>
              </a:rPr>
              <a:t>Durasi rata-rata hari kerja penyelesaian per tipe konten.</a:t>
            </a:r>
          </a:p>
          <a:p>
            <a:pPr>
              <a:spcAft>
                <a:spcPts val="400"/>
              </a:spcAft>
            </a:pPr>
            <a:r>
              <a:rPr b="1" sz="1100">
                <a:solidFill>
                  <a:srgbClr val="0F172A"/>
                </a:solidFill>
                <a:latin typeface="Arial"/>
              </a:rPr>
              <a:t>• Ekspor Laporan: </a:t>
            </a:r>
            <a:r>
              <a:rPr b="0" sz="1100">
                <a:solidFill>
                  <a:srgbClr val="475569"/>
                </a:solidFill>
                <a:latin typeface="Arial"/>
              </a:rPr>
              <a:t>Dukungan penuh ekspor metrik ke format CSV/Excel untuk pelaporan manajemen.</a:t>
            </a:r>
          </a:p>
        </p:txBody>
      </p:sp>
      <p:pic>
        <p:nvPicPr>
          <p:cNvPr id="6" name="Picture 5" descr="08_reports_analytics_1791381576616.png"/>
          <p:cNvPicPr>
            <a:picLocks noChangeAspect="1"/>
          </p:cNvPicPr>
          <p:nvPr/>
        </p:nvPicPr>
        <p:blipFill>
          <a:blip r:embed="rId2"/>
          <a:stretch>
            <a:fillRect/>
          </a:stretch>
        </p:blipFill>
        <p:spPr>
          <a:xfrm>
            <a:off x="5943600" y="1280160"/>
            <a:ext cx="5486400" cy="4572000"/>
          </a:xfrm>
          <a:prstGeom prst="rect">
            <a:avLst/>
          </a:prstGeom>
        </p:spPr>
      </p:pic>
      <p:sp>
        <p:nvSpPr>
          <p:cNvPr id="7" name="TextBox 6"/>
          <p:cNvSpPr txBox="1"/>
          <p:nvPr/>
        </p:nvSpPr>
        <p:spPr>
          <a:xfrm>
            <a:off x="5943600" y="5907024"/>
            <a:ext cx="5486400" cy="228600"/>
          </a:xfrm>
          <a:prstGeom prst="rect">
            <a:avLst/>
          </a:prstGeom>
          <a:noFill/>
        </p:spPr>
        <p:txBody>
          <a:bodyPr wrap="square" lIns="0" tIns="0" rIns="0" bIns="0">
            <a:spAutoFit/>
          </a:bodyPr>
          <a:lstStyle/>
          <a:p>
            <a:pPr algn="ctr">
              <a:defRPr sz="950" i="1">
                <a:solidFill>
                  <a:srgbClr val="94A3B8"/>
                </a:solidFill>
                <a:latin typeface="Arial"/>
              </a:defRPr>
            </a:pPr>
            <a:r>
              <a:t>Laporan Analitik Performa SLA &amp; Distribusi Konten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ADMIN &amp; SETTINGS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Pusat Pengelolaan Data Master Aplikasi</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34</a:t>
            </a:r>
          </a:p>
        </p:txBody>
      </p:sp>
      <p:sp>
        <p:nvSpPr>
          <p:cNvPr id="5" name="TextBox 4"/>
          <p:cNvSpPr txBox="1"/>
          <p:nvPr/>
        </p:nvSpPr>
        <p:spPr>
          <a:xfrm>
            <a:off x="731520" y="1280160"/>
            <a:ext cx="10698480" cy="1371600"/>
          </a:xfrm>
          <a:prstGeom prst="rect">
            <a:avLst/>
          </a:prstGeom>
          <a:noFill/>
        </p:spPr>
        <p:txBody>
          <a:bodyPr wrap="square">
            <a:spAutoFit/>
          </a:bodyPr>
          <a:lstStyle/>
          <a:p>
            <a:pPr>
              <a:defRPr sz="1200">
                <a:solidFill>
                  <a:srgbClr val="475569"/>
                </a:solidFill>
              </a:defRPr>
            </a:pPr>
            <a:r>
              <a:t>Grup halaman Admin &amp; Pengaturan adalah pusat pengelolaan 'Data Master' aplikasi. Fitur-fitur di dalamnya dirancang khusus untuk digunakan oleh Admin (dan beberapa bagi Team Lead) demi memastikan kelancaran operasional, akurasi perhitungan SLA, serta keamanan akses pengguna.</a:t>
            </a:r>
          </a:p>
        </p:txBody>
      </p:sp>
      <p:sp>
        <p:nvSpPr>
          <p:cNvPr id="6" name="Rounded Rectangle 5"/>
          <p:cNvSpPr/>
          <p:nvPr/>
        </p:nvSpPr>
        <p:spPr>
          <a:xfrm>
            <a:off x="731520" y="2743200"/>
            <a:ext cx="10698480" cy="621792"/>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16352"/>
            <a:ext cx="10332720" cy="502920"/>
          </a:xfrm>
          <a:prstGeom prst="rect">
            <a:avLst/>
          </a:prstGeom>
          <a:noFill/>
        </p:spPr>
        <p:txBody>
          <a:bodyPr wrap="square">
            <a:spAutoFit/>
          </a:bodyPr>
          <a:lstStyle/>
          <a:p>
            <a:r>
              <a:rPr b="1" sz="1150">
                <a:solidFill>
                  <a:srgbClr val="0F172A"/>
                </a:solidFill>
              </a:rPr>
              <a:t>1. User Management — </a:t>
            </a:r>
            <a:r>
              <a:rPr sz="1100">
                <a:solidFill>
                  <a:srgbClr val="475569"/>
                </a:solidFill>
              </a:rPr>
              <a:t>Kelola akun pengguna, peran akses, dan kapasitas poin harian desainer.</a:t>
            </a:r>
          </a:p>
        </p:txBody>
      </p:sp>
      <p:sp>
        <p:nvSpPr>
          <p:cNvPr id="8" name="Rounded Rectangle 7"/>
          <p:cNvSpPr/>
          <p:nvPr/>
        </p:nvSpPr>
        <p:spPr>
          <a:xfrm>
            <a:off x="731520" y="3474720"/>
            <a:ext cx="10698480" cy="621792"/>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47872"/>
            <a:ext cx="10332720" cy="502920"/>
          </a:xfrm>
          <a:prstGeom prst="rect">
            <a:avLst/>
          </a:prstGeom>
          <a:noFill/>
        </p:spPr>
        <p:txBody>
          <a:bodyPr wrap="square">
            <a:spAutoFit/>
          </a:bodyPr>
          <a:lstStyle/>
          <a:p>
            <a:r>
              <a:rPr b="1" sz="1150">
                <a:solidFill>
                  <a:srgbClr val="0F172A"/>
                </a:solidFill>
              </a:rPr>
              <a:t>2. Clients / Brands — </a:t>
            </a:r>
            <a:r>
              <a:rPr sz="1100">
                <a:solidFill>
                  <a:srgbClr val="475569"/>
                </a:solidFill>
              </a:rPr>
              <a:t>Daftar rujukan brand/klien aktif dan tipe kerjasama (Internal / Eksternal).</a:t>
            </a:r>
          </a:p>
        </p:txBody>
      </p:sp>
      <p:sp>
        <p:nvSpPr>
          <p:cNvPr id="10" name="Rounded Rectangle 9"/>
          <p:cNvSpPr/>
          <p:nvPr/>
        </p:nvSpPr>
        <p:spPr>
          <a:xfrm>
            <a:off x="731520" y="4206240"/>
            <a:ext cx="10698480" cy="621792"/>
          </a:xfrm>
          <a:prstGeom prst="roundRect">
            <a:avLst/>
          </a:prstGeom>
          <a:solidFill>
            <a:srgbClr val="F8FAFC"/>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79392"/>
            <a:ext cx="10332720" cy="502920"/>
          </a:xfrm>
          <a:prstGeom prst="rect">
            <a:avLst/>
          </a:prstGeom>
          <a:noFill/>
        </p:spPr>
        <p:txBody>
          <a:bodyPr wrap="square">
            <a:spAutoFit/>
          </a:bodyPr>
          <a:lstStyle/>
          <a:p>
            <a:r>
              <a:rPr b="1" sz="1150">
                <a:solidFill>
                  <a:srgbClr val="0F172A"/>
                </a:solidFill>
              </a:rPr>
              <a:t>3. Content Types — </a:t>
            </a:r>
            <a:r>
              <a:rPr sz="1100">
                <a:solidFill>
                  <a:srgbClr val="475569"/>
                </a:solidFill>
              </a:rPr>
              <a:t>Format jenis konten dan rekomendasi tingkat kesulitan otomatis bawaan.</a:t>
            </a:r>
          </a:p>
        </p:txBody>
      </p:sp>
      <p:sp>
        <p:nvSpPr>
          <p:cNvPr id="12" name="Rounded Rectangle 11"/>
          <p:cNvSpPr/>
          <p:nvPr/>
        </p:nvSpPr>
        <p:spPr>
          <a:xfrm>
            <a:off x="731520" y="4937760"/>
            <a:ext cx="10698480" cy="621792"/>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10912"/>
            <a:ext cx="10332720" cy="502920"/>
          </a:xfrm>
          <a:prstGeom prst="rect">
            <a:avLst/>
          </a:prstGeom>
          <a:noFill/>
        </p:spPr>
        <p:txBody>
          <a:bodyPr wrap="square">
            <a:spAutoFit/>
          </a:bodyPr>
          <a:lstStyle/>
          <a:p>
            <a:r>
              <a:rPr b="1" sz="1150">
                <a:solidFill>
                  <a:srgbClr val="0F172A"/>
                </a:solidFill>
              </a:rPr>
              <a:t>4. Holiday Calendar — </a:t>
            </a:r>
            <a:r>
              <a:rPr sz="1100">
                <a:solidFill>
                  <a:srgbClr val="475569"/>
                </a:solidFill>
              </a:rPr>
              <a:t>Kalender hari libur nasional untuk otomasi perhitungan tenggat waktu SLA.</a:t>
            </a:r>
          </a:p>
        </p:txBody>
      </p:sp>
      <p:sp>
        <p:nvSpPr>
          <p:cNvPr id="14" name="Rounded Rectangle 13"/>
          <p:cNvSpPr/>
          <p:nvPr/>
        </p:nvSpPr>
        <p:spPr>
          <a:xfrm>
            <a:off x="731520" y="5669280"/>
            <a:ext cx="10698480" cy="621792"/>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742432"/>
            <a:ext cx="10332720" cy="502920"/>
          </a:xfrm>
          <a:prstGeom prst="rect">
            <a:avLst/>
          </a:prstGeom>
          <a:noFill/>
        </p:spPr>
        <p:txBody>
          <a:bodyPr wrap="square">
            <a:spAutoFit/>
          </a:bodyPr>
          <a:lstStyle/>
          <a:p>
            <a:r>
              <a:rPr b="1" sz="1150">
                <a:solidFill>
                  <a:srgbClr val="0F172A"/>
                </a:solidFill>
              </a:rPr>
              <a:t>5. Audit Trail — </a:t>
            </a:r>
            <a:r>
              <a:rPr sz="1100">
                <a:solidFill>
                  <a:srgbClr val="475569"/>
                </a:solidFill>
              </a:rPr>
              <a:t>Perekam jejak aktivitas sistem ('CCTV Sistem') yang bersifat permanen/read-only.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ADMIN &amp; SETTINGS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2. User Management (Manajemen Pengguna)</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35</a:t>
            </a:r>
          </a:p>
        </p:txBody>
      </p:sp>
      <p:sp>
        <p:nvSpPr>
          <p:cNvPr id="5" name="TextBox 4"/>
          <p:cNvSpPr txBox="1"/>
          <p:nvPr/>
        </p:nvSpPr>
        <p:spPr>
          <a:xfrm>
            <a:off x="731520" y="1280160"/>
            <a:ext cx="5029200" cy="4754880"/>
          </a:xfrm>
          <a:prstGeom prst="rect">
            <a:avLst/>
          </a:prstGeom>
          <a:noFill/>
        </p:spPr>
        <p:txBody>
          <a:bodyPr wrap="square">
            <a:spAutoFit/>
          </a:bodyPr>
          <a:lstStyle/>
          <a:p>
            <a:pPr>
              <a:spcAft>
                <a:spcPts val="400"/>
              </a:spcAft>
            </a:pPr>
            <a:r>
              <a:rPr b="1" sz="1050">
                <a:solidFill>
                  <a:srgbClr val="0F172A"/>
                </a:solidFill>
                <a:latin typeface="Arial"/>
              </a:rPr>
              <a:t>Pengelolaan Akses &amp; Kapasitas Pengguna: </a:t>
            </a:r>
          </a:p>
          <a:p>
            <a:pPr>
              <a:spcAft>
                <a:spcPts val="400"/>
              </a:spcAft>
            </a:pPr>
            <a:r>
              <a:rPr b="1" sz="1050">
                <a:solidFill>
                  <a:srgbClr val="0F172A"/>
                </a:solidFill>
                <a:latin typeface="Arial"/>
              </a:rPr>
              <a:t>• Melihat Daftar Pengguna: </a:t>
            </a:r>
            <a:r>
              <a:rPr b="0" sz="1050">
                <a:solidFill>
                  <a:srgbClr val="475569"/>
                </a:solidFill>
                <a:latin typeface="Arial"/>
              </a:rPr>
              <a:t>Profil, email, Role, status keaktifan, dan poin kapasitas harian.</a:t>
            </a:r>
          </a:p>
          <a:p>
            <a:pPr>
              <a:spcAft>
                <a:spcPts val="400"/>
              </a:spcAft>
            </a:pPr>
            <a:r>
              <a:rPr b="1" sz="1050">
                <a:solidFill>
                  <a:srgbClr val="0F172A"/>
                </a:solidFill>
                <a:latin typeface="Arial"/>
              </a:rPr>
              <a:t>• Cara Mengundang Pengguna Baru: </a:t>
            </a:r>
          </a:p>
          <a:p>
            <a:pPr>
              <a:spcAft>
                <a:spcPts val="400"/>
              </a:spcAft>
            </a:pPr>
            <a:r>
              <a:rPr b="0" sz="1050">
                <a:solidFill>
                  <a:srgbClr val="475569"/>
                </a:solidFill>
                <a:latin typeface="Arial"/>
              </a:rPr>
              <a:t>   1. Klik tombol '+ New User'.</a:t>
            </a:r>
          </a:p>
          <a:p>
            <a:pPr>
              <a:spcAft>
                <a:spcPts val="400"/>
              </a:spcAft>
            </a:pPr>
            <a:r>
              <a:rPr b="0" sz="1050">
                <a:solidFill>
                  <a:srgbClr val="475569"/>
                </a:solidFill>
                <a:latin typeface="Arial"/>
              </a:rPr>
              <a:t>   2. Masukkan alamat Email pengguna.</a:t>
            </a:r>
          </a:p>
          <a:p>
            <a:pPr>
              <a:spcAft>
                <a:spcPts val="400"/>
              </a:spcAft>
            </a:pPr>
            <a:r>
              <a:rPr b="0" sz="1050">
                <a:solidFill>
                  <a:srgbClr val="475569"/>
                </a:solidFill>
                <a:latin typeface="Arial"/>
              </a:rPr>
              <a:t>   3. Tentukan Role (Designer, Requester, Motion PIC, Lead, dsb.).</a:t>
            </a:r>
          </a:p>
          <a:p>
            <a:pPr>
              <a:spcAft>
                <a:spcPts val="400"/>
              </a:spcAft>
            </a:pPr>
            <a:r>
              <a:rPr b="0" sz="1050">
                <a:solidFill>
                  <a:srgbClr val="475569"/>
                </a:solidFill>
                <a:latin typeface="Arial"/>
              </a:rPr>
              <a:t>   4. Jika memilih Designer/Motion, wajib masukkan Daily Capacity Points.</a:t>
            </a:r>
          </a:p>
          <a:p>
            <a:pPr>
              <a:spcAft>
                <a:spcPts val="400"/>
              </a:spcAft>
            </a:pPr>
            <a:r>
              <a:rPr b="0" sz="1050">
                <a:solidFill>
                  <a:srgbClr val="475569"/>
                </a:solidFill>
                <a:latin typeface="Arial"/>
              </a:rPr>
              <a:t>   5. Klik 'Create &amp; Generate Invite'.</a:t>
            </a:r>
          </a:p>
          <a:p>
            <a:pPr>
              <a:spcAft>
                <a:spcPts val="400"/>
              </a:spcAft>
            </a:pPr>
            <a:r>
              <a:rPr b="0" sz="1050">
                <a:solidFill>
                  <a:srgbClr val="475569"/>
                </a:solidFill>
                <a:latin typeface="Arial"/>
              </a:rPr>
              <a:t>   6. Salin Invite Link yang dihasilkan untuk aktivasi mandiri oleh calon pengguna.</a:t>
            </a:r>
          </a:p>
          <a:p>
            <a:pPr>
              <a:spcAft>
                <a:spcPts val="400"/>
              </a:spcAft>
            </a:pPr>
            <a:r>
              <a:rPr b="1" sz="1050">
                <a:solidFill>
                  <a:srgbClr val="0F172A"/>
                </a:solidFill>
                <a:latin typeface="Arial"/>
              </a:rPr>
              <a:t>• Menghapus Pengguna: </a:t>
            </a:r>
            <a:r>
              <a:rPr b="0" sz="1050">
                <a:solidFill>
                  <a:srgbClr val="475569"/>
                </a:solidFill>
                <a:latin typeface="Arial"/>
              </a:rPr>
              <a:t>Klik ikon Tong Sampah (Trash) merah pada baris pengguna.</a:t>
            </a:r>
          </a:p>
        </p:txBody>
      </p:sp>
      <p:pic>
        <p:nvPicPr>
          <p:cNvPr id="6" name="Picture 5" descr="page_25_img_2_200.jpeg"/>
          <p:cNvPicPr>
            <a:picLocks noChangeAspect="1"/>
          </p:cNvPicPr>
          <p:nvPr/>
        </p:nvPicPr>
        <p:blipFill>
          <a:blip r:embed="rId2"/>
          <a:stretch>
            <a:fillRect/>
          </a:stretch>
        </p:blipFill>
        <p:spPr>
          <a:xfrm>
            <a:off x="5943600" y="1280160"/>
            <a:ext cx="5486400" cy="2286000"/>
          </a:xfrm>
          <a:prstGeom prst="rect">
            <a:avLst/>
          </a:prstGeom>
        </p:spPr>
      </p:pic>
      <p:sp>
        <p:nvSpPr>
          <p:cNvPr id="7" name="TextBox 6"/>
          <p:cNvSpPr txBox="1"/>
          <p:nvPr/>
        </p:nvSpPr>
        <p:spPr>
          <a:xfrm>
            <a:off x="5943600" y="3621024"/>
            <a:ext cx="5486400" cy="228600"/>
          </a:xfrm>
          <a:prstGeom prst="rect">
            <a:avLst/>
          </a:prstGeom>
          <a:noFill/>
        </p:spPr>
        <p:txBody>
          <a:bodyPr wrap="square" lIns="0" tIns="0" rIns="0" bIns="0">
            <a:spAutoFit/>
          </a:bodyPr>
          <a:lstStyle/>
          <a:p>
            <a:pPr algn="ctr">
              <a:defRPr sz="950" i="1">
                <a:solidFill>
                  <a:srgbClr val="94A3B8"/>
                </a:solidFill>
                <a:latin typeface="Arial"/>
              </a:defRPr>
            </a:pPr>
            <a:r>
              <a:t>Modal Buat Pengguna &amp; Generate Invite Link</a:t>
            </a:r>
          </a:p>
        </p:txBody>
      </p:sp>
      <p:pic>
        <p:nvPicPr>
          <p:cNvPr id="8" name="Picture 7" descr="10_admin_users_1791381637800.png"/>
          <p:cNvPicPr>
            <a:picLocks noChangeAspect="1"/>
          </p:cNvPicPr>
          <p:nvPr/>
        </p:nvPicPr>
        <p:blipFill>
          <a:blip r:embed="rId3"/>
          <a:stretch>
            <a:fillRect/>
          </a:stretch>
        </p:blipFill>
        <p:spPr>
          <a:xfrm>
            <a:off x="5943600" y="3749039"/>
            <a:ext cx="5486400" cy="2286000"/>
          </a:xfrm>
          <a:prstGeom prst="rect">
            <a:avLst/>
          </a:prstGeom>
        </p:spPr>
      </p:pic>
      <p:sp>
        <p:nvSpPr>
          <p:cNvPr id="9" name="TextBox 8"/>
          <p:cNvSpPr txBox="1"/>
          <p:nvPr/>
        </p:nvSpPr>
        <p:spPr>
          <a:xfrm>
            <a:off x="5943600" y="6089903"/>
            <a:ext cx="5486400" cy="228600"/>
          </a:xfrm>
          <a:prstGeom prst="rect">
            <a:avLst/>
          </a:prstGeom>
          <a:noFill/>
        </p:spPr>
        <p:txBody>
          <a:bodyPr wrap="square" lIns="0" tIns="0" rIns="0" bIns="0">
            <a:spAutoFit/>
          </a:bodyPr>
          <a:lstStyle/>
          <a:p>
            <a:pPr algn="ctr">
              <a:defRPr sz="950" i="1">
                <a:solidFill>
                  <a:srgbClr val="94A3B8"/>
                </a:solidFill>
                <a:latin typeface="Arial"/>
              </a:defRPr>
            </a:pPr>
            <a:r>
              <a:t>Tabel Daftar Pengguna Terdaftar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ADMIN &amp; SETTINGS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3. Clients / Brands (Klien dan Brand)</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36</a:t>
            </a:r>
          </a:p>
        </p:txBody>
      </p:sp>
      <p:sp>
        <p:nvSpPr>
          <p:cNvPr id="5" name="TextBox 4"/>
          <p:cNvSpPr txBox="1"/>
          <p:nvPr/>
        </p:nvSpPr>
        <p:spPr>
          <a:xfrm>
            <a:off x="731520" y="1371600"/>
            <a:ext cx="5029200" cy="4572000"/>
          </a:xfrm>
          <a:prstGeom prst="rect">
            <a:avLst/>
          </a:prstGeom>
          <a:noFill/>
        </p:spPr>
        <p:txBody>
          <a:bodyPr wrap="square">
            <a:spAutoFit/>
          </a:bodyPr>
          <a:lstStyle/>
          <a:p>
            <a:pPr>
              <a:spcAft>
                <a:spcPts val="400"/>
              </a:spcAft>
            </a:pPr>
            <a:r>
              <a:rPr b="1" sz="1150">
                <a:solidFill>
                  <a:srgbClr val="0F172A"/>
                </a:solidFill>
                <a:latin typeface="Arial"/>
              </a:rPr>
              <a:t>Daftar Rujukan Brand Agensi &amp; Klien: </a:t>
            </a:r>
          </a:p>
          <a:p>
            <a:pPr>
              <a:spcAft>
                <a:spcPts val="400"/>
              </a:spcAft>
            </a:pPr>
            <a:r>
              <a:rPr b="1" sz="1150">
                <a:solidFill>
                  <a:srgbClr val="0F172A"/>
                </a:solidFill>
                <a:latin typeface="Arial"/>
              </a:rPr>
              <a:t>• Fungsi Rujukan: </a:t>
            </a:r>
            <a:r>
              <a:rPr b="0" sz="1150">
                <a:solidFill>
                  <a:srgbClr val="475569"/>
                </a:solidFill>
                <a:latin typeface="Arial"/>
              </a:rPr>
              <a:t>Daftar rujukan semua Brand atau Klien yang ditangani agensi. Data ini otomatis muncul di menu dropdown 'Pilih Brand' saat pembuatan tiket baru.</a:t>
            </a:r>
          </a:p>
          <a:p>
            <a:pPr>
              <a:spcAft>
                <a:spcPts val="400"/>
              </a:spcAft>
            </a:pPr>
            <a:r>
              <a:rPr b="1" sz="1150">
                <a:solidFill>
                  <a:srgbClr val="0F172A"/>
                </a:solidFill>
                <a:latin typeface="Arial"/>
              </a:rPr>
              <a:t>• Menambahkan Klien Baru: </a:t>
            </a:r>
            <a:r>
              <a:rPr b="0" sz="1150">
                <a:solidFill>
                  <a:srgbClr val="475569"/>
                </a:solidFill>
                <a:latin typeface="Arial"/>
              </a:rPr>
              <a:t>Klik tombol penambahan klien, masukkan nama Brand, dan tentukan tipe klien (Internal atau Eksternal).</a:t>
            </a:r>
          </a:p>
          <a:p>
            <a:pPr>
              <a:spcAft>
                <a:spcPts val="400"/>
              </a:spcAft>
            </a:pPr>
            <a:r>
              <a:rPr b="1" sz="1150">
                <a:solidFill>
                  <a:srgbClr val="0F172A"/>
                </a:solidFill>
                <a:latin typeface="Arial"/>
              </a:rPr>
              <a:t>• Menonaktifkan Klien (Inactive): </a:t>
            </a:r>
            <a:r>
              <a:rPr b="0" sz="1150">
                <a:solidFill>
                  <a:srgbClr val="475569"/>
                </a:solidFill>
                <a:latin typeface="Arial"/>
              </a:rPr>
              <a:t>Jika sebuah Brand selesai bekerjasama, Anda tidak perlu menghapusnya. Cukup ubah statusnya menjadi Inactive agar riwayat tiket lamanya tetap aman tanpa muncul di form tiket baru.</a:t>
            </a:r>
          </a:p>
        </p:txBody>
      </p:sp>
      <p:pic>
        <p:nvPicPr>
          <p:cNvPr id="6" name="Picture 5" descr="page_26_img_1_208.jpeg"/>
          <p:cNvPicPr>
            <a:picLocks noChangeAspect="1"/>
          </p:cNvPicPr>
          <p:nvPr/>
        </p:nvPicPr>
        <p:blipFill>
          <a:blip r:embed="rId2"/>
          <a:stretch>
            <a:fillRect/>
          </a:stretch>
        </p:blipFill>
        <p:spPr>
          <a:xfrm>
            <a:off x="5943600" y="1371600"/>
            <a:ext cx="5486400" cy="4389120"/>
          </a:xfrm>
          <a:prstGeom prst="rect">
            <a:avLst/>
          </a:prstGeom>
        </p:spPr>
      </p:pic>
      <p:sp>
        <p:nvSpPr>
          <p:cNvPr id="7" name="TextBox 6"/>
          <p:cNvSpPr txBox="1"/>
          <p:nvPr/>
        </p:nvSpPr>
        <p:spPr>
          <a:xfrm>
            <a:off x="5943600" y="581558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Modal Tambah Klien &amp; Dropdown Tipe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ADMIN &amp; SETTINGS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4. Content Types (Jenis Konten &amp; Kesulitan)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37</a:t>
            </a:r>
          </a:p>
        </p:txBody>
      </p:sp>
      <p:sp>
        <p:nvSpPr>
          <p:cNvPr id="5" name="TextBox 4"/>
          <p:cNvSpPr txBox="1"/>
          <p:nvPr/>
        </p:nvSpPr>
        <p:spPr>
          <a:xfrm>
            <a:off x="731520" y="1371600"/>
            <a:ext cx="5029200" cy="4572000"/>
          </a:xfrm>
          <a:prstGeom prst="rect">
            <a:avLst/>
          </a:prstGeom>
          <a:noFill/>
        </p:spPr>
        <p:txBody>
          <a:bodyPr wrap="square">
            <a:spAutoFit/>
          </a:bodyPr>
          <a:lstStyle/>
          <a:p>
            <a:pPr>
              <a:spcAft>
                <a:spcPts val="400"/>
              </a:spcAft>
            </a:pPr>
            <a:r>
              <a:rPr b="1" sz="1150">
                <a:solidFill>
                  <a:srgbClr val="0F172A"/>
                </a:solidFill>
                <a:latin typeface="Arial"/>
              </a:rPr>
              <a:t>Standarisasi Format Desain &amp; Poin Kesulitan: </a:t>
            </a:r>
          </a:p>
          <a:p>
            <a:pPr>
              <a:spcAft>
                <a:spcPts val="400"/>
              </a:spcAft>
            </a:pPr>
            <a:r>
              <a:rPr b="1" sz="1150">
                <a:solidFill>
                  <a:srgbClr val="0F172A"/>
                </a:solidFill>
                <a:latin typeface="Arial"/>
              </a:rPr>
              <a:t>• Fungsi Master Konten: </a:t>
            </a:r>
            <a:r>
              <a:rPr b="0" sz="1150">
                <a:solidFill>
                  <a:srgbClr val="475569"/>
                </a:solidFill>
                <a:latin typeface="Arial"/>
              </a:rPr>
              <a:t>Mengatur rujukan berbagai format konten desain yang sering dikerjakan (contoh: IG Feed, Story, Key Visual, Web Banner, Video 2D).</a:t>
            </a:r>
          </a:p>
          <a:p>
            <a:pPr>
              <a:spcAft>
                <a:spcPts val="400"/>
              </a:spcAft>
            </a:pPr>
            <a:r>
              <a:rPr b="1" sz="1150">
                <a:solidFill>
                  <a:srgbClr val="0F172A"/>
                </a:solidFill>
                <a:latin typeface="Arial"/>
              </a:rPr>
              <a:t>• Default Difficulty: </a:t>
            </a:r>
            <a:r>
              <a:rPr b="0" sz="1150">
                <a:solidFill>
                  <a:srgbClr val="475569"/>
                </a:solidFill>
                <a:latin typeface="Arial"/>
              </a:rPr>
              <a:t>Saat menambahkan jenis konten baru, Anda dapat menentukan Default Difficulty (Low / Medium / High).</a:t>
            </a:r>
          </a:p>
          <a:p>
            <a:pPr>
              <a:spcAft>
                <a:spcPts val="400"/>
              </a:spcAft>
            </a:pPr>
            <a:r>
              <a:rPr b="1" sz="1150">
                <a:solidFill>
                  <a:srgbClr val="0F172A"/>
                </a:solidFill>
                <a:latin typeface="Arial"/>
              </a:rPr>
              <a:t>• Manfaat: </a:t>
            </a:r>
            <a:r>
              <a:rPr b="0" sz="1150">
                <a:solidFill>
                  <a:srgbClr val="475569"/>
                </a:solidFill>
                <a:latin typeface="Arial"/>
              </a:rPr>
              <a:t>Mempermudah Team Lead saat penugasan (Assign) karena sistem otomatis merekomendasikan bobot poin kesulitan yang konsisten.</a:t>
            </a:r>
          </a:p>
          <a:p>
            <a:pPr>
              <a:spcAft>
                <a:spcPts val="400"/>
              </a:spcAft>
            </a:pPr>
            <a:r>
              <a:rPr b="1" sz="1150">
                <a:solidFill>
                  <a:srgbClr val="0F172A"/>
                </a:solidFill>
                <a:latin typeface="Arial"/>
              </a:rPr>
              <a:t>• Fleksibilitas: </a:t>
            </a:r>
            <a:r>
              <a:rPr b="0" sz="1150">
                <a:solidFill>
                  <a:srgbClr val="475569"/>
                </a:solidFill>
                <a:latin typeface="Arial"/>
              </a:rPr>
              <a:t>Bobot tetap dapat disesuaikan manual pada kasus-kasus spesifik saat penugasan.</a:t>
            </a:r>
          </a:p>
        </p:txBody>
      </p:sp>
      <p:pic>
        <p:nvPicPr>
          <p:cNvPr id="6" name="Picture 5" descr="page_27_img_1_215.jpeg"/>
          <p:cNvPicPr>
            <a:picLocks noChangeAspect="1"/>
          </p:cNvPicPr>
          <p:nvPr/>
        </p:nvPicPr>
        <p:blipFill>
          <a:blip r:embed="rId2"/>
          <a:stretch>
            <a:fillRect/>
          </a:stretch>
        </p:blipFill>
        <p:spPr>
          <a:xfrm>
            <a:off x="5943600" y="1371600"/>
            <a:ext cx="5486400" cy="4389120"/>
          </a:xfrm>
          <a:prstGeom prst="rect">
            <a:avLst/>
          </a:prstGeom>
        </p:spPr>
      </p:pic>
      <p:sp>
        <p:nvSpPr>
          <p:cNvPr id="7" name="TextBox 6"/>
          <p:cNvSpPr txBox="1"/>
          <p:nvPr/>
        </p:nvSpPr>
        <p:spPr>
          <a:xfrm>
            <a:off x="5943600" y="581558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Modal Tambah Format Konten &amp; Default Difficulty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ADMIN &amp; SETTINGS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5. Holiday Calendar (Kalender Hari Libur &amp; SLA)</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38</a:t>
            </a:r>
          </a:p>
        </p:txBody>
      </p:sp>
      <p:sp>
        <p:nvSpPr>
          <p:cNvPr id="5" name="TextBox 4"/>
          <p:cNvSpPr txBox="1"/>
          <p:nvPr/>
        </p:nvSpPr>
        <p:spPr>
          <a:xfrm>
            <a:off x="731520" y="1371600"/>
            <a:ext cx="5029200" cy="4572000"/>
          </a:xfrm>
          <a:prstGeom prst="rect">
            <a:avLst/>
          </a:prstGeom>
          <a:noFill/>
        </p:spPr>
        <p:txBody>
          <a:bodyPr wrap="square">
            <a:spAutoFit/>
          </a:bodyPr>
          <a:lstStyle/>
          <a:p>
            <a:pPr>
              <a:spcAft>
                <a:spcPts val="400"/>
              </a:spcAft>
            </a:pPr>
            <a:r>
              <a:rPr b="1" sz="1100">
                <a:solidFill>
                  <a:srgbClr val="0F172A"/>
                </a:solidFill>
                <a:latin typeface="Arial"/>
              </a:rPr>
              <a:t>Otomasi Perhitungan Service Level Agreement: </a:t>
            </a:r>
          </a:p>
          <a:p>
            <a:pPr>
              <a:spcAft>
                <a:spcPts val="400"/>
              </a:spcAft>
            </a:pPr>
            <a:r>
              <a:rPr b="1" sz="1100">
                <a:solidFill>
                  <a:srgbClr val="0F172A"/>
                </a:solidFill>
                <a:latin typeface="Arial"/>
              </a:rPr>
              <a:t>• Peran Kalender Libur: </a:t>
            </a:r>
            <a:r>
              <a:rPr b="0" sz="1100">
                <a:solidFill>
                  <a:srgbClr val="475569"/>
                </a:solidFill>
                <a:latin typeface="Arial"/>
              </a:rPr>
              <a:t>Merupakan fondasi ketepatan sistem karena mesin otomatis penghitung SLA mengecualikan akhir pekan (Sabtu–Minggu) dan hari libur nasional.</a:t>
            </a:r>
          </a:p>
          <a:p>
            <a:pPr>
              <a:spcAft>
                <a:spcPts val="400"/>
              </a:spcAft>
            </a:pPr>
            <a:r>
              <a:rPr b="1" sz="1100">
                <a:solidFill>
                  <a:srgbClr val="0F172A"/>
                </a:solidFill>
                <a:latin typeface="Arial"/>
              </a:rPr>
              <a:t>• Cara Penggunaan: </a:t>
            </a:r>
          </a:p>
          <a:p>
            <a:pPr>
              <a:spcAft>
                <a:spcPts val="400"/>
              </a:spcAft>
            </a:pPr>
            <a:r>
              <a:rPr b="0" sz="1100">
                <a:solidFill>
                  <a:srgbClr val="475569"/>
                </a:solidFill>
                <a:latin typeface="Arial"/>
              </a:rPr>
              <a:t>   1. Masuk ke halaman Holiday Calendar.</a:t>
            </a:r>
          </a:p>
          <a:p>
            <a:pPr>
              <a:spcAft>
                <a:spcPts val="400"/>
              </a:spcAft>
            </a:pPr>
            <a:r>
              <a:rPr b="0" sz="1100">
                <a:solidFill>
                  <a:srgbClr val="475569"/>
                </a:solidFill>
                <a:latin typeface="Arial"/>
              </a:rPr>
              <a:t>   2. Daftarkan tanggal merah atau hari cuti bersama.</a:t>
            </a:r>
          </a:p>
          <a:p>
            <a:pPr>
              <a:spcAft>
                <a:spcPts val="400"/>
              </a:spcAft>
            </a:pPr>
            <a:r>
              <a:rPr b="0" sz="1100">
                <a:solidFill>
                  <a:srgbClr val="475569"/>
                </a:solidFill>
                <a:latin typeface="Arial"/>
              </a:rPr>
              <a:t>   3. Masukkan deskripsi libur (misal: 'Hari Raya Idul Fitri').</a:t>
            </a:r>
          </a:p>
          <a:p>
            <a:pPr>
              <a:spcAft>
                <a:spcPts val="400"/>
              </a:spcAft>
            </a:pPr>
            <a:r>
              <a:rPr b="0" sz="1100">
                <a:solidFill>
                  <a:srgbClr val="475569"/>
                </a:solidFill>
                <a:latin typeface="Arial"/>
              </a:rPr>
              <a:t>   4. Klik simpan. Sistem otomatis melewati tanggal-tanggal tersebut ketika menghitung tenggat waktu (Due Date) dan durasi hari kerja tugas.</a:t>
            </a:r>
          </a:p>
        </p:txBody>
      </p:sp>
      <p:pic>
        <p:nvPicPr>
          <p:cNvPr id="6" name="Picture 5" descr="page_28_img_1_222.jpeg"/>
          <p:cNvPicPr>
            <a:picLocks noChangeAspect="1"/>
          </p:cNvPicPr>
          <p:nvPr/>
        </p:nvPicPr>
        <p:blipFill>
          <a:blip r:embed="rId2"/>
          <a:stretch>
            <a:fillRect/>
          </a:stretch>
        </p:blipFill>
        <p:spPr>
          <a:xfrm>
            <a:off x="5943600" y="1371600"/>
            <a:ext cx="5486400" cy="4389120"/>
          </a:xfrm>
          <a:prstGeom prst="rect">
            <a:avLst/>
          </a:prstGeom>
        </p:spPr>
      </p:pic>
      <p:sp>
        <p:nvSpPr>
          <p:cNvPr id="7" name="TextBox 6"/>
          <p:cNvSpPr txBox="1"/>
          <p:nvPr/>
        </p:nvSpPr>
        <p:spPr>
          <a:xfrm>
            <a:off x="5943600" y="581558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Modal Tambah Tanggal Libur Nasional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ADMIN &amp; SETTINGS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6. Audit Trail (Riwayat Aktivitas &amp; CCTV Sistem)</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39</a:t>
            </a:r>
          </a:p>
        </p:txBody>
      </p:sp>
      <p:sp>
        <p:nvSpPr>
          <p:cNvPr id="5" name="TextBox 4"/>
          <p:cNvSpPr txBox="1"/>
          <p:nvPr/>
        </p:nvSpPr>
        <p:spPr>
          <a:xfrm>
            <a:off x="731520" y="1371600"/>
            <a:ext cx="5029200" cy="4572000"/>
          </a:xfrm>
          <a:prstGeom prst="rect">
            <a:avLst/>
          </a:prstGeom>
          <a:noFill/>
        </p:spPr>
        <p:txBody>
          <a:bodyPr wrap="square">
            <a:spAutoFit/>
          </a:bodyPr>
          <a:lstStyle/>
          <a:p>
            <a:pPr>
              <a:spcAft>
                <a:spcPts val="400"/>
              </a:spcAft>
            </a:pPr>
            <a:r>
              <a:rPr b="1" sz="1100">
                <a:solidFill>
                  <a:srgbClr val="0F172A"/>
                </a:solidFill>
                <a:latin typeface="Arial"/>
              </a:rPr>
              <a:t>Perekam Jejak Aktivitas Terenkripsi &amp; Permanen: </a:t>
            </a:r>
          </a:p>
          <a:p>
            <a:pPr>
              <a:spcAft>
                <a:spcPts val="400"/>
              </a:spcAft>
            </a:pPr>
            <a:r>
              <a:rPr b="1" sz="1100">
                <a:solidFill>
                  <a:srgbClr val="0F172A"/>
                </a:solidFill>
                <a:latin typeface="Arial"/>
              </a:rPr>
              <a:t>• Definisi 'CCTV Sistem': </a:t>
            </a:r>
            <a:r>
              <a:rPr b="0" sz="1100">
                <a:solidFill>
                  <a:srgbClr val="475569"/>
                </a:solidFill>
                <a:latin typeface="Arial"/>
              </a:rPr>
              <a:t>Merekam setiap tindakan penting yang dilakukan pengguna di dalam sistem tanpa terkecuali.</a:t>
            </a:r>
          </a:p>
          <a:p>
            <a:pPr>
              <a:spcAft>
                <a:spcPts val="400"/>
              </a:spcAft>
            </a:pPr>
            <a:r>
              <a:rPr b="1" sz="1100">
                <a:solidFill>
                  <a:srgbClr val="0F172A"/>
                </a:solidFill>
                <a:latin typeface="Arial"/>
              </a:rPr>
              <a:t>• Kegunaan Investigasi: </a:t>
            </a:r>
            <a:r>
              <a:rPr b="0" sz="1100">
                <a:solidFill>
                  <a:srgbClr val="475569"/>
                </a:solidFill>
                <a:latin typeface="Arial"/>
              </a:rPr>
              <a:t>Jika terjadi kesalahan atau ketidaksesuaian proses, Admin dapat memeriksa Audit Trail untuk melacak pelaku, timestamp akurat, dan nilai data sebelum vs sesudah perubahan.</a:t>
            </a:r>
          </a:p>
          <a:p>
            <a:pPr>
              <a:spcAft>
                <a:spcPts val="400"/>
              </a:spcAft>
            </a:pPr>
            <a:r>
              <a:rPr b="1" sz="1100">
                <a:solidFill>
                  <a:srgbClr val="0F172A"/>
                </a:solidFill>
                <a:latin typeface="Arial"/>
              </a:rPr>
              <a:t>• Sifat Read-Only: </a:t>
            </a:r>
            <a:r>
              <a:rPr b="0" sz="1100">
                <a:solidFill>
                  <a:srgbClr val="475569"/>
                </a:solidFill>
                <a:latin typeface="Arial"/>
              </a:rPr>
              <a:t>Data bersifat permanen dan tidak dapat diubah atau dihapus oleh siapapun demi akuntabilitas.</a:t>
            </a:r>
          </a:p>
          <a:p>
            <a:pPr>
              <a:spcAft>
                <a:spcPts val="400"/>
              </a:spcAft>
            </a:pPr>
            <a:r>
              <a:rPr b="1" sz="1100">
                <a:solidFill>
                  <a:srgbClr val="0F172A"/>
                </a:solidFill>
                <a:latin typeface="Arial"/>
              </a:rPr>
              <a:t>• Pencarian &amp; Filter: </a:t>
            </a:r>
            <a:r>
              <a:rPr b="0" sz="1100">
                <a:solidFill>
                  <a:srgbClr val="475569"/>
                </a:solidFill>
                <a:latin typeface="Arial"/>
              </a:rPr>
              <a:t>Mendukung pencarian berbasis nama pengguna, tipe entitas tiket, atau rentang tanggal tertentu.</a:t>
            </a:r>
          </a:p>
        </p:txBody>
      </p:sp>
      <p:pic>
        <p:nvPicPr>
          <p:cNvPr id="6" name="Picture 5" descr="page_29_img_1_229.jpeg"/>
          <p:cNvPicPr>
            <a:picLocks noChangeAspect="1"/>
          </p:cNvPicPr>
          <p:nvPr/>
        </p:nvPicPr>
        <p:blipFill>
          <a:blip r:embed="rId2"/>
          <a:stretch>
            <a:fillRect/>
          </a:stretch>
        </p:blipFill>
        <p:spPr>
          <a:xfrm>
            <a:off x="5943600" y="1371600"/>
            <a:ext cx="5486400" cy="4389120"/>
          </a:xfrm>
          <a:prstGeom prst="rect">
            <a:avLst/>
          </a:prstGeom>
        </p:spPr>
      </p:pic>
      <p:sp>
        <p:nvSpPr>
          <p:cNvPr id="7" name="TextBox 6"/>
          <p:cNvSpPr txBox="1"/>
          <p:nvPr/>
        </p:nvSpPr>
        <p:spPr>
          <a:xfrm>
            <a:off x="5943600" y="5815584"/>
            <a:ext cx="5486400" cy="228600"/>
          </a:xfrm>
          <a:prstGeom prst="rect">
            <a:avLst/>
          </a:prstGeom>
          <a:noFill/>
        </p:spPr>
        <p:txBody>
          <a:bodyPr wrap="square" lIns="0" tIns="0" rIns="0" bIns="0">
            <a:spAutoFit/>
          </a:bodyPr>
          <a:lstStyle/>
          <a:p>
            <a:pPr algn="ctr">
              <a:defRPr sz="950" i="1">
                <a:solidFill>
                  <a:srgbClr val="94A3B8"/>
                </a:solidFill>
                <a:latin typeface="Arial"/>
              </a:defRPr>
            </a:pPr>
            <a:r>
              <a:t>Screenshot Tabel Perekam Jejak Audit Trail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PANDUAN PERAN</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Panduan Berbasis Peran: Requester &amp; Strategic PIC</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40</a:t>
            </a:r>
          </a:p>
        </p:txBody>
      </p:sp>
      <p:sp>
        <p:nvSpPr>
          <p:cNvPr id="5" name="TextBox 4"/>
          <p:cNvSpPr txBox="1"/>
          <p:nvPr/>
        </p:nvSpPr>
        <p:spPr>
          <a:xfrm>
            <a:off x="731520" y="1371600"/>
            <a:ext cx="5120640" cy="4754880"/>
          </a:xfrm>
          <a:prstGeom prst="rect">
            <a:avLst/>
          </a:prstGeom>
          <a:noFill/>
        </p:spPr>
        <p:txBody>
          <a:bodyPr wrap="square">
            <a:spAutoFit/>
          </a:bodyPr>
          <a:lstStyle/>
          <a:p>
            <a:pPr>
              <a:spcAft>
                <a:spcPts val="400"/>
              </a:spcAft>
            </a:pPr>
            <a:r>
              <a:rPr b="1" sz="1100">
                <a:solidFill>
                  <a:srgbClr val="0F172A"/>
                </a:solidFill>
                <a:latin typeface="Arial"/>
              </a:rPr>
              <a:t>PERAN: REQUESTER / AE </a:t>
            </a:r>
          </a:p>
          <a:p>
            <a:pPr>
              <a:spcAft>
                <a:spcPts val="400"/>
              </a:spcAft>
            </a:pPr>
            <a:r>
              <a:rPr b="1" sz="1100">
                <a:solidFill>
                  <a:srgbClr val="0F172A"/>
                </a:solidFill>
                <a:latin typeface="Arial"/>
              </a:rPr>
              <a:t>• Tanggung Jawab Utama: </a:t>
            </a:r>
            <a:r>
              <a:rPr b="0" sz="1100">
                <a:solidFill>
                  <a:srgbClr val="475569"/>
                </a:solidFill>
                <a:latin typeface="Arial"/>
              </a:rPr>
              <a:t>Membuat tiket permintaan desain, memberikan brief lengkap, memantau progres, dan mereview aset final.</a:t>
            </a:r>
          </a:p>
          <a:p>
            <a:pPr>
              <a:spcAft>
                <a:spcPts val="400"/>
              </a:spcAft>
            </a:pPr>
            <a:r>
              <a:rPr b="1" sz="1100">
                <a:solidFill>
                  <a:srgbClr val="0F172A"/>
                </a:solidFill>
                <a:latin typeface="Arial"/>
              </a:rPr>
              <a:t>• Hak Akses &amp; Aksi: </a:t>
            </a:r>
          </a:p>
          <a:p>
            <a:pPr>
              <a:spcAft>
                <a:spcPts val="400"/>
              </a:spcAft>
            </a:pPr>
            <a:r>
              <a:rPr b="0" sz="1100">
                <a:solidFill>
                  <a:srgbClr val="475569"/>
                </a:solidFill>
                <a:latin typeface="Arial"/>
              </a:rPr>
              <a:t>   - Membuat tiket baru (+ New Task) &amp; Standalone Motion.</a:t>
            </a:r>
          </a:p>
          <a:p>
            <a:pPr>
              <a:spcAft>
                <a:spcPts val="400"/>
              </a:spcAft>
            </a:pPr>
            <a:r>
              <a:rPr b="0" sz="1100">
                <a:solidFill>
                  <a:srgbClr val="475569"/>
                </a:solidFill>
                <a:latin typeface="Arial"/>
              </a:rPr>
              <a:t>   - Membuka Task Detail &amp; Berkomunikasi via Chat.</a:t>
            </a:r>
          </a:p>
          <a:p>
            <a:pPr>
              <a:spcAft>
                <a:spcPts val="400"/>
              </a:spcAft>
            </a:pPr>
            <a:r>
              <a:rPr b="0" sz="1100">
                <a:solidFill>
                  <a:srgbClr val="475569"/>
                </a:solidFill>
                <a:latin typeface="Arial"/>
              </a:rPr>
              <a:t>   - Memeriksa tautan Google Drive / Render Output.</a:t>
            </a:r>
          </a:p>
          <a:p>
            <a:pPr>
              <a:spcAft>
                <a:spcPts val="400"/>
              </a:spcAft>
            </a:pPr>
            <a:r>
              <a:rPr b="0" sz="1100">
                <a:solidFill>
                  <a:srgbClr val="475569"/>
                </a:solidFill>
                <a:latin typeface="Arial"/>
              </a:rPr>
              <a:t>   - Menyetujui (Approve) atau Meminta Revisi (Revise).</a:t>
            </a:r>
          </a:p>
          <a:p>
            <a:pPr>
              <a:spcAft>
                <a:spcPts val="400"/>
              </a:spcAft>
            </a:pPr>
            <a:r>
              <a:rPr b="1" sz="1100">
                <a:solidFill>
                  <a:srgbClr val="0F172A"/>
                </a:solidFill>
                <a:latin typeface="Arial"/>
              </a:rPr>
              <a:t>• Larangan: </a:t>
            </a:r>
            <a:r>
              <a:rPr b="0" sz="1100">
                <a:solidFill>
                  <a:srgbClr val="475569"/>
                </a:solidFill>
                <a:latin typeface="Arial"/>
              </a:rPr>
              <a:t>Tidak dapat meng-assign desainer atau mengubah master data.</a:t>
            </a:r>
          </a:p>
        </p:txBody>
      </p:sp>
      <p:sp>
        <p:nvSpPr>
          <p:cNvPr id="6" name="TextBox 5"/>
          <p:cNvSpPr txBox="1"/>
          <p:nvPr/>
        </p:nvSpPr>
        <p:spPr>
          <a:xfrm>
            <a:off x="6217920" y="1371600"/>
            <a:ext cx="5120640" cy="4754880"/>
          </a:xfrm>
          <a:prstGeom prst="rect">
            <a:avLst/>
          </a:prstGeom>
          <a:noFill/>
        </p:spPr>
        <p:txBody>
          <a:bodyPr wrap="square">
            <a:spAutoFit/>
          </a:bodyPr>
          <a:lstStyle/>
          <a:p>
            <a:pPr>
              <a:spcAft>
                <a:spcPts val="400"/>
              </a:spcAft>
            </a:pPr>
            <a:r>
              <a:rPr b="1" sz="1100">
                <a:solidFill>
                  <a:srgbClr val="0F172A"/>
                </a:solidFill>
                <a:latin typeface="Arial"/>
              </a:rPr>
              <a:t>PERAN: STRATEGIC PIC </a:t>
            </a:r>
          </a:p>
          <a:p>
            <a:pPr>
              <a:spcAft>
                <a:spcPts val="400"/>
              </a:spcAft>
            </a:pPr>
            <a:r>
              <a:rPr b="1" sz="1100">
                <a:solidFill>
                  <a:srgbClr val="0F172A"/>
                </a:solidFill>
                <a:latin typeface="Arial"/>
              </a:rPr>
              <a:t>• Tanggung Jawab Utama: </a:t>
            </a:r>
            <a:r>
              <a:rPr b="0" sz="1100">
                <a:solidFill>
                  <a:srgbClr val="475569"/>
                </a:solidFill>
                <a:latin typeface="Arial"/>
              </a:rPr>
              <a:t>Menyusun konsep strategis, validasi brand guideline, dan mematangkan brief kampanye sebelum eksekusi visual.</a:t>
            </a:r>
          </a:p>
          <a:p>
            <a:pPr>
              <a:spcAft>
                <a:spcPts val="400"/>
              </a:spcAft>
            </a:pPr>
            <a:r>
              <a:rPr b="1" sz="1100">
                <a:solidFill>
                  <a:srgbClr val="0F172A"/>
                </a:solidFill>
                <a:latin typeface="Arial"/>
              </a:rPr>
              <a:t>• Hak Akses &amp; Aksi: </a:t>
            </a:r>
          </a:p>
          <a:p>
            <a:pPr>
              <a:spcAft>
                <a:spcPts val="400"/>
              </a:spcAft>
            </a:pPr>
            <a:r>
              <a:rPr b="0" sz="1100">
                <a:solidFill>
                  <a:srgbClr val="475569"/>
                </a:solidFill>
                <a:latin typeface="Arial"/>
              </a:rPr>
              <a:t>   - Menerima tiket dengan flag 'Requires Strategic'.</a:t>
            </a:r>
          </a:p>
          <a:p>
            <a:pPr>
              <a:spcAft>
                <a:spcPts val="400"/>
              </a:spcAft>
            </a:pPr>
            <a:r>
              <a:rPr b="0" sz="1100">
                <a:solidFill>
                  <a:srgbClr val="475569"/>
                </a:solidFill>
                <a:latin typeface="Arial"/>
              </a:rPr>
              <a:t>   - Menyusun catatan konsep pada tab Diskusi / Notes.</a:t>
            </a:r>
          </a:p>
          <a:p>
            <a:pPr>
              <a:spcAft>
                <a:spcPts val="400"/>
              </a:spcAft>
            </a:pPr>
            <a:r>
              <a:rPr b="0" sz="1100">
                <a:solidFill>
                  <a:srgbClr val="475569"/>
                </a:solidFill>
                <a:latin typeface="Arial"/>
              </a:rPr>
              <a:t>   - Memberikan sign-off strategis agar tugas diteruskan ke tim desainer grafis.</a:t>
            </a:r>
          </a:p>
          <a:p>
            <a:pPr>
              <a:spcAft>
                <a:spcPts val="400"/>
              </a:spcAft>
            </a:pPr>
            <a:r>
              <a:rPr b="0" sz="1100">
                <a:solidFill>
                  <a:srgbClr val="475569"/>
                </a:solidFill>
                <a:latin typeface="Arial"/>
              </a:rPr>
              <a:t>   - Memantau Workload &amp; Capacity tim strategi.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PANDUAN PERAN</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Panduan Berbasis Peran: Designer &amp; Motion PIC</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41</a:t>
            </a:r>
          </a:p>
        </p:txBody>
      </p:sp>
      <p:sp>
        <p:nvSpPr>
          <p:cNvPr id="5" name="TextBox 4"/>
          <p:cNvSpPr txBox="1"/>
          <p:nvPr/>
        </p:nvSpPr>
        <p:spPr>
          <a:xfrm>
            <a:off x="731520" y="1371600"/>
            <a:ext cx="5120640" cy="4754880"/>
          </a:xfrm>
          <a:prstGeom prst="rect">
            <a:avLst/>
          </a:prstGeom>
          <a:noFill/>
        </p:spPr>
        <p:txBody>
          <a:bodyPr wrap="square">
            <a:spAutoFit/>
          </a:bodyPr>
          <a:lstStyle/>
          <a:p>
            <a:pPr>
              <a:spcAft>
                <a:spcPts val="400"/>
              </a:spcAft>
            </a:pPr>
            <a:r>
              <a:rPr b="1" sz="1100">
                <a:solidFill>
                  <a:srgbClr val="0F172A"/>
                </a:solidFill>
                <a:latin typeface="Arial"/>
              </a:rPr>
              <a:t>PERAN: GRAPHIC DESIGNER (GD) </a:t>
            </a:r>
          </a:p>
          <a:p>
            <a:pPr>
              <a:spcAft>
                <a:spcPts val="400"/>
              </a:spcAft>
            </a:pPr>
            <a:r>
              <a:rPr b="1" sz="1100">
                <a:solidFill>
                  <a:srgbClr val="0F172A"/>
                </a:solidFill>
                <a:latin typeface="Arial"/>
              </a:rPr>
              <a:t>• Tanggung Jawab Utama: </a:t>
            </a:r>
            <a:r>
              <a:rPr b="0" sz="1100">
                <a:solidFill>
                  <a:srgbClr val="475569"/>
                </a:solidFill>
                <a:latin typeface="Arial"/>
              </a:rPr>
              <a:t>Mengeksekusi desain statis, feed, banner, dan aset mockup sesuai brief.</a:t>
            </a:r>
          </a:p>
          <a:p>
            <a:pPr>
              <a:spcAft>
                <a:spcPts val="400"/>
              </a:spcAft>
            </a:pPr>
            <a:r>
              <a:rPr b="1" sz="1100">
                <a:solidFill>
                  <a:srgbClr val="0F172A"/>
                </a:solidFill>
                <a:latin typeface="Arial"/>
              </a:rPr>
              <a:t>• Hak Akses &amp; Alur Kerja: </a:t>
            </a:r>
          </a:p>
          <a:p>
            <a:pPr>
              <a:spcAft>
                <a:spcPts val="400"/>
              </a:spcAft>
            </a:pPr>
            <a:r>
              <a:rPr b="0" sz="1100">
                <a:solidFill>
                  <a:srgbClr val="475569"/>
                </a:solidFill>
                <a:latin typeface="Arial"/>
              </a:rPr>
              <a:t>   - Memantau tiket tugas di kolom Assigned &amp; In Progress.</a:t>
            </a:r>
          </a:p>
          <a:p>
            <a:pPr>
              <a:spcAft>
                <a:spcPts val="400"/>
              </a:spcAft>
            </a:pPr>
            <a:r>
              <a:rPr b="0" sz="1100">
                <a:solidFill>
                  <a:srgbClr val="475569"/>
                </a:solidFill>
                <a:latin typeface="Arial"/>
              </a:rPr>
              <a:t>   - Klik Start Work untuk memulai pengerjaan.</a:t>
            </a:r>
          </a:p>
          <a:p>
            <a:pPr>
              <a:spcAft>
                <a:spcPts val="400"/>
              </a:spcAft>
            </a:pPr>
            <a:r>
              <a:rPr b="0" sz="1100">
                <a:solidFill>
                  <a:srgbClr val="475569"/>
                </a:solidFill>
                <a:latin typeface="Arial"/>
              </a:rPr>
              <a:t>   - Mengirimkan hasil melalui tombol Submit Output (Google Drive Link).</a:t>
            </a:r>
          </a:p>
          <a:p>
            <a:pPr>
              <a:spcAft>
                <a:spcPts val="400"/>
              </a:spcAft>
            </a:pPr>
            <a:r>
              <a:rPr b="0" sz="1100">
                <a:solidFill>
                  <a:srgbClr val="475569"/>
                </a:solidFill>
                <a:latin typeface="Arial"/>
              </a:rPr>
              <a:t>   - Menangani perbaikan tugas berstatus Revision &amp; Re-submit.</a:t>
            </a:r>
          </a:p>
          <a:p>
            <a:pPr>
              <a:spcAft>
                <a:spcPts val="400"/>
              </a:spcAft>
            </a:pPr>
            <a:r>
              <a:rPr b="0" sz="1100">
                <a:solidFill>
                  <a:srgbClr val="475569"/>
                </a:solidFill>
                <a:latin typeface="Arial"/>
              </a:rPr>
              <a:t>   - Menjaga batas kapasitas harian (5–7 poin).</a:t>
            </a:r>
          </a:p>
        </p:txBody>
      </p:sp>
      <p:sp>
        <p:nvSpPr>
          <p:cNvPr id="6" name="TextBox 5"/>
          <p:cNvSpPr txBox="1"/>
          <p:nvPr/>
        </p:nvSpPr>
        <p:spPr>
          <a:xfrm>
            <a:off x="6217920" y="1371600"/>
            <a:ext cx="5120640" cy="4754880"/>
          </a:xfrm>
          <a:prstGeom prst="rect">
            <a:avLst/>
          </a:prstGeom>
          <a:noFill/>
        </p:spPr>
        <p:txBody>
          <a:bodyPr wrap="square">
            <a:spAutoFit/>
          </a:bodyPr>
          <a:lstStyle/>
          <a:p>
            <a:pPr>
              <a:spcAft>
                <a:spcPts val="400"/>
              </a:spcAft>
            </a:pPr>
            <a:r>
              <a:rPr b="1" sz="1100">
                <a:solidFill>
                  <a:srgbClr val="0F172A"/>
                </a:solidFill>
                <a:latin typeface="Arial"/>
              </a:rPr>
              <a:t>PERAN: MOTION PIC (ANIMASI &amp; VIDEO) </a:t>
            </a:r>
          </a:p>
          <a:p>
            <a:pPr>
              <a:spcAft>
                <a:spcPts val="400"/>
              </a:spcAft>
            </a:pPr>
            <a:r>
              <a:rPr b="1" sz="1100">
                <a:solidFill>
                  <a:srgbClr val="0F172A"/>
                </a:solidFill>
                <a:latin typeface="Arial"/>
              </a:rPr>
              <a:t>• Tanggung Jawab Utama: </a:t>
            </a:r>
            <a:r>
              <a:rPr b="0" sz="1100">
                <a:solidFill>
                  <a:srgbClr val="475569"/>
                </a:solidFill>
                <a:latin typeface="Arial"/>
              </a:rPr>
              <a:t>Memproduksi konten video animasi, lower thirds, dan visual gerak untuk media sosial dan promosi.</a:t>
            </a:r>
          </a:p>
          <a:p>
            <a:pPr>
              <a:spcAft>
                <a:spcPts val="400"/>
              </a:spcAft>
            </a:pPr>
            <a:r>
              <a:rPr b="1" sz="1100">
                <a:solidFill>
                  <a:srgbClr val="0F172A"/>
                </a:solidFill>
                <a:latin typeface="Arial"/>
              </a:rPr>
              <a:t>• Hak Akses &amp; Alur Kerja: </a:t>
            </a:r>
          </a:p>
          <a:p>
            <a:pPr>
              <a:spcAft>
                <a:spcPts val="400"/>
              </a:spcAft>
            </a:pPr>
            <a:r>
              <a:rPr b="0" sz="1100">
                <a:solidFill>
                  <a:srgbClr val="475569"/>
                </a:solidFill>
                <a:latin typeface="Arial"/>
              </a:rPr>
              <a:t>   - Memantau antrean di kolom Queued Motion Pipeline.</a:t>
            </a:r>
          </a:p>
          <a:p>
            <a:pPr>
              <a:spcAft>
                <a:spcPts val="400"/>
              </a:spcAft>
            </a:pPr>
            <a:r>
              <a:rPr b="0" sz="1100">
                <a:solidFill>
                  <a:srgbClr val="475569"/>
                </a:solidFill>
                <a:latin typeface="Arial"/>
              </a:rPr>
              <a:t>   - Klik Start untuk mengaktifkan timer SLA pengerjaan.</a:t>
            </a:r>
          </a:p>
          <a:p>
            <a:pPr>
              <a:spcAft>
                <a:spcPts val="400"/>
              </a:spcAft>
            </a:pPr>
            <a:r>
              <a:rPr b="0" sz="1100">
                <a:solidFill>
                  <a:srgbClr val="475569"/>
                </a:solidFill>
                <a:latin typeface="Arial"/>
              </a:rPr>
              <a:t>   - Mengunggah tautan render final ke Google Drive / Cloud.</a:t>
            </a:r>
          </a:p>
          <a:p>
            <a:pPr>
              <a:spcAft>
                <a:spcPts val="400"/>
              </a:spcAft>
            </a:pPr>
            <a:r>
              <a:rPr b="0" sz="1100">
                <a:solidFill>
                  <a:srgbClr val="475569"/>
                </a:solidFill>
                <a:latin typeface="Arial"/>
              </a:rPr>
              <a:t>   - Memperbaiki video jika ada catatan revisi.</a:t>
            </a:r>
          </a:p>
          <a:p>
            <a:pPr>
              <a:spcAft>
                <a:spcPts val="400"/>
              </a:spcAft>
            </a:pPr>
            <a:r>
              <a:rPr b="0" sz="1100">
                <a:solidFill>
                  <a:srgbClr val="475569"/>
                </a:solidFill>
                <a:latin typeface="Arial"/>
              </a:rPr>
              <a:t>   - Memastikan format resolusi sesuai platform (TikTok, IG, YT).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PANDUAN PERAN</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Panduan Peran: Team Lead, Operator &amp; System Admin</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42</a:t>
            </a:r>
          </a:p>
        </p:txBody>
      </p:sp>
      <p:sp>
        <p:nvSpPr>
          <p:cNvPr id="5" name="Rounded Rectangle 4"/>
          <p:cNvSpPr/>
          <p:nvPr/>
        </p:nvSpPr>
        <p:spPr>
          <a:xfrm>
            <a:off x="731520" y="1371600"/>
            <a:ext cx="3291840" cy="47548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00">
                <a:solidFill>
                  <a:srgbClr val="0F172A"/>
                </a:solidFill>
                <a:latin typeface="Arial"/>
              </a:rPr>
              <a:t>TEAM LEAD </a:t>
            </a:r>
          </a:p>
          <a:p>
            <a:pPr>
              <a:spcAft>
                <a:spcPts val="400"/>
              </a:spcAft>
            </a:pPr>
            <a:r>
              <a:rPr b="1" sz="1000">
                <a:solidFill>
                  <a:srgbClr val="0F172A"/>
                </a:solidFill>
                <a:latin typeface="Arial"/>
              </a:rPr>
              <a:t>• Penugasan &amp; Triage: </a:t>
            </a:r>
            <a:r>
              <a:rPr b="0" sz="1000">
                <a:solidFill>
                  <a:srgbClr val="475569"/>
                </a:solidFill>
                <a:latin typeface="Arial"/>
              </a:rPr>
              <a:t>Menugaskan (Assign) tugas ke desainer yang memiliki sisa kapasitas poin.</a:t>
            </a:r>
          </a:p>
          <a:p>
            <a:pPr>
              <a:spcAft>
                <a:spcPts val="400"/>
              </a:spcAft>
            </a:pPr>
            <a:r>
              <a:rPr b="1" sz="1000">
                <a:solidFill>
                  <a:srgbClr val="0F172A"/>
                </a:solidFill>
                <a:latin typeface="Arial"/>
              </a:rPr>
              <a:t>• Quality Assurance: </a:t>
            </a:r>
            <a:r>
              <a:rPr b="0" sz="1000">
                <a:solidFill>
                  <a:srgbClr val="475569"/>
                </a:solidFill>
                <a:latin typeface="Arial"/>
              </a:rPr>
              <a:t>Review awal sebelum diserahkan ke Requester.</a:t>
            </a:r>
          </a:p>
          <a:p>
            <a:pPr>
              <a:spcAft>
                <a:spcPts val="400"/>
              </a:spcAft>
            </a:pPr>
            <a:r>
              <a:rPr b="1" sz="1000">
                <a:solidFill>
                  <a:srgbClr val="0F172A"/>
                </a:solidFill>
                <a:latin typeface="Arial"/>
              </a:rPr>
              <a:t>• Handover: </a:t>
            </a:r>
            <a:r>
              <a:rPr b="0" sz="1000">
                <a:solidFill>
                  <a:srgbClr val="475569"/>
                </a:solidFill>
                <a:latin typeface="Arial"/>
              </a:rPr>
              <a:t>Menyerahkan video ke Operator.</a:t>
            </a:r>
          </a:p>
          <a:p>
            <a:pPr>
              <a:spcAft>
                <a:spcPts val="400"/>
              </a:spcAft>
            </a:pPr>
            <a:r>
              <a:rPr b="1" sz="1000">
                <a:solidFill>
                  <a:srgbClr val="0F172A"/>
                </a:solidFill>
                <a:latin typeface="Arial"/>
              </a:rPr>
              <a:t>• Undo Status: </a:t>
            </a:r>
            <a:r>
              <a:rPr b="0" sz="1000">
                <a:solidFill>
                  <a:srgbClr val="475569"/>
                </a:solidFill>
                <a:latin typeface="Arial"/>
              </a:rPr>
              <a:t>Koreksi salah klik alur.</a:t>
            </a:r>
          </a:p>
        </p:txBody>
      </p:sp>
      <p:sp>
        <p:nvSpPr>
          <p:cNvPr id="6" name="Rounded Rectangle 5"/>
          <p:cNvSpPr/>
          <p:nvPr/>
        </p:nvSpPr>
        <p:spPr>
          <a:xfrm>
            <a:off x="4389120" y="1371600"/>
            <a:ext cx="3291840" cy="475488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00">
                <a:solidFill>
                  <a:srgbClr val="0F172A"/>
                </a:solidFill>
                <a:latin typeface="Arial"/>
              </a:rPr>
              <a:t>OPERATOR (TIM LIVE) </a:t>
            </a:r>
          </a:p>
          <a:p>
            <a:pPr>
              <a:spcAft>
                <a:spcPts val="400"/>
              </a:spcAft>
            </a:pPr>
            <a:r>
              <a:rPr b="1" sz="1000">
                <a:solidFill>
                  <a:srgbClr val="0F172A"/>
                </a:solidFill>
                <a:latin typeface="Arial"/>
              </a:rPr>
              <a:t>• Target Handover: </a:t>
            </a:r>
            <a:r>
              <a:rPr b="0" sz="1000">
                <a:solidFill>
                  <a:srgbClr val="475569"/>
                </a:solidFill>
                <a:latin typeface="Arial"/>
              </a:rPr>
              <a:t>Menerima video yang telah Approved untuk ditayangkan saat live streaming.</a:t>
            </a:r>
          </a:p>
          <a:p>
            <a:pPr>
              <a:spcAft>
                <a:spcPts val="400"/>
              </a:spcAft>
            </a:pPr>
            <a:r>
              <a:rPr b="1" sz="1000">
                <a:solidFill>
                  <a:srgbClr val="0F172A"/>
                </a:solidFill>
                <a:latin typeface="Arial"/>
              </a:rPr>
              <a:t>• Unduh Aset: </a:t>
            </a:r>
            <a:r>
              <a:rPr b="0" sz="1000">
                <a:solidFill>
                  <a:srgbClr val="475569"/>
                </a:solidFill>
                <a:latin typeface="Arial"/>
              </a:rPr>
              <a:t>Mengunduh file render resolusi tinggi dari link output.</a:t>
            </a:r>
          </a:p>
          <a:p>
            <a:pPr>
              <a:spcAft>
                <a:spcPts val="400"/>
              </a:spcAft>
            </a:pPr>
            <a:r>
              <a:rPr b="1" sz="1000">
                <a:solidFill>
                  <a:srgbClr val="0F172A"/>
                </a:solidFill>
                <a:latin typeface="Arial"/>
              </a:rPr>
              <a:t>• Broadcast Ready: </a:t>
            </a:r>
            <a:r>
              <a:rPr b="0" sz="1000">
                <a:solidFill>
                  <a:srgbClr val="475569"/>
                </a:solidFill>
                <a:latin typeface="Arial"/>
              </a:rPr>
              <a:t>Menandai status tugas menjadi Completed.</a:t>
            </a:r>
          </a:p>
        </p:txBody>
      </p:sp>
      <p:sp>
        <p:nvSpPr>
          <p:cNvPr id="7" name="Rounded Rectangle 6"/>
          <p:cNvSpPr/>
          <p:nvPr/>
        </p:nvSpPr>
        <p:spPr>
          <a:xfrm>
            <a:off x="8046720" y="1371600"/>
            <a:ext cx="3291840" cy="4754880"/>
          </a:xfrm>
          <a:prstGeom prst="roundRect">
            <a:avLst/>
          </a:prstGeom>
          <a:solidFill>
            <a:srgbClr val="F8FAFC"/>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00">
                <a:solidFill>
                  <a:srgbClr val="0F172A"/>
                </a:solidFill>
                <a:latin typeface="Arial"/>
              </a:rPr>
              <a:t>SYSTEM ADMIN </a:t>
            </a:r>
          </a:p>
          <a:p>
            <a:pPr>
              <a:spcAft>
                <a:spcPts val="400"/>
              </a:spcAft>
            </a:pPr>
            <a:r>
              <a:rPr b="1" sz="1000">
                <a:solidFill>
                  <a:srgbClr val="0F172A"/>
                </a:solidFill>
                <a:latin typeface="Arial"/>
              </a:rPr>
              <a:t>• Kontrol Penuh: </a:t>
            </a:r>
            <a:r>
              <a:rPr b="0" sz="1000">
                <a:solidFill>
                  <a:srgbClr val="475569"/>
                </a:solidFill>
                <a:latin typeface="Arial"/>
              </a:rPr>
              <a:t>Mengatur seluruh konfigurasi sistem.</a:t>
            </a:r>
          </a:p>
          <a:p>
            <a:pPr>
              <a:spcAft>
                <a:spcPts val="400"/>
              </a:spcAft>
            </a:pPr>
            <a:r>
              <a:rPr b="1" sz="1000">
                <a:solidFill>
                  <a:srgbClr val="0F172A"/>
                </a:solidFill>
                <a:latin typeface="Arial"/>
              </a:rPr>
              <a:t>• Master Data: </a:t>
            </a:r>
            <a:r>
              <a:rPr b="0" sz="1000">
                <a:solidFill>
                  <a:srgbClr val="475569"/>
                </a:solidFill>
                <a:latin typeface="Arial"/>
              </a:rPr>
              <a:t>Kelola Pengguna, Klien, Format Konten &amp; Kalender Libur.</a:t>
            </a:r>
          </a:p>
          <a:p>
            <a:pPr>
              <a:spcAft>
                <a:spcPts val="400"/>
              </a:spcAft>
            </a:pPr>
            <a:r>
              <a:rPr b="1" sz="1000">
                <a:solidFill>
                  <a:srgbClr val="0F172A"/>
                </a:solidFill>
                <a:latin typeface="Arial"/>
              </a:rPr>
              <a:t>• Audit Trail: </a:t>
            </a:r>
            <a:r>
              <a:rPr b="0" sz="1000">
                <a:solidFill>
                  <a:srgbClr val="475569"/>
                </a:solidFill>
                <a:latin typeface="Arial"/>
              </a:rPr>
              <a:t>Investigasi aktivitas sistem.</a:t>
            </a:r>
          </a:p>
          <a:p>
            <a:pPr>
              <a:spcAft>
                <a:spcPts val="400"/>
              </a:spcAft>
            </a:pPr>
            <a:r>
              <a:rPr b="1" sz="1000">
                <a:solidFill>
                  <a:srgbClr val="0F172A"/>
                </a:solidFill>
                <a:latin typeface="Arial"/>
              </a:rPr>
              <a:t>• Override Privileges: </a:t>
            </a:r>
            <a:r>
              <a:rPr b="0" sz="1000">
                <a:solidFill>
                  <a:srgbClr val="475569"/>
                </a:solidFill>
                <a:latin typeface="Arial"/>
              </a:rPr>
              <a:t>Otoritas modifikasi darurat.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SKENARIO PRAKTIS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Skenario Nyata 1 &amp; 2: Pembuatan Request &amp; Revisi</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43</a:t>
            </a:r>
          </a:p>
        </p:txBody>
      </p:sp>
      <p:sp>
        <p:nvSpPr>
          <p:cNvPr id="5" name="Rounded Rectangle 4"/>
          <p:cNvSpPr/>
          <p:nvPr/>
        </p:nvSpPr>
        <p:spPr>
          <a:xfrm>
            <a:off x="731520" y="1371600"/>
            <a:ext cx="5120640" cy="4754880"/>
          </a:xfrm>
          <a:prstGeom prst="roundRect">
            <a:avLst/>
          </a:prstGeom>
          <a:solidFill>
            <a:srgbClr val="F8FAFC"/>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50">
                <a:solidFill>
                  <a:srgbClr val="0F172A"/>
                </a:solidFill>
                <a:latin typeface="Arial"/>
              </a:rPr>
              <a:t>SKENARIO 1: Pengajuan Tiket Desain Baru </a:t>
            </a:r>
          </a:p>
          <a:p>
            <a:pPr>
              <a:spcAft>
                <a:spcPts val="400"/>
              </a:spcAft>
            </a:pPr>
            <a:r>
              <a:rPr b="1" sz="1050">
                <a:solidFill>
                  <a:srgbClr val="0F172A"/>
                </a:solidFill>
                <a:latin typeface="Arial"/>
              </a:rPr>
              <a:t>• Situasi: </a:t>
            </a:r>
            <a:r>
              <a:rPr b="0" sz="1050">
                <a:solidFill>
                  <a:srgbClr val="475569"/>
                </a:solidFill>
                <a:latin typeface="Arial"/>
              </a:rPr>
              <a:t>AE Sarah ingin membuat permintaan 3 banner promo untuk klien KOSE Cosmeport dengan tenggat 4 hari kerja.</a:t>
            </a:r>
          </a:p>
          <a:p>
            <a:pPr>
              <a:spcAft>
                <a:spcPts val="400"/>
              </a:spcAft>
            </a:pPr>
            <a:r>
              <a:rPr b="1" sz="1050">
                <a:solidFill>
                  <a:srgbClr val="0F172A"/>
                </a:solidFill>
                <a:latin typeface="Arial"/>
              </a:rPr>
              <a:t>• Langkah Eksekusi: </a:t>
            </a:r>
          </a:p>
          <a:p>
            <a:pPr>
              <a:spcAft>
                <a:spcPts val="400"/>
              </a:spcAft>
            </a:pPr>
            <a:r>
              <a:rPr b="0" sz="1050">
                <a:solidFill>
                  <a:srgbClr val="475569"/>
                </a:solidFill>
                <a:latin typeface="Arial"/>
              </a:rPr>
              <a:t>   1. Sarah login sebagai Requester.</a:t>
            </a:r>
          </a:p>
          <a:p>
            <a:pPr>
              <a:spcAft>
                <a:spcPts val="400"/>
              </a:spcAft>
            </a:pPr>
            <a:r>
              <a:rPr b="0" sz="1050">
                <a:solidFill>
                  <a:srgbClr val="475569"/>
                </a:solidFill>
                <a:latin typeface="Arial"/>
              </a:rPr>
              <a:t>   2. Buka Task Management ➔ Klik '+ New Task'.</a:t>
            </a:r>
          </a:p>
          <a:p>
            <a:pPr>
              <a:spcAft>
                <a:spcPts val="400"/>
              </a:spcAft>
            </a:pPr>
            <a:r>
              <a:rPr b="0" sz="1050">
                <a:solidFill>
                  <a:srgbClr val="475569"/>
                </a:solidFill>
                <a:latin typeface="Arial"/>
              </a:rPr>
              <a:t>   3. Pilih Brand KOSE, Tipe Web Banner, Qty 3, Due Date 4 hari ke depan.</a:t>
            </a:r>
          </a:p>
          <a:p>
            <a:pPr>
              <a:spcAft>
                <a:spcPts val="400"/>
              </a:spcAft>
            </a:pPr>
            <a:r>
              <a:rPr b="0" sz="1050">
                <a:solidFill>
                  <a:srgbClr val="475569"/>
                </a:solidFill>
                <a:latin typeface="Arial"/>
              </a:rPr>
              <a:t>   4. Klik 'Create Task'.</a:t>
            </a:r>
          </a:p>
          <a:p>
            <a:pPr>
              <a:spcAft>
                <a:spcPts val="400"/>
              </a:spcAft>
            </a:pPr>
            <a:r>
              <a:rPr b="1" sz="1050">
                <a:solidFill>
                  <a:srgbClr val="0F172A"/>
                </a:solidFill>
                <a:latin typeface="Arial"/>
              </a:rPr>
              <a:t>• Hasil yang Diharapkan: </a:t>
            </a:r>
            <a:r>
              <a:rPr b="0" sz="1050">
                <a:solidFill>
                  <a:srgbClr val="475569"/>
                </a:solidFill>
                <a:latin typeface="Arial"/>
              </a:rPr>
              <a:t>Tiket terbit dengan kode REQ-2026-xxx berstatus Unassigned dan Team Lead menerima notifikasi untuk penugasan.</a:t>
            </a:r>
          </a:p>
        </p:txBody>
      </p:sp>
      <p:sp>
        <p:nvSpPr>
          <p:cNvPr id="6" name="Rounded Rectangle 5"/>
          <p:cNvSpPr/>
          <p:nvPr/>
        </p:nvSpPr>
        <p:spPr>
          <a:xfrm>
            <a:off x="6217920" y="1371600"/>
            <a:ext cx="5120640" cy="475488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50">
                <a:solidFill>
                  <a:srgbClr val="0F172A"/>
                </a:solidFill>
                <a:latin typeface="Arial"/>
              </a:rPr>
              <a:t>SKENARIO 2: Penanganan Permintaan Revisi </a:t>
            </a:r>
          </a:p>
          <a:p>
            <a:pPr>
              <a:spcAft>
                <a:spcPts val="400"/>
              </a:spcAft>
            </a:pPr>
            <a:r>
              <a:rPr b="1" sz="1050">
                <a:solidFill>
                  <a:srgbClr val="0F172A"/>
                </a:solidFill>
                <a:latin typeface="Arial"/>
              </a:rPr>
              <a:t>• Situasi: </a:t>
            </a:r>
            <a:r>
              <a:rPr b="0" sz="1050">
                <a:solidFill>
                  <a:srgbClr val="475569"/>
                </a:solidFill>
                <a:latin typeface="Arial"/>
              </a:rPr>
              <a:t>Desain telah disubmit oleh Nadya, namun Requester melihat ada kesalahan penulisan promo (typo).</a:t>
            </a:r>
          </a:p>
          <a:p>
            <a:pPr>
              <a:spcAft>
                <a:spcPts val="400"/>
              </a:spcAft>
            </a:pPr>
            <a:r>
              <a:rPr b="1" sz="1050">
                <a:solidFill>
                  <a:srgbClr val="0F172A"/>
                </a:solidFill>
                <a:latin typeface="Arial"/>
              </a:rPr>
              <a:t>• Langkah Eksekusi: </a:t>
            </a:r>
          </a:p>
          <a:p>
            <a:pPr>
              <a:spcAft>
                <a:spcPts val="400"/>
              </a:spcAft>
            </a:pPr>
            <a:r>
              <a:rPr b="0" sz="1050">
                <a:solidFill>
                  <a:srgbClr val="475569"/>
                </a:solidFill>
                <a:latin typeface="Arial"/>
              </a:rPr>
              <a:t>   1. Requester membuka detail tugas di kolom Submitted.</a:t>
            </a:r>
          </a:p>
          <a:p>
            <a:pPr>
              <a:spcAft>
                <a:spcPts val="400"/>
              </a:spcAft>
            </a:pPr>
            <a:r>
              <a:rPr b="0" sz="1050">
                <a:solidFill>
                  <a:srgbClr val="475569"/>
                </a:solidFill>
                <a:latin typeface="Arial"/>
              </a:rPr>
              <a:t>   2. Klik tombol 'Request Revision'.</a:t>
            </a:r>
          </a:p>
          <a:p>
            <a:pPr>
              <a:spcAft>
                <a:spcPts val="400"/>
              </a:spcAft>
            </a:pPr>
            <a:r>
              <a:rPr b="0" sz="1050">
                <a:solidFill>
                  <a:srgbClr val="475569"/>
                </a:solidFill>
                <a:latin typeface="Arial"/>
              </a:rPr>
              <a:t>   3. Pilih kategori 'Copywriting / Text' dan ketik catatan koreksi.</a:t>
            </a:r>
          </a:p>
          <a:p>
            <a:pPr>
              <a:spcAft>
                <a:spcPts val="400"/>
              </a:spcAft>
            </a:pPr>
            <a:r>
              <a:rPr b="0" sz="1050">
                <a:solidFill>
                  <a:srgbClr val="475569"/>
                </a:solidFill>
                <a:latin typeface="Arial"/>
              </a:rPr>
              <a:t>   4. Nadya menerima notifikasi revisi, membuka link Drive, memperbaiki teks, lalu klik 'Submit Output'.</a:t>
            </a:r>
          </a:p>
          <a:p>
            <a:pPr>
              <a:spcAft>
                <a:spcPts val="400"/>
              </a:spcAft>
            </a:pPr>
            <a:r>
              <a:rPr b="1" sz="1050">
                <a:solidFill>
                  <a:srgbClr val="0F172A"/>
                </a:solidFill>
                <a:latin typeface="Arial"/>
              </a:rPr>
              <a:t>• Hasil yang Diharapkan: </a:t>
            </a:r>
            <a:r>
              <a:rPr b="0" sz="1050">
                <a:solidFill>
                  <a:srgbClr val="475569"/>
                </a:solidFill>
                <a:latin typeface="Arial"/>
              </a:rPr>
              <a:t>Status kembali ke Submitted dan riwayat revisi tercatat di modal.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SKENARIO PRAKTIS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Skenario Nyata 3 &amp; 4: Penugasan &amp; Komunikasi Chat</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44</a:t>
            </a:r>
          </a:p>
        </p:txBody>
      </p:sp>
      <p:sp>
        <p:nvSpPr>
          <p:cNvPr id="5" name="Rounded Rectangle 4"/>
          <p:cNvSpPr/>
          <p:nvPr/>
        </p:nvSpPr>
        <p:spPr>
          <a:xfrm>
            <a:off x="731520" y="1371600"/>
            <a:ext cx="5120640" cy="47548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50">
                <a:solidFill>
                  <a:srgbClr val="0F172A"/>
                </a:solidFill>
                <a:latin typeface="Arial"/>
              </a:rPr>
              <a:t>SKENARIO 3: Penugasan Beban Kerja Seimbang </a:t>
            </a:r>
          </a:p>
          <a:p>
            <a:pPr>
              <a:spcAft>
                <a:spcPts val="400"/>
              </a:spcAft>
            </a:pPr>
            <a:r>
              <a:rPr b="1" sz="1050">
                <a:solidFill>
                  <a:srgbClr val="0F172A"/>
                </a:solidFill>
                <a:latin typeface="Arial"/>
              </a:rPr>
              <a:t>• Situasi: </a:t>
            </a:r>
            <a:r>
              <a:rPr b="0" sz="1050">
                <a:solidFill>
                  <a:srgbClr val="475569"/>
                </a:solidFill>
                <a:latin typeface="Arial"/>
              </a:rPr>
              <a:t>Team Lead Alfie ingin menugaskan tiket bernilai Medium (3.5 poin).</a:t>
            </a:r>
          </a:p>
          <a:p>
            <a:pPr>
              <a:spcAft>
                <a:spcPts val="400"/>
              </a:spcAft>
            </a:pPr>
            <a:r>
              <a:rPr b="1" sz="1050">
                <a:solidFill>
                  <a:srgbClr val="0F172A"/>
                </a:solidFill>
                <a:latin typeface="Arial"/>
              </a:rPr>
              <a:t>• Langkah Eksekusi: </a:t>
            </a:r>
          </a:p>
          <a:p>
            <a:pPr>
              <a:spcAft>
                <a:spcPts val="400"/>
              </a:spcAft>
            </a:pPr>
            <a:r>
              <a:rPr b="0" sz="1050">
                <a:solidFill>
                  <a:srgbClr val="475569"/>
                </a:solidFill>
                <a:latin typeface="Arial"/>
              </a:rPr>
              <a:t>   1. Alfie membuka Workload &amp; Capacity untuk melihat sisa poin harian tim.</a:t>
            </a:r>
          </a:p>
          <a:p>
            <a:pPr>
              <a:spcAft>
                <a:spcPts val="400"/>
              </a:spcAft>
            </a:pPr>
            <a:r>
              <a:rPr b="0" sz="1050">
                <a:solidFill>
                  <a:srgbClr val="475569"/>
                </a:solidFill>
                <a:latin typeface="Arial"/>
              </a:rPr>
              <a:t>   2. Terlihat Nadya sudah 5.5 poin (mendekati batas), sedangkan Yusuf masih 2.0 poin.</a:t>
            </a:r>
          </a:p>
          <a:p>
            <a:pPr>
              <a:spcAft>
                <a:spcPts val="400"/>
              </a:spcAft>
            </a:pPr>
            <a:r>
              <a:rPr b="0" sz="1050">
                <a:solidFill>
                  <a:srgbClr val="475569"/>
                </a:solidFill>
                <a:latin typeface="Arial"/>
              </a:rPr>
              <a:t>   3. Alfie membuka Task Management ➔ Klik Assign ➔ Pilih Yusuf Pratama.</a:t>
            </a:r>
          </a:p>
          <a:p>
            <a:pPr>
              <a:spcAft>
                <a:spcPts val="400"/>
              </a:spcAft>
            </a:pPr>
            <a:r>
              <a:rPr b="1" sz="1050">
                <a:solidFill>
                  <a:srgbClr val="0F172A"/>
                </a:solidFill>
                <a:latin typeface="Arial"/>
              </a:rPr>
              <a:t>• Hasil yang Diharapkan: </a:t>
            </a:r>
            <a:r>
              <a:rPr b="0" sz="1050">
                <a:solidFill>
                  <a:srgbClr val="475569"/>
                </a:solidFill>
                <a:latin typeface="Arial"/>
              </a:rPr>
              <a:t>Beban kerja tim tetap seimbang tanpa memicu alarm overload.</a:t>
            </a:r>
          </a:p>
        </p:txBody>
      </p:sp>
      <p:sp>
        <p:nvSpPr>
          <p:cNvPr id="6" name="Rounded Rectangle 5"/>
          <p:cNvSpPr/>
          <p:nvPr/>
        </p:nvSpPr>
        <p:spPr>
          <a:xfrm>
            <a:off x="6217920" y="1371600"/>
            <a:ext cx="5120640" cy="4754880"/>
          </a:xfrm>
          <a:prstGeom prst="roundRect">
            <a:avLst/>
          </a:prstGeom>
          <a:solidFill>
            <a:srgbClr val="F8FAFC"/>
          </a:solidFill>
          <a:ln w="19050">
            <a:solidFill>
              <a:srgbClr val="DB277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50">
                <a:solidFill>
                  <a:srgbClr val="0F172A"/>
                </a:solidFill>
                <a:latin typeface="Arial"/>
              </a:rPr>
              <a:t>SKENARIO 4: Klarifikasi Cepat Melalui Chat </a:t>
            </a:r>
          </a:p>
          <a:p>
            <a:pPr>
              <a:spcAft>
                <a:spcPts val="400"/>
              </a:spcAft>
            </a:pPr>
            <a:r>
              <a:rPr b="1" sz="1050">
                <a:solidFill>
                  <a:srgbClr val="0F172A"/>
                </a:solidFill>
                <a:latin typeface="Arial"/>
              </a:rPr>
              <a:t>• Situasi: </a:t>
            </a:r>
            <a:r>
              <a:rPr b="0" sz="1050">
                <a:solidFill>
                  <a:srgbClr val="475569"/>
                </a:solidFill>
                <a:latin typeface="Arial"/>
              </a:rPr>
              <a:t>Desainer butuh logo format PNG transparan dari Requester.</a:t>
            </a:r>
          </a:p>
          <a:p>
            <a:pPr>
              <a:spcAft>
                <a:spcPts val="400"/>
              </a:spcAft>
            </a:pPr>
            <a:r>
              <a:rPr b="1" sz="1050">
                <a:solidFill>
                  <a:srgbClr val="0F172A"/>
                </a:solidFill>
                <a:latin typeface="Arial"/>
              </a:rPr>
              <a:t>• Langkah Eksekusi: </a:t>
            </a:r>
          </a:p>
          <a:p>
            <a:pPr>
              <a:spcAft>
                <a:spcPts val="400"/>
              </a:spcAft>
            </a:pPr>
            <a:r>
              <a:rPr b="0" sz="1050">
                <a:solidFill>
                  <a:srgbClr val="475569"/>
                </a:solidFill>
                <a:latin typeface="Arial"/>
              </a:rPr>
              <a:t>   1. Desainer membuka Task Detail ➔ Tab Discussion / Chat.</a:t>
            </a:r>
          </a:p>
          <a:p>
            <a:pPr>
              <a:spcAft>
                <a:spcPts val="400"/>
              </a:spcAft>
            </a:pPr>
            <a:r>
              <a:rPr b="0" sz="1050">
                <a:solidFill>
                  <a:srgbClr val="475569"/>
                </a:solidFill>
                <a:latin typeface="Arial"/>
              </a:rPr>
              <a:t>   2. Mengetik pesan permintaan logo berserta link Drive referensi.</a:t>
            </a:r>
          </a:p>
          <a:p>
            <a:pPr>
              <a:spcAft>
                <a:spcPts val="400"/>
              </a:spcAft>
            </a:pPr>
            <a:r>
              <a:rPr b="0" sz="1050">
                <a:solidFill>
                  <a:srgbClr val="475569"/>
                </a:solidFill>
                <a:latin typeface="Arial"/>
              </a:rPr>
              <a:t>   3. Requester menerima lonceng notifikasi dan membalas langsung di dalam thread.</a:t>
            </a:r>
          </a:p>
          <a:p>
            <a:pPr>
              <a:spcAft>
                <a:spcPts val="400"/>
              </a:spcAft>
            </a:pPr>
            <a:r>
              <a:rPr b="1" sz="1050">
                <a:solidFill>
                  <a:srgbClr val="0F172A"/>
                </a:solidFill>
                <a:latin typeface="Arial"/>
              </a:rPr>
              <a:t>• Hasil yang Diharapkan: </a:t>
            </a:r>
            <a:r>
              <a:rPr b="0" sz="1050">
                <a:solidFill>
                  <a:srgbClr val="475569"/>
                </a:solidFill>
                <a:latin typeface="Arial"/>
              </a:rPr>
              <a:t>Seluruh riwayat obrolan tersimpan rapi di tiket terkait tanpa tercecer di aplikasi chat eksternal.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SKENARIO PRAKTIS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Skenario Nyata 5 &amp; 6: Handover Video &amp; Penelusuran Arsip</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45</a:t>
            </a:r>
          </a:p>
        </p:txBody>
      </p:sp>
      <p:sp>
        <p:nvSpPr>
          <p:cNvPr id="5" name="Rounded Rectangle 4"/>
          <p:cNvSpPr/>
          <p:nvPr/>
        </p:nvSpPr>
        <p:spPr>
          <a:xfrm>
            <a:off x="731520" y="1371600"/>
            <a:ext cx="5120640" cy="4754880"/>
          </a:xfrm>
          <a:prstGeom prst="roundRect">
            <a:avLst/>
          </a:prstGeom>
          <a:solidFill>
            <a:srgbClr val="F8FAFC"/>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50">
                <a:solidFill>
                  <a:srgbClr val="0F172A"/>
                </a:solidFill>
                <a:latin typeface="Arial"/>
              </a:rPr>
              <a:t>SKENARIO 5: Handover Video Siap Siar ke Operator </a:t>
            </a:r>
          </a:p>
          <a:p>
            <a:pPr>
              <a:spcAft>
                <a:spcPts val="400"/>
              </a:spcAft>
            </a:pPr>
            <a:r>
              <a:rPr b="1" sz="1050">
                <a:solidFill>
                  <a:srgbClr val="0F172A"/>
                </a:solidFill>
                <a:latin typeface="Arial"/>
              </a:rPr>
              <a:t>• Situasi: </a:t>
            </a:r>
            <a:r>
              <a:rPr b="0" sz="1050">
                <a:solidFill>
                  <a:srgbClr val="475569"/>
                </a:solidFill>
                <a:latin typeface="Arial"/>
              </a:rPr>
              <a:t>Video animasi promo BaU Shopee telah disetujui (Approved) dan harus disiarkan dalam live streaming malam ini.</a:t>
            </a:r>
          </a:p>
          <a:p>
            <a:pPr>
              <a:spcAft>
                <a:spcPts val="400"/>
              </a:spcAft>
            </a:pPr>
            <a:r>
              <a:rPr b="1" sz="1050">
                <a:solidFill>
                  <a:srgbClr val="0F172A"/>
                </a:solidFill>
                <a:latin typeface="Arial"/>
              </a:rPr>
              <a:t>• Langkah Eksekusi: </a:t>
            </a:r>
          </a:p>
          <a:p>
            <a:pPr>
              <a:spcAft>
                <a:spcPts val="400"/>
              </a:spcAft>
            </a:pPr>
            <a:r>
              <a:rPr b="0" sz="1050">
                <a:solidFill>
                  <a:srgbClr val="475569"/>
                </a:solidFill>
                <a:latin typeface="Arial"/>
              </a:rPr>
              <a:t>   1. Team Lead membuka Motion Pipeline ➔ Kolom Approved.</a:t>
            </a:r>
          </a:p>
          <a:p>
            <a:pPr>
              <a:spcAft>
                <a:spcPts val="400"/>
              </a:spcAft>
            </a:pPr>
            <a:r>
              <a:rPr b="0" sz="1050">
                <a:solidFill>
                  <a:srgbClr val="475569"/>
                </a:solidFill>
                <a:latin typeface="Arial"/>
              </a:rPr>
              <a:t>   2. Klik 'Handover' ➔ Pilih 'Sam Operator'.</a:t>
            </a:r>
          </a:p>
          <a:p>
            <a:pPr>
              <a:spcAft>
                <a:spcPts val="400"/>
              </a:spcAft>
            </a:pPr>
            <a:r>
              <a:rPr b="0" sz="1050">
                <a:solidFill>
                  <a:srgbClr val="475569"/>
                </a:solidFill>
                <a:latin typeface="Arial"/>
              </a:rPr>
              <a:t>   3. Sam Operator membuka detail tugas, mengunduh file video render dari link output, lalu menandai Completed.</a:t>
            </a:r>
          </a:p>
          <a:p>
            <a:pPr>
              <a:spcAft>
                <a:spcPts val="400"/>
              </a:spcAft>
            </a:pPr>
            <a:r>
              <a:rPr b="1" sz="1050">
                <a:solidFill>
                  <a:srgbClr val="0F172A"/>
                </a:solidFill>
                <a:latin typeface="Arial"/>
              </a:rPr>
              <a:t>• Hasil yang Diharapkan: </a:t>
            </a:r>
            <a:r>
              <a:rPr b="0" sz="1050">
                <a:solidFill>
                  <a:srgbClr val="475569"/>
                </a:solidFill>
                <a:latin typeface="Arial"/>
              </a:rPr>
              <a:t>Video siap siar dan status akhir menjadi Completed.</a:t>
            </a:r>
          </a:p>
        </p:txBody>
      </p:sp>
      <p:sp>
        <p:nvSpPr>
          <p:cNvPr id="6" name="Rounded Rectangle 5"/>
          <p:cNvSpPr/>
          <p:nvPr/>
        </p:nvSpPr>
        <p:spPr>
          <a:xfrm>
            <a:off x="6217920" y="1371600"/>
            <a:ext cx="5120640" cy="4754880"/>
          </a:xfrm>
          <a:prstGeom prst="roundRect">
            <a:avLst/>
          </a:prstGeom>
          <a:solidFill>
            <a:srgbClr val="F8FAFC"/>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050">
                <a:solidFill>
                  <a:srgbClr val="0F172A"/>
                </a:solidFill>
                <a:latin typeface="Arial"/>
              </a:rPr>
              <a:t>SKENARIO 6: Mencari Aset Desain Bulan Lalu </a:t>
            </a:r>
          </a:p>
          <a:p>
            <a:pPr>
              <a:spcAft>
                <a:spcPts val="400"/>
              </a:spcAft>
            </a:pPr>
            <a:r>
              <a:rPr b="1" sz="1050">
                <a:solidFill>
                  <a:srgbClr val="0F172A"/>
                </a:solidFill>
                <a:latin typeface="Arial"/>
              </a:rPr>
              <a:t>• Situasi: </a:t>
            </a:r>
            <a:r>
              <a:rPr b="0" sz="1050">
                <a:solidFill>
                  <a:srgbClr val="475569"/>
                </a:solidFill>
                <a:latin typeface="Arial"/>
              </a:rPr>
              <a:t>Manajemen membutuhkan file banner kampanye bulan September 2026 untuk bahan laporan bulanan.</a:t>
            </a:r>
          </a:p>
          <a:p>
            <a:pPr>
              <a:spcAft>
                <a:spcPts val="400"/>
              </a:spcAft>
            </a:pPr>
            <a:r>
              <a:rPr b="1" sz="1050">
                <a:solidFill>
                  <a:srgbClr val="0F172A"/>
                </a:solidFill>
                <a:latin typeface="Arial"/>
              </a:rPr>
              <a:t>• Langkah Eksekusi: </a:t>
            </a:r>
          </a:p>
          <a:p>
            <a:pPr>
              <a:spcAft>
                <a:spcPts val="400"/>
              </a:spcAft>
            </a:pPr>
            <a:r>
              <a:rPr b="0" sz="1050">
                <a:solidFill>
                  <a:srgbClr val="475569"/>
                </a:solidFill>
                <a:latin typeface="Arial"/>
              </a:rPr>
              <a:t>   1. Pengguna membuka Task Management ➔ Approved Archive.</a:t>
            </a:r>
          </a:p>
          <a:p>
            <a:pPr>
              <a:spcAft>
                <a:spcPts val="400"/>
              </a:spcAft>
            </a:pPr>
            <a:r>
              <a:rPr b="0" sz="1050">
                <a:solidFill>
                  <a:srgbClr val="475569"/>
                </a:solidFill>
                <a:latin typeface="Arial"/>
              </a:rPr>
              <a:t>   2. Mengubah dropdown bulan ke 'Sep' dan tahun '2026'.</a:t>
            </a:r>
          </a:p>
          <a:p>
            <a:pPr>
              <a:spcAft>
                <a:spcPts val="400"/>
              </a:spcAft>
            </a:pPr>
            <a:r>
              <a:rPr b="0" sz="1050">
                <a:solidFill>
                  <a:srgbClr val="475569"/>
                </a:solidFill>
                <a:latin typeface="Arial"/>
              </a:rPr>
              <a:t>   3. Ketik nama brand pada kolom pencarian.</a:t>
            </a:r>
          </a:p>
          <a:p>
            <a:pPr>
              <a:spcAft>
                <a:spcPts val="400"/>
              </a:spcAft>
            </a:pPr>
            <a:r>
              <a:rPr b="0" sz="1050">
                <a:solidFill>
                  <a:srgbClr val="475569"/>
                </a:solidFill>
                <a:latin typeface="Arial"/>
              </a:rPr>
              <a:t>   4. Klik kartu yang ditemukan untuk membuka tautan Google Drive.</a:t>
            </a:r>
          </a:p>
          <a:p>
            <a:pPr>
              <a:spcAft>
                <a:spcPts val="400"/>
              </a:spcAft>
            </a:pPr>
            <a:r>
              <a:rPr b="1" sz="1050">
                <a:solidFill>
                  <a:srgbClr val="0F172A"/>
                </a:solidFill>
                <a:latin typeface="Arial"/>
              </a:rPr>
              <a:t>• Hasil yang Diharapkan: </a:t>
            </a:r>
            <a:r>
              <a:rPr b="0" sz="1050">
                <a:solidFill>
                  <a:srgbClr val="475569"/>
                </a:solidFill>
                <a:latin typeface="Arial"/>
              </a:rPr>
              <a:t>Aset lama ditemukan dalam hitungan detik tanpa membuka folder Drive manual.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TROUBLESHOOTING</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Panduan Pemecahan Masalah (Troubleshooting)</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46</a:t>
            </a:r>
          </a:p>
        </p:txBody>
      </p:sp>
      <p:sp>
        <p:nvSpPr>
          <p:cNvPr id="5" name="TextBox 4"/>
          <p:cNvSpPr txBox="1"/>
          <p:nvPr/>
        </p:nvSpPr>
        <p:spPr>
          <a:xfrm>
            <a:off x="731520" y="1280160"/>
            <a:ext cx="10698480" cy="4846320"/>
          </a:xfrm>
          <a:prstGeom prst="rect">
            <a:avLst/>
          </a:prstGeom>
          <a:noFill/>
        </p:spPr>
        <p:txBody>
          <a:bodyPr wrap="square">
            <a:spAutoFit/>
          </a:bodyPr>
          <a:lstStyle/>
          <a:p>
            <a:pPr>
              <a:spcAft>
                <a:spcPts val="600"/>
              </a:spcAft>
            </a:pPr>
            <a:r>
              <a:rPr b="1" sz="1100">
                <a:solidFill>
                  <a:srgbClr val="0F766E"/>
                </a:solidFill>
              </a:rPr>
              <a:t>Kendala yang Sering Terjadi &amp; Solusi Cepat: </a:t>
            </a:r>
          </a:p>
          <a:p>
            <a:pPr>
              <a:spcAft>
                <a:spcPts val="600"/>
              </a:spcAft>
            </a:pPr>
            <a:r>
              <a:rPr b="1" sz="1100">
                <a:solidFill>
                  <a:srgbClr val="0F172A"/>
                </a:solidFill>
              </a:rPr>
              <a:t>1. Tidak Bisa Login / Password Ditolak: </a:t>
            </a:r>
            <a:r>
              <a:rPr sz="1050">
                <a:solidFill>
                  <a:srgbClr val="475569"/>
                </a:solidFill>
              </a:rPr>
              <a:t>Pastikan penulisan email dan password tepat huruf besar/kecilnya. Pada mode demo, gunakan tombol 'Quick Login' peran Anda. Jika status akun 'Pending Activation', hubungi Admin untuk link undangan aktivasi.</a:t>
            </a:r>
          </a:p>
          <a:p>
            <a:pPr>
              <a:spcAft>
                <a:spcPts val="600"/>
              </a:spcAft>
            </a:pPr>
            <a:r>
              <a:rPr b="1" sz="1100">
                <a:solidFill>
                  <a:srgbClr val="0F172A"/>
                </a:solidFill>
              </a:rPr>
              <a:t>2. Kartu Tugas Tidak Muncul di Papan Kerja: </a:t>
            </a:r>
            <a:r>
              <a:rPr sz="1050">
                <a:solidFill>
                  <a:srgbClr val="475569"/>
                </a:solidFill>
              </a:rPr>
              <a:t>Periksa filter toolbar di bagian atas (apakah filter bulan, status, atau desainer sedang aktif menyaring data). Pastikan peran Anda memiliki hak akses melihat tiket tersebut.</a:t>
            </a:r>
          </a:p>
          <a:p>
            <a:pPr>
              <a:spcAft>
                <a:spcPts val="600"/>
              </a:spcAft>
            </a:pPr>
            <a:r>
              <a:rPr b="1" sz="1100">
                <a:solidFill>
                  <a:srgbClr val="0F172A"/>
                </a:solidFill>
              </a:rPr>
              <a:t>3. Durasi SLA Terlihat Terlalu Panjang: </a:t>
            </a:r>
            <a:r>
              <a:rPr sz="1050">
                <a:solidFill>
                  <a:srgbClr val="475569"/>
                </a:solidFill>
              </a:rPr>
              <a:t>Sistem otomatis mengecualikan hari Sabtu, Minggu, dan tanggal merah yang terdaftar di Holiday Calendar. Periksa apakah terdapat hari libur nasional pada rentang pengerjaan tersebut.</a:t>
            </a:r>
          </a:p>
          <a:p>
            <a:pPr>
              <a:spcAft>
                <a:spcPts val="600"/>
              </a:spcAft>
            </a:pPr>
            <a:r>
              <a:rPr b="1" sz="1100">
                <a:solidFill>
                  <a:srgbClr val="0F172A"/>
                </a:solidFill>
              </a:rPr>
              <a:t>4. Tombol Aksi (Approve / Submit) Terkunci: </a:t>
            </a:r>
            <a:r>
              <a:rPr sz="1050">
                <a:solidFill>
                  <a:srgbClr val="475569"/>
                </a:solidFill>
              </a:rPr>
              <a:t>Pastikan tugas berada pada status yang tepat dan role akun Anda memiliki wewenang untuk tahapan tersebut (misal: hanya Requester/Lead yang bisa Approve).</a:t>
            </a:r>
          </a:p>
          <a:p>
            <a:pPr>
              <a:spcAft>
                <a:spcPts val="600"/>
              </a:spcAft>
            </a:pPr>
            <a:r>
              <a:rPr b="1" sz="1100">
                <a:solidFill>
                  <a:srgbClr val="0F172A"/>
                </a:solidFill>
              </a:rPr>
              <a:t>5. Pesan Chat Belum Muncul: </a:t>
            </a:r>
            <a:r>
              <a:rPr sz="1050">
                <a:solidFill>
                  <a:srgbClr val="475569"/>
                </a:solidFill>
              </a:rPr>
              <a:t>Pastikan koneksi internet stabil. Gunakan tombol refresh atau tutup-buka kembali modal detail tiket untuk memuat pembaruan obrolan terbaru.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BEST PRACTICES</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Praktik Terbaik Penggunaan Sistem (Operational Excellence)</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47</a:t>
            </a:r>
          </a:p>
        </p:txBody>
      </p:sp>
      <p:sp>
        <p:nvSpPr>
          <p:cNvPr id="5" name="TextBox 4"/>
          <p:cNvSpPr txBox="1"/>
          <p:nvPr/>
        </p:nvSpPr>
        <p:spPr>
          <a:xfrm>
            <a:off x="731520" y="1280160"/>
            <a:ext cx="10698480" cy="4846320"/>
          </a:xfrm>
          <a:prstGeom prst="rect">
            <a:avLst/>
          </a:prstGeom>
          <a:noFill/>
        </p:spPr>
        <p:txBody>
          <a:bodyPr wrap="square">
            <a:spAutoFit/>
          </a:bodyPr>
          <a:lstStyle/>
          <a:p>
            <a:pPr>
              <a:spcAft>
                <a:spcPts val="800"/>
              </a:spcAft>
            </a:pPr>
            <a:r>
              <a:rPr b="1" sz="1150">
                <a:solidFill>
                  <a:srgbClr val="0D9488"/>
                </a:solidFill>
              </a:rPr>
              <a:t>Panduan Standar Operasional untuk Efisiensi Maksimal: </a:t>
            </a:r>
          </a:p>
          <a:p>
            <a:pPr>
              <a:spcAft>
                <a:spcPts val="800"/>
              </a:spcAft>
            </a:pPr>
            <a:r>
              <a:rPr b="1" sz="1150">
                <a:solidFill>
                  <a:srgbClr val="0F172A"/>
                </a:solidFill>
              </a:rPr>
              <a:t>• Detail Brief yang Jelas: </a:t>
            </a:r>
            <a:r>
              <a:rPr sz="1100">
                <a:solidFill>
                  <a:srgbClr val="475569"/>
                </a:solidFill>
              </a:rPr>
              <a:t>Selalu lampirkan tautan aset mentah, brand guideline, dan referensi visual pada kolom Notes/Diskusi saat membuat tiket baru demi meminimalisir revisi berulang.</a:t>
            </a:r>
          </a:p>
          <a:p>
            <a:pPr>
              <a:spcAft>
                <a:spcPts val="800"/>
              </a:spcAft>
            </a:pPr>
            <a:r>
              <a:rPr b="1" sz="1150">
                <a:solidFill>
                  <a:srgbClr val="0F172A"/>
                </a:solidFill>
              </a:rPr>
              <a:t>• Disiplin Transisi Status: </a:t>
            </a:r>
            <a:r>
              <a:rPr sz="1100">
                <a:solidFill>
                  <a:srgbClr val="475569"/>
                </a:solidFill>
              </a:rPr>
              <a:t>Desainer wajib mengklik 'Start Work' segera saat mulai mengerjakan dan 'Submit Output' tepat setelah unggah Drive agar perhitungan metrik SLA akurat.</a:t>
            </a:r>
          </a:p>
          <a:p>
            <a:pPr>
              <a:spcAft>
                <a:spcPts val="800"/>
              </a:spcAft>
            </a:pPr>
            <a:r>
              <a:rPr b="1" sz="1150">
                <a:solidFill>
                  <a:srgbClr val="0F172A"/>
                </a:solidFill>
              </a:rPr>
              <a:t>• Gunakan In-App Chat untuk Semua Klarifikasi: </a:t>
            </a:r>
            <a:r>
              <a:rPr sz="1100">
                <a:solidFill>
                  <a:srgbClr val="475569"/>
                </a:solidFill>
              </a:rPr>
              <a:t>Hindari instruksi lisan atau chat eksternal yang tidak terdokumentasi; gunakan fitur Discussion pada modal tiket agar seluruh riwayat tersimpan permanen.</a:t>
            </a:r>
          </a:p>
          <a:p>
            <a:pPr>
              <a:spcAft>
                <a:spcPts val="800"/>
              </a:spcAft>
            </a:pPr>
            <a:r>
              <a:rPr b="1" sz="1150">
                <a:solidFill>
                  <a:srgbClr val="0F172A"/>
                </a:solidFill>
              </a:rPr>
              <a:t>• Periksa Beban Tim Sebelum Penugasan: </a:t>
            </a:r>
            <a:r>
              <a:rPr sz="1100">
                <a:solidFill>
                  <a:srgbClr val="475569"/>
                </a:solidFill>
              </a:rPr>
              <a:t>Team Lead harus memprioritaskan desainer dengan sisa kapasitas poin yang memadai untuk mencegah penumpukan tugas dan keterlambatan.</a:t>
            </a:r>
          </a:p>
          <a:p>
            <a:pPr>
              <a:spcAft>
                <a:spcPts val="800"/>
              </a:spcAft>
            </a:pPr>
            <a:r>
              <a:rPr b="1" sz="1150">
                <a:solidFill>
                  <a:srgbClr val="0F172A"/>
                </a:solidFill>
              </a:rPr>
              <a:t>• Verifikasi Hasil Sebelum Approval: </a:t>
            </a:r>
            <a:r>
              <a:rPr sz="1100">
                <a:solidFill>
                  <a:srgbClr val="475569"/>
                </a:solidFill>
              </a:rPr>
              <a:t>Requester wajib membuka tautan Drive dan memeriksa kesesuaian copy/resolusi sebelum menekan tombol Approve.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RINGKASAN</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Lembar Pintas Cepat (Quick Reference Cheat Sheet)</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48</a:t>
            </a:r>
          </a:p>
        </p:txBody>
      </p:sp>
      <p:graphicFrame>
        <p:nvGraphicFramePr>
          <p:cNvPr id="5" name="Table 4"/>
          <p:cNvGraphicFramePr>
            <a:graphicFrameLocks noGrp="1"/>
          </p:cNvGraphicFramePr>
          <p:nvPr/>
        </p:nvGraphicFramePr>
        <p:xfrm>
          <a:off x="731520" y="1280160"/>
          <a:ext cx="10698480" cy="4846320"/>
        </p:xfrm>
        <a:graphic>
          <a:graphicData uri="http://schemas.openxmlformats.org/drawingml/2006/table">
            <a:tbl>
              <a:tblPr firstRow="1" bandRow="1">
                <a:tableStyleId>{5C22544A-7EE6-4342-B048-85BDC9FD1C3A}</a:tableStyleId>
              </a:tblPr>
              <a:tblGrid>
                <a:gridCol w="2560320"/>
                <a:gridCol w="4114800"/>
                <a:gridCol w="4023360"/>
              </a:tblGrid>
              <a:tr h="605790">
                <a:tc>
                  <a:txBody>
                    <a:bodyPr/>
                    <a:lstStyle/>
                    <a:p>
                      <a:pPr>
                        <a:defRPr b="1" sz="1100">
                          <a:solidFill>
                            <a:srgbClr val="0F172A"/>
                          </a:solidFill>
                        </a:defRPr>
                      </a:pPr>
                      <a:r>
                        <a:t>Tindakan / Aksi</a:t>
                      </a:r>
                    </a:p>
                  </a:txBody>
                  <a:tcPr>
                    <a:solidFill>
                      <a:srgbClr val="F1F5F9"/>
                    </a:solidFill>
                  </a:tcPr>
                </a:tc>
                <a:tc>
                  <a:txBody>
                    <a:bodyPr/>
                    <a:lstStyle/>
                    <a:p>
                      <a:pPr>
                        <a:defRPr b="1" sz="1100">
                          <a:solidFill>
                            <a:srgbClr val="0F172A"/>
                          </a:solidFill>
                        </a:defRPr>
                      </a:pPr>
                      <a:r>
                        <a:t>Navigasi &amp; Langkah Singkat</a:t>
                      </a:r>
                    </a:p>
                  </a:txBody>
                  <a:tcPr>
                    <a:solidFill>
                      <a:srgbClr val="F1F5F9"/>
                    </a:solidFill>
                  </a:tcPr>
                </a:tc>
                <a:tc>
                  <a:txBody>
                    <a:bodyPr/>
                    <a:lstStyle/>
                    <a:p>
                      <a:pPr>
                        <a:defRPr b="1" sz="1100">
                          <a:solidFill>
                            <a:srgbClr val="0F172A"/>
                          </a:solidFill>
                        </a:defRPr>
                      </a:pPr>
                      <a:r>
                        <a:t>Role yang Berwenang</a:t>
                      </a:r>
                    </a:p>
                  </a:txBody>
                  <a:tcPr>
                    <a:solidFill>
                      <a:srgbClr val="F1F5F9"/>
                    </a:solidFill>
                  </a:tcPr>
                </a:tc>
              </a:tr>
              <a:tr h="605790">
                <a:tc>
                  <a:txBody>
                    <a:bodyPr/>
                    <a:lstStyle/>
                    <a:p>
                      <a:pPr>
                        <a:defRPr b="1" sz="1000">
                          <a:solidFill>
                            <a:srgbClr val="0F766E"/>
                          </a:solidFill>
                        </a:defRPr>
                      </a:pPr>
                      <a:r>
                        <a:t>Buat Permintaan Baru</a:t>
                      </a:r>
                    </a:p>
                  </a:txBody>
                  <a:tcPr/>
                </a:tc>
                <a:tc>
                  <a:txBody>
                    <a:bodyPr/>
                    <a:lstStyle/>
                    <a:p>
                      <a:pPr>
                        <a:defRPr sz="950">
                          <a:solidFill>
                            <a:srgbClr val="0F172A"/>
                          </a:solidFill>
                        </a:defRPr>
                      </a:pPr>
                      <a:r>
                        <a:t>Task Management ➔ '+ New Task' / Motion ➔ 'Create Request'</a:t>
                      </a:r>
                    </a:p>
                  </a:txBody>
                  <a:tcPr/>
                </a:tc>
                <a:tc>
                  <a:txBody>
                    <a:bodyPr/>
                    <a:lstStyle/>
                    <a:p>
                      <a:pPr>
                        <a:defRPr sz="950">
                          <a:solidFill>
                            <a:srgbClr val="475569"/>
                          </a:solidFill>
                        </a:defRPr>
                      </a:pPr>
                      <a:r>
                        <a:t>Requester, Strategic PIC, Lead, Admin</a:t>
                      </a:r>
                    </a:p>
                  </a:txBody>
                  <a:tcPr/>
                </a:tc>
              </a:tr>
              <a:tr h="605790">
                <a:tc>
                  <a:txBody>
                    <a:bodyPr/>
                    <a:lstStyle/>
                    <a:p>
                      <a:pPr>
                        <a:defRPr b="1" sz="1000">
                          <a:solidFill>
                            <a:srgbClr val="0F766E"/>
                          </a:solidFill>
                        </a:defRPr>
                      </a:pPr>
                      <a:r>
                        <a:t>Tugaskan Desainer (Assign)</a:t>
                      </a:r>
                    </a:p>
                  </a:txBody>
                  <a:tcPr/>
                </a:tc>
                <a:tc>
                  <a:txBody>
                    <a:bodyPr/>
                    <a:lstStyle/>
                    <a:p>
                      <a:pPr>
                        <a:defRPr sz="950">
                          <a:solidFill>
                            <a:srgbClr val="0F172A"/>
                          </a:solidFill>
                        </a:defRPr>
                      </a:pPr>
                      <a:r>
                        <a:t>Pilih kartu Unassigned ➔ Klik 'Assign' ➔ Pilih PIC &amp; Bobot</a:t>
                      </a:r>
                    </a:p>
                  </a:txBody>
                  <a:tcPr/>
                </a:tc>
                <a:tc>
                  <a:txBody>
                    <a:bodyPr/>
                    <a:lstStyle/>
                    <a:p>
                      <a:pPr>
                        <a:defRPr sz="950">
                          <a:solidFill>
                            <a:srgbClr val="475569"/>
                          </a:solidFill>
                        </a:defRPr>
                      </a:pPr>
                      <a:r>
                        <a:t>Team Lead, System Admin</a:t>
                      </a:r>
                    </a:p>
                  </a:txBody>
                  <a:tcPr/>
                </a:tc>
              </a:tr>
              <a:tr h="605790">
                <a:tc>
                  <a:txBody>
                    <a:bodyPr/>
                    <a:lstStyle/>
                    <a:p>
                      <a:pPr>
                        <a:defRPr b="1" sz="1000">
                          <a:solidFill>
                            <a:srgbClr val="0F766E"/>
                          </a:solidFill>
                        </a:defRPr>
                      </a:pPr>
                      <a:r>
                        <a:t>Mulai Pengerjaan</a:t>
                      </a:r>
                    </a:p>
                  </a:txBody>
                  <a:tcPr/>
                </a:tc>
                <a:tc>
                  <a:txBody>
                    <a:bodyPr/>
                    <a:lstStyle/>
                    <a:p>
                      <a:pPr>
                        <a:defRPr sz="950">
                          <a:solidFill>
                            <a:srgbClr val="0F172A"/>
                          </a:solidFill>
                        </a:defRPr>
                      </a:pPr>
                      <a:r>
                        <a:t>Pilih kartu Assigned ➔ Klik 'Start Work' (Play Icon)</a:t>
                      </a:r>
                    </a:p>
                  </a:txBody>
                  <a:tcPr/>
                </a:tc>
                <a:tc>
                  <a:txBody>
                    <a:bodyPr/>
                    <a:lstStyle/>
                    <a:p>
                      <a:pPr>
                        <a:defRPr sz="950">
                          <a:solidFill>
                            <a:srgbClr val="475569"/>
                          </a:solidFill>
                        </a:defRPr>
                      </a:pPr>
                      <a:r>
                        <a:t>Graphic Designer, Motion PIC</a:t>
                      </a:r>
                    </a:p>
                  </a:txBody>
                  <a:tcPr/>
                </a:tc>
              </a:tr>
              <a:tr h="605790">
                <a:tc>
                  <a:txBody>
                    <a:bodyPr/>
                    <a:lstStyle/>
                    <a:p>
                      <a:pPr>
                        <a:defRPr b="1" sz="1000">
                          <a:solidFill>
                            <a:srgbClr val="0F766E"/>
                          </a:solidFill>
                        </a:defRPr>
                      </a:pPr>
                      <a:r>
                        <a:t>Kirim Hasil Desain/Video</a:t>
                      </a:r>
                    </a:p>
                  </a:txBody>
                  <a:tcPr/>
                </a:tc>
                <a:tc>
                  <a:txBody>
                    <a:bodyPr/>
                    <a:lstStyle/>
                    <a:p>
                      <a:pPr>
                        <a:defRPr sz="950">
                          <a:solidFill>
                            <a:srgbClr val="0F172A"/>
                          </a:solidFill>
                        </a:defRPr>
                      </a:pPr>
                      <a:r>
                        <a:t>Pilih kartu In Progress ➔ Klik 'Submit' ➔ Masukkan Link Drive</a:t>
                      </a:r>
                    </a:p>
                  </a:txBody>
                  <a:tcPr/>
                </a:tc>
                <a:tc>
                  <a:txBody>
                    <a:bodyPr/>
                    <a:lstStyle/>
                    <a:p>
                      <a:pPr>
                        <a:defRPr sz="950">
                          <a:solidFill>
                            <a:srgbClr val="475569"/>
                          </a:solidFill>
                        </a:defRPr>
                      </a:pPr>
                      <a:r>
                        <a:t>Graphic Designer, Motion PIC</a:t>
                      </a:r>
                    </a:p>
                  </a:txBody>
                  <a:tcPr/>
                </a:tc>
              </a:tr>
              <a:tr h="605790">
                <a:tc>
                  <a:txBody>
                    <a:bodyPr/>
                    <a:lstStyle/>
                    <a:p>
                      <a:pPr>
                        <a:defRPr b="1" sz="1000">
                          <a:solidFill>
                            <a:srgbClr val="0F766E"/>
                          </a:solidFill>
                        </a:defRPr>
                      </a:pPr>
                      <a:r>
                        <a:t>Review &amp; Persetujuan</a:t>
                      </a:r>
                    </a:p>
                  </a:txBody>
                  <a:tcPr/>
                </a:tc>
                <a:tc>
                  <a:txBody>
                    <a:bodyPr/>
                    <a:lstStyle/>
                    <a:p>
                      <a:pPr>
                        <a:defRPr sz="950">
                          <a:solidFill>
                            <a:srgbClr val="0F172A"/>
                          </a:solidFill>
                        </a:defRPr>
                      </a:pPr>
                      <a:r>
                        <a:t>Pilih kartu Submitted ➔ Klik 'Approve' atau 'Request Revision'</a:t>
                      </a:r>
                    </a:p>
                  </a:txBody>
                  <a:tcPr/>
                </a:tc>
                <a:tc>
                  <a:txBody>
                    <a:bodyPr/>
                    <a:lstStyle/>
                    <a:p>
                      <a:pPr>
                        <a:defRPr sz="950">
                          <a:solidFill>
                            <a:srgbClr val="475569"/>
                          </a:solidFill>
                        </a:defRPr>
                      </a:pPr>
                      <a:r>
                        <a:t>Requester, Team Lead, Admin</a:t>
                      </a:r>
                    </a:p>
                  </a:txBody>
                  <a:tcPr/>
                </a:tc>
              </a:tr>
              <a:tr h="605790">
                <a:tc>
                  <a:txBody>
                    <a:bodyPr/>
                    <a:lstStyle/>
                    <a:p>
                      <a:pPr>
                        <a:defRPr b="1" sz="1000">
                          <a:solidFill>
                            <a:srgbClr val="0F766E"/>
                          </a:solidFill>
                        </a:defRPr>
                      </a:pPr>
                      <a:r>
                        <a:t>Handover Video ke Operator</a:t>
                      </a:r>
                    </a:p>
                  </a:txBody>
                  <a:tcPr/>
                </a:tc>
                <a:tc>
                  <a:txBody>
                    <a:bodyPr/>
                    <a:lstStyle/>
                    <a:p>
                      <a:pPr>
                        <a:defRPr sz="950">
                          <a:solidFill>
                            <a:srgbClr val="0F172A"/>
                          </a:solidFill>
                        </a:defRPr>
                      </a:pPr>
                      <a:r>
                        <a:t>Motion Pipeline ➔ Kartu Approved ➔ Klik 'Handover'</a:t>
                      </a:r>
                    </a:p>
                  </a:txBody>
                  <a:tcPr/>
                </a:tc>
                <a:tc>
                  <a:txBody>
                    <a:bodyPr/>
                    <a:lstStyle/>
                    <a:p>
                      <a:pPr>
                        <a:defRPr sz="950">
                          <a:solidFill>
                            <a:srgbClr val="475569"/>
                          </a:solidFill>
                        </a:defRPr>
                      </a:pPr>
                      <a:r>
                        <a:t>Team Lead, System Admin</a:t>
                      </a:r>
                    </a:p>
                  </a:txBody>
                  <a:tcPr/>
                </a:tc>
              </a:tr>
              <a:tr h="605790">
                <a:tc>
                  <a:txBody>
                    <a:bodyPr/>
                    <a:lstStyle/>
                    <a:p>
                      <a:pPr>
                        <a:defRPr b="1" sz="1000">
                          <a:solidFill>
                            <a:srgbClr val="0F766E"/>
                          </a:solidFill>
                        </a:defRPr>
                      </a:pPr>
                      <a:r>
                        <a:t>Cari Arsip Selesai</a:t>
                      </a:r>
                    </a:p>
                  </a:txBody>
                  <a:tcPr/>
                </a:tc>
                <a:tc>
                  <a:txBody>
                    <a:bodyPr/>
                    <a:lstStyle/>
                    <a:p>
                      <a:pPr>
                        <a:defRPr sz="950">
                          <a:solidFill>
                            <a:srgbClr val="0F172A"/>
                          </a:solidFill>
                        </a:defRPr>
                      </a:pPr>
                      <a:r>
                        <a:t>Approved Archive ➔ Pilih Bulan &amp; Tahun ➔ Cari / Ekspor CSV</a:t>
                      </a:r>
                    </a:p>
                  </a:txBody>
                  <a:tcPr/>
                </a:tc>
                <a:tc>
                  <a:txBody>
                    <a:bodyPr/>
                    <a:lstStyle/>
                    <a:p>
                      <a:pPr>
                        <a:defRPr sz="950">
                          <a:solidFill>
                            <a:srgbClr val="475569"/>
                          </a:solidFill>
                        </a:defRPr>
                      </a:pPr>
                      <a:r>
                        <a:t>Semua Role Pengguna</a:t>
                      </a:r>
                    </a:p>
                  </a:txBody>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0D9488"/>
                </a:solidFill>
                <a:latin typeface="Arial"/>
              </a:defRPr>
            </a:pPr>
            <a:r>
              <a:t>PENUTUP</a:t>
            </a:r>
          </a:p>
        </p:txBody>
      </p:sp>
      <p:sp>
        <p:nvSpPr>
          <p:cNvPr id="3" name="TextBox 2"/>
          <p:cNvSpPr txBox="1"/>
          <p:nvPr/>
        </p:nvSpPr>
        <p:spPr>
          <a:xfrm>
            <a:off x="731520" y="685800"/>
            <a:ext cx="10698480" cy="548640"/>
          </a:xfrm>
          <a:prstGeom prst="rect">
            <a:avLst/>
          </a:prstGeom>
          <a:noFill/>
        </p:spPr>
        <p:txBody>
          <a:bodyPr wrap="square" lIns="0" tIns="0" rIns="0" bIns="0">
            <a:spAutoFit/>
          </a:bodyPr>
          <a:lstStyle/>
          <a:p>
            <a:pPr>
              <a:defRPr sz="2000" b="1">
                <a:solidFill>
                  <a:srgbClr val="0F172A"/>
                </a:solidFill>
                <a:latin typeface="Arial"/>
              </a:defRPr>
            </a:pPr>
            <a:r>
              <a:t>Penutup &amp; Saluran Dukungan Operasional</a:t>
            </a:r>
          </a:p>
        </p:txBody>
      </p:sp>
      <p:sp>
        <p:nvSpPr>
          <p:cNvPr id="4" name="TextBox 3"/>
          <p:cNvSpPr txBox="1"/>
          <p:nvPr/>
        </p:nvSpPr>
        <p:spPr>
          <a:xfrm>
            <a:off x="10515600" y="6400800"/>
            <a:ext cx="914400" cy="274320"/>
          </a:xfrm>
          <a:prstGeom prst="rect">
            <a:avLst/>
          </a:prstGeom>
          <a:noFill/>
        </p:spPr>
        <p:txBody>
          <a:bodyPr wrap="none" lIns="0" tIns="0" rIns="0" bIns="0">
            <a:spAutoFit/>
          </a:bodyPr>
          <a:lstStyle/>
          <a:p>
            <a:pPr algn="r">
              <a:defRPr sz="1000">
                <a:solidFill>
                  <a:srgbClr val="94A3B8"/>
                </a:solidFill>
                <a:latin typeface="Arial"/>
              </a:defRPr>
            </a:pPr>
            <a:r>
              <a:t>49</a:t>
            </a:r>
          </a:p>
        </p:txBody>
      </p:sp>
      <p:sp>
        <p:nvSpPr>
          <p:cNvPr id="5" name="TextBox 4"/>
          <p:cNvSpPr txBox="1"/>
          <p:nvPr/>
        </p:nvSpPr>
        <p:spPr>
          <a:xfrm>
            <a:off x="1371600" y="1828800"/>
            <a:ext cx="9418320" cy="4114800"/>
          </a:xfrm>
          <a:prstGeom prst="rect">
            <a:avLst/>
          </a:prstGeom>
          <a:noFill/>
        </p:spPr>
        <p:txBody>
          <a:bodyPr wrap="square">
            <a:spAutoFit/>
          </a:bodyPr>
          <a:lstStyle/>
          <a:p>
            <a:pPr algn="ctr">
              <a:spcAft>
                <a:spcPts val="1000"/>
              </a:spcAft>
              <a:defRPr sz="2200" b="1">
                <a:solidFill>
                  <a:srgbClr val="0F172A"/>
                </a:solidFill>
                <a:latin typeface="Arial"/>
              </a:defRPr>
            </a:pPr>
            <a:r>
              <a:t>ERP / Operator Management System (CMOMS)</a:t>
            </a:r>
          </a:p>
          <a:p>
            <a:pPr algn="ctr">
              <a:spcAft>
                <a:spcPts val="2400"/>
              </a:spcAft>
              <a:defRPr sz="1400" b="1">
                <a:solidFill>
                  <a:srgbClr val="0D9488"/>
                </a:solidFill>
                <a:latin typeface="Arial"/>
              </a:defRPr>
            </a:pPr>
            <a:r>
              <a:t>Complete Workflow from Request Creation to Approved Archive</a:t>
            </a:r>
          </a:p>
          <a:p>
            <a:pPr algn="ctr">
              <a:spcAft>
                <a:spcPts val="1600"/>
              </a:spcAft>
              <a:defRPr sz="1200">
                <a:solidFill>
                  <a:srgbClr val="475569"/>
                </a:solidFill>
                <a:latin typeface="Arial"/>
              </a:defRPr>
            </a:pPr>
            <a:r>
              <a:t>Dokumen ini merupakan panduan resmi operasional internal agensi.</a:t>
            </a:r>
            <a:br/>
            <a:r>
              <a:t>Jika Anda mengalami kendala teknis atau memerlukan bantuan eskalasi sistem:</a:t>
            </a:r>
          </a:p>
          <a:p>
            <a:pPr algn="ctr">
              <a:defRPr sz="1100" b="1">
                <a:solidFill>
                  <a:srgbClr val="0F172A"/>
                </a:solidFill>
                <a:latin typeface="Arial"/>
              </a:defRPr>
            </a:pPr>
            <a:r>
              <a:t>📧 Email Dukungan: support@orbiz.id  |  💬 Helpdesk IT: @orbiz-it-ops</a:t>
            </a:r>
            <a:br/>
            <a:r>
              <a:t>Dokumentasi Versi 2.4 • Orbiz Creative Operations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