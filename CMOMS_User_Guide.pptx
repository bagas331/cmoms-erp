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-86" y="-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072865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F172A"/>
                </a:solidFill>
                <a:latin typeface="Arial"/>
              </a:defRPr>
            </a:pPr>
            <a:r>
              <a:t>CMOMS ERP</a:t>
            </a:r>
          </a:p>
          <a:p>
            <a:pPr>
              <a:spcAft>
                <a:spcPts val="1600"/>
              </a:spcAft>
              <a:defRPr sz="2200" b="1">
                <a:solidFill>
                  <a:srgbClr val="2563EB"/>
                </a:solidFill>
                <a:latin typeface="Arial"/>
              </a:defRPr>
            </a:pPr>
            <a:r>
              <a:t>Creative &amp; Motion Operations Management System</a:t>
            </a:r>
          </a:p>
          <a:p>
            <a:pPr>
              <a:spcAft>
                <a:spcPts val="2400"/>
              </a:spcAft>
              <a:defRPr sz="1400">
                <a:solidFill>
                  <a:srgbClr val="475569"/>
                </a:solidFill>
                <a:latin typeface="Arial"/>
              </a:defRPr>
            </a:pPr>
            <a:r>
              <a:t>Buku Panduan Pengguna &amp; Standar Operasional Prosedur (SOP RACI)</a:t>
            </a:r>
            <a:br/>
            <a:r>
              <a:t>Panduan Pelatihan &amp; Manual Operasional Komprehensif Seluruh Divisi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Versi Dokumen: 1.0 (Production Release)  •  Tanggal: Oktober 2026  •  Klasifikasi: Internal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75488"/>
            <a:ext cx="201168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2563EB"/>
                </a:solidFill>
                <a:latin typeface="Arial"/>
              </a:defRPr>
            </a:pPr>
            <a:r>
              <a:t>PENDAHULUAN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47548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CMOMS ERP • Panduan Operasional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Tujuan Dokumen &amp; Target Audiens Panduan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CMOMS ERP v1.0 • Creative &amp; Motion Operations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475569"/>
                </a:solidFill>
                <a:latin typeface="Arial"/>
              </a:defRPr>
            </a:pPr>
            <a:r>
              <a:t>2 / 44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508760"/>
            <a:ext cx="3393338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2563EB"/>
                </a:solidFill>
                <a:latin typeface="Arial"/>
              </a:defRPr>
            </a:pPr>
            <a:r>
              <a:t>Tujuan Dokumen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Memberikan panduan operasional langkah-demi-langkah bagi seluruh pengguna baru sistem CMOMS ERP.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Menjadi acuan baku SOP RACI dalam alur kerja harian kreatif dan motion graphics.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Meminimalkan waktu adaptasi (onboarding) tim dan mencegah kesalahan operasional.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9178" y="1508760"/>
            <a:ext cx="3393338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D9488"/>
                </a:solidFill>
                <a:latin typeface="Arial"/>
              </a:defRPr>
            </a:pPr>
            <a:r>
              <a:t>Target Pengguna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Account Executive (AE) / Requester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Creative Strategic Planner (Strategic PIC)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Graphic Designer (GD PIC)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Motion Graphic Designer (Motion PIC)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Live Stream Operator (OP / Tim Live)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Team Lead &amp; Creative Director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System Administrator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6836" y="1508760"/>
            <a:ext cx="3393338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9333EA"/>
                </a:solidFill>
                <a:latin typeface="Arial"/>
              </a:defRPr>
            </a:pPr>
            <a:r>
              <a:t>Cara Menggunakan Guide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Baca Bagian 1 untuk memahami arsitektur peran dan matriks izin akses.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Buka Bagian 2 untuk panduan khusus per peran masing-masing.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Gunakan Bagian 3 untuk panduan teknis fitur dan tangkapan layar langkah-demi-langkah.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Gunakan Bagian 4 jika menghadapi kendala operasional.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75488"/>
            <a:ext cx="201168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2563EB"/>
                </a:solidFill>
                <a:latin typeface="Arial"/>
              </a:defRPr>
            </a:pPr>
            <a:r>
              <a:t>TINJAUAN 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47548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CMOMS ERP • Panduan Operasional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Fungsi Utama &amp; Modul Terpadu CMOMS ERP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CMOMS ERP v1.0 • Creative &amp; Motion Operations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475569"/>
                </a:solidFill>
                <a:latin typeface="Arial"/>
              </a:defRPr>
            </a:pPr>
            <a:r>
              <a:t>3 / 44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508760"/>
            <a:ext cx="3393338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B2777"/>
                </a:solidFill>
                <a:latin typeface="Arial"/>
              </a:defRPr>
            </a:pPr>
            <a:r>
              <a:t>Masalah yang Diselesaikan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Menghilangkan miskomunikasi brief antara AE, Desainer, dan Klien.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Mencegah bottleneck pengerjaan melalui Workload Capacity Scoring (maks. 7.0 poin/hari).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Menghapus ketidakpastian SLA dengan penghitungan otomatis hari kerja &amp; kalender libur nasional.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9178" y="1508760"/>
            <a:ext cx="3393338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2563EB"/>
                </a:solidFill>
                <a:latin typeface="Arial"/>
              </a:defRPr>
            </a:pPr>
            <a:r>
              <a:t>Modul Utama Sistem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Mockup &amp; Request Pipeline: Kanban 7 status pengerjaan desain.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Motion Graphics Pipeline: Kanban 5 status animasi video.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Approved Archive: Arsip historis deliverable yang telah disetujui.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Capacity Matrix: Pemantauan beban kerja desainer secara real-time.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Reports &amp; Analytics: Evaluasi SLA Excellence, Good, dan Bad.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Admin Master Data: Klien, Tipe Konten, Hari Libur, &amp; Manajemen Pengguna.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6836" y="1508760"/>
            <a:ext cx="3393338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6A34A"/>
                </a:solidFill>
                <a:latin typeface="Arial"/>
              </a:defRPr>
            </a:pPr>
            <a:r>
              <a:t>Nilai Tambah Enterprise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Dual-Store Resilience: Sinkronisasi database Supabase dengan cache lokal.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Granular Security: Pencegahan IDOR pada chat dan data task.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Audit Trail Lengkap: Setiap perubahan status dan PIC tercatat otomatis.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75488"/>
            <a:ext cx="201168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2563EB"/>
                </a:solidFill>
                <a:latin typeface="Arial"/>
              </a:defRPr>
            </a:pPr>
            <a:r>
              <a:t>ALUR KERJA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47548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CMOMS ERP • Panduan Operasional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Arsitektur Workflow SOP RACI End-to-End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CMOMS ERP v1.0 • Creative &amp; Motion Operations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475569"/>
                </a:solidFill>
                <a:latin typeface="Arial"/>
              </a:defRPr>
            </a:pPr>
            <a:r>
              <a:t>4 / 44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508760"/>
            <a:ext cx="3393338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D9488"/>
                </a:solidFill>
                <a:latin typeface="Arial"/>
              </a:defRPr>
            </a:pPr>
            <a:r>
              <a:t>Fase 1: Inisiasi &amp; Konsep</a:t>
            </a:r>
          </a:p>
          <a:p>
            <a:pPr>
              <a:spcAft>
                <a:spcPts val="1000"/>
              </a:spcAft>
              <a:defRPr sz="1000" i="1">
                <a:solidFill>
                  <a:srgbClr val="94A3B8"/>
                </a:solidFill>
                <a:latin typeface="Arial"/>
              </a:defRPr>
            </a:pPr>
            <a:r>
              <a:t>AE &amp; Strategic Planner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AE membuat Trello/ERP card request brief lengkap pada tanggal 20 setiap bulan.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Strategic Planner menyusun 2 opsi konsep visual &amp; tema background dalam 2 hari kerja.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Internal Review oleh GD &amp; OP sebelum konsep diajukan ke Brand/Principal.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9178" y="1508760"/>
            <a:ext cx="3393338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891B2"/>
                </a:solidFill>
                <a:latin typeface="Arial"/>
              </a:defRPr>
            </a:pPr>
            <a:r>
              <a:t>Fase 2: Produksi Desain &amp; Approval</a:t>
            </a:r>
          </a:p>
          <a:p>
            <a:pPr>
              <a:spcAft>
                <a:spcPts val="1000"/>
              </a:spcAft>
              <a:defRPr sz="1000" i="1">
                <a:solidFill>
                  <a:srgbClr val="94A3B8"/>
                </a:solidFill>
                <a:latin typeface="Arial"/>
              </a:defRPr>
            </a:pPr>
            <a:r>
              <a:t>Graphic Designer (GD)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GD memproduksi aset grafis statis (SLA maks 2 hari kerja).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AE meneruskan hasil ke Brand untuk approval final.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Setelah disetujui, GD memberi label hijau dan menyerahkan card ke Motion Team.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6836" y="1508760"/>
            <a:ext cx="3393338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B2777"/>
                </a:solidFill>
                <a:latin typeface="Arial"/>
              </a:defRPr>
            </a:pPr>
            <a:r>
              <a:t>Fase 3: Animasi &amp; Live Checkpoint</a:t>
            </a:r>
          </a:p>
          <a:p>
            <a:pPr>
              <a:spcAft>
                <a:spcPts val="1000"/>
              </a:spcAft>
              <a:defRPr sz="1000" i="1">
                <a:solidFill>
                  <a:srgbClr val="94A3B8"/>
                </a:solidFill>
                <a:latin typeface="Arial"/>
              </a:defRPr>
            </a:pPr>
            <a:r>
              <a:t>Motion Designer &amp; Operator (OP)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Motion Designer mengerjakan animasi sesuai jadwal tayang (SLA maks 1x24 jam).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Kompilasi preview link dilakukan pada cut-off pukul 13.00 &amp; 17.00.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Operator (OP) melakukan Last Checkpoint pukul 23.00 sebelum aset digunakan live.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75488"/>
            <a:ext cx="201168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2563EB"/>
                </a:solidFill>
                <a:latin typeface="Arial"/>
              </a:defRPr>
            </a:pPr>
            <a:r>
              <a:t>STRUKTUR PERAN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47548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CMOMS ERP • Panduan Operasional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Daftar 7 Peran Pengguna Sesuai Standar RACI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CMOMS ERP v1.0 • Creative &amp; Motion Operations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475569"/>
                </a:solidFill>
                <a:latin typeface="Arial"/>
              </a:defRPr>
            </a:pPr>
            <a:r>
              <a:t>5 / 44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508760"/>
            <a:ext cx="3393338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D9488"/>
                </a:solidFill>
                <a:latin typeface="Arial"/>
              </a:defRPr>
            </a:pPr>
            <a:r>
              <a:t>AE (Account Executive)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Inisiator brief request &amp; penghubung brand.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Follow up promo bulanan (tgl 27) &amp; approval brand.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Update keputusan brand ke tim internal maks 2 jam.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9178" y="1508760"/>
            <a:ext cx="3393338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9333EA"/>
                </a:solidFill>
                <a:latin typeface="Arial"/>
              </a:defRPr>
            </a:pPr>
            <a:r>
              <a:t>Strategic &amp; GD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Strategic: Riset konsep, 2 opsi visual, tagging AE.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GD (Graphic Designer): Produksi visual statis, review internal konsep, penyerahan aset ke Motion, piket DD/PD.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6836" y="1508760"/>
            <a:ext cx="3393338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2563EB"/>
                </a:solidFill>
                <a:latin typeface="Arial"/>
              </a:defRPr>
            </a:pPr>
            <a:r>
              <a:t>Motion, OP, Lead, Admin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Motion: Animasi video, render, cut-off link harian.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OP (Operator): Cek kesiapan live streaming (23.00).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Team Lead: Triage brief, assign PIC, capacity guard.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Admin: Full master data, user &amp; audit trail.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75488"/>
            <a:ext cx="201168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2563EB"/>
                </a:solidFill>
                <a:latin typeface="Arial"/>
              </a:defRPr>
            </a:pPr>
            <a:r>
              <a:t>MATRIKS AKSES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47548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CMOMS ERP • Panduan Operasional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Matriks Otorisasi Peran — Operasional Pipeline (Part 1)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CMOMS ERP v1.0 • Creative &amp; Motion Operations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475569"/>
                </a:solidFill>
                <a:latin typeface="Arial"/>
              </a:defRPr>
            </a:pPr>
            <a:r>
              <a:t>6 / 44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508760"/>
            <a:ext cx="3393338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2563EB"/>
                </a:solidFill>
                <a:latin typeface="Arial"/>
              </a:defRPr>
            </a:pPr>
            <a:r>
              <a:t>Request &amp; Task Pipeline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Create Request: AE (✓), Team Lead (✓), Admin (✓).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Assign PIC GD: Team Lead (✓), Admin (✓).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Start Task (In Progress): GD PIC (✓), Team Lead (✓), Admin (✓).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Submit Deliverable: GD PIC (✓), Team Lead (✓), Admin (✓).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Approve Request: AE (✓), Team Lead (✓), Admin (✓).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Request Revision: AE (✓), Team Lead (✓), Admin (✓).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9178" y="1508760"/>
            <a:ext cx="3393338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B2777"/>
                </a:solidFill>
                <a:latin typeface="Arial"/>
              </a:defRPr>
            </a:pPr>
            <a:r>
              <a:t>Motion Graphics Pipeline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Assign PIC Motion: Team Lead (✓), Admin (✓).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Start Motion Animation: Motion PIC (✓), Team Lead (✓), Admin (✓).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Submit Render Video: Motion PIC (✓), Team Lead (✓), Admin (✓).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Handover ke OP: Motion PIC (✓), OP (✓), Lead (✓), Admin (✓).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Complete Task: OP (✓), Team Lead (✓), Admin (✓).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6836" y="1508760"/>
            <a:ext cx="3393338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6A34A"/>
                </a:solidFill>
                <a:latin typeface="Arial"/>
              </a:defRPr>
            </a:pPr>
            <a:r>
              <a:t>Kolom Chat &amp; Kolaborasi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Akses Chat: Partisipan Terkait (AE, Strategic, GD, Motion, Lead, Admin).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IDOR Guard: Non-partisipan dilarang melihat chat.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Kirim Lampiran: Seluruh Partisipan Aktif (✓).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75488"/>
            <a:ext cx="201168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2563EB"/>
                </a:solidFill>
                <a:latin typeface="Arial"/>
              </a:defRPr>
            </a:pPr>
            <a:r>
              <a:t>MATRIKS AKSES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47548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CMOMS ERP • Panduan Operasional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Matriks Otorisasi Peran — Tata Kelola &amp; Analitik (Part 2)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CMOMS ERP v1.0 • Creative &amp; Motion Operations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475569"/>
                </a:solidFill>
                <a:latin typeface="Arial"/>
              </a:defRPr>
            </a:pPr>
            <a:r>
              <a:t>7 / 44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508760"/>
            <a:ext cx="3393338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97706"/>
                </a:solidFill>
                <a:latin typeface="Arial"/>
              </a:defRPr>
            </a:pPr>
            <a:r>
              <a:t>Capacity &amp; Workload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View Capacity Grid: Semua Peran (✓).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Lihat Beban Semua Desainer: Team Lead (✓), Admin (✓).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Peringatan Overload (&gt;7.0 pts): Otomatis oleh Sistem.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9178" y="1508760"/>
            <a:ext cx="3393338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9333EA"/>
                </a:solidFill>
                <a:latin typeface="Arial"/>
              </a:defRPr>
            </a:pPr>
            <a:r>
              <a:t>Laporan &amp; Ekspor Data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View Executive Reports: Team Lead (✓), Admin (✓).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Export Laporan CSV / Excel: Team Lead (✓), Admin (✓).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Lihat Evaluasi SLA: Semua Peran (✓).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6836" y="1508760"/>
            <a:ext cx="3393338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Manajemen User &amp; Master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Tambah User &amp; Ubah Role: Admin (✓).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Kelola Data Klien &amp; Brand: Admin (✓).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Kelola Kalender Hari Libur: Admin (✓).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View System Audit Trail: Admin (✓).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75488"/>
            <a:ext cx="201168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2563EB"/>
                </a:solidFill>
                <a:latin typeface="Arial"/>
              </a:defRPr>
            </a:pPr>
            <a:r>
              <a:t>PANDUAN PERAN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47548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CMOMS ERP • Panduan Operasional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Panduan Pengguna: AE (Account Executive / Requester)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CMOMS ERP v1.0 • Creative &amp; Motion Operations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475569"/>
                </a:solidFill>
                <a:latin typeface="Arial"/>
              </a:defRPr>
            </a:pPr>
            <a:r>
              <a:t>8 / 44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508760"/>
            <a:ext cx="3393338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D9488"/>
                </a:solidFill>
                <a:latin typeface="Arial"/>
              </a:defRPr>
            </a:pPr>
            <a:r>
              <a:t>Tanggung Jawab Utama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Membuat brief request desain melalui form Create Request paling lambat tanggal 20.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Menyerahkan materi pendukung lengkap (brand guideline, promo KV, packshot).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Melakukan koordinasi dengan pihak Brand/Principal eksternal.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9178" y="1508760"/>
            <a:ext cx="3393338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2563EB"/>
                </a:solidFill>
                <a:latin typeface="Arial"/>
              </a:defRPr>
            </a:pPr>
            <a:r>
              <a:t>Alur Kerja Harian AE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1. Login ke CMOMS dan periksa Active Pipeline.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2. Pantau notifikasi ketika Strategic atau GD mengirim deliverable.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3. Teruskan deliverable ke brand untuk persetujuan (SLA 1 jam).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4. Update status approval atau ajukan revisi dalam waktu 2 jam.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6836" y="1508760"/>
            <a:ext cx="3393338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Menu Akses AE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Dashboard Overview (Statistik Pribadi)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Mockup &amp; Request Pipeline (Active &amp; Archive)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Motion Pipeline (Active &amp; Archive)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Capacity Matrix (Informasi Tim)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75488"/>
            <a:ext cx="201168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2563EB"/>
                </a:solidFill>
                <a:latin typeface="Arial"/>
              </a:defRPr>
            </a:pPr>
            <a:r>
              <a:t>PANDUAN PERAN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47548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CMOMS ERP • Panduan Operasional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Panduan Pengguna: Strategic (Creative Strategic Planner)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CMOMS ERP v1.0 • Creative &amp; Motion Operations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475569"/>
                </a:solidFill>
                <a:latin typeface="Arial"/>
              </a:defRPr>
            </a:pPr>
            <a:r>
              <a:t>9 / 44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508760"/>
            <a:ext cx="3393338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9333EA"/>
                </a:solidFill>
                <a:latin typeface="Arial"/>
              </a:defRPr>
            </a:pPr>
            <a:r>
              <a:t>Tanggung Jawab Utama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Mengembangkan arah konsep visual, ideasi ilustrasi, dan tema background.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Membuat 2 opsi konsep visual per periode dalam waktu maks. 2 hari kerja.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Mengunggah link preview ke Trello/ERP dan melakukan koordinasi internal.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9178" y="1508760"/>
            <a:ext cx="3393338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2563EB"/>
                </a:solidFill>
                <a:latin typeface="Arial"/>
              </a:defRPr>
            </a:pPr>
            <a:r>
              <a:t>Alur Kerja Harian Strategic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1. Cek kolom 'Strat Pending' pada Request Pipeline.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2. Klik kartu task untuk melihat brief lengkap dari AE.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3. Kembangkan konsep dan bagikan link preview ke grup internal WA.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4. Setelah dicek GD &amp; OP, submit final concept dan tag AE.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6836" y="1508760"/>
            <a:ext cx="3393338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6A34A"/>
                </a:solidFill>
                <a:latin typeface="Arial"/>
              </a:defRPr>
            </a:pPr>
            <a:r>
              <a:t>Standar Output Strategic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Format File: Folder Brand + Campaign + Periode.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Kelengkapan: 2 Opsi visual + referensi mockup background.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75488"/>
            <a:ext cx="201168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2563EB"/>
                </a:solidFill>
                <a:latin typeface="Arial"/>
              </a:defRPr>
            </a:pPr>
            <a:r>
              <a:t>PANDUAN PERAN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47548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CMOMS ERP • Panduan Operasional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Panduan Pengguna: GD (Graphic Designer)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CMOMS ERP v1.0 • Creative &amp; Motion Operations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475569"/>
                </a:solidFill>
                <a:latin typeface="Arial"/>
              </a:defRPr>
            </a:pPr>
            <a:r>
              <a:t>10 / 44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508760"/>
            <a:ext cx="3393338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891B2"/>
                </a:solidFill>
                <a:latin typeface="Arial"/>
              </a:defRPr>
            </a:pPr>
            <a:r>
              <a:t>Tanggung Jawab Utama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Melakukan internal check konsep strategic bersama OP.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Memproduksi aset desain visual statis (SLA maks 2 hari kerja per desain).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Melengkapi checklist desain dan memindahkan task ke Motion Team.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Standby piket pengerjaan hingga pukul 20.00 pada Big Campaign (DD/PD).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9178" y="1508760"/>
            <a:ext cx="3393338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2563EB"/>
                </a:solidFill>
                <a:latin typeface="Arial"/>
              </a:defRPr>
            </a:pPr>
            <a:r>
              <a:t>Alur Kerja Harian GD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1. Buka Mockup Pipeline, temukan kartu dengan nama Anda di 'Assigned'.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2. Klik 'Start Task' saat memulai (status berubah ke 'In Progress').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3. Kerjakan desain sesuai brief &amp; usage date.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4. Klik 'Submit Design' dan masukkan link Drive/Figma.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6836" y="1508760"/>
            <a:ext cx="3393338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97706"/>
                </a:solidFill>
                <a:latin typeface="Arial"/>
              </a:defRPr>
            </a:pPr>
            <a:r>
              <a:t>Kapasitas &amp; Batas Beban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Beban kerja harian terpantau otomatis (Maksimal 7.0 poin/hari).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Bobot: LOW (1.0 pt), MEDIUM (2.0 pts), HIGH (3.0 pts).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75488"/>
            <a:ext cx="201168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2563EB"/>
                </a:solidFill>
                <a:latin typeface="Arial"/>
              </a:defRPr>
            </a:pPr>
            <a:r>
              <a:t>PANDUAN PERAN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47548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CMOMS ERP • Panduan Operasional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Panduan Pengguna: Motion (Motion Graphic Designer)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CMOMS ERP v1.0 • Creative &amp; Motion Operations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475569"/>
                </a:solidFill>
                <a:latin typeface="Arial"/>
              </a:defRPr>
            </a:pPr>
            <a:r>
              <a:t>11 / 44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508760"/>
            <a:ext cx="3393338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B2777"/>
                </a:solidFill>
                <a:latin typeface="Arial"/>
              </a:defRPr>
            </a:pPr>
            <a:r>
              <a:t>Tanggung Jawab Utama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Memproduksi animasi video berdasarkan desain final yang telah disetujui.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Memastikan output video selesai sesuai usage date live streaming (SLA 1x24 jam).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Melakukan kompilasi daftar link preview harian (cut-off 13.00 &amp; 17.00).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Menyerahkan hasil render final ke Tim OP.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9178" y="1508760"/>
            <a:ext cx="3393338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2563EB"/>
                </a:solidFill>
                <a:latin typeface="Arial"/>
              </a:defRPr>
            </a:pPr>
            <a:r>
              <a:t>Alur Kerja Harian Motion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1. Buka Motion Pipeline, temukan tugas di kolom 'Queued' atau 'In Progress'.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2. Unduh aset desain final berlabel hijau dari folder campaign.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3. Kerjakan animasi dan upload video render final.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4. Klik 'Submit Motion' dan bagikan link preview ke grup WA &amp; OP.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6836" y="1508760"/>
            <a:ext cx="3393338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Jadwal Cut-off Big Campaign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Penyelesaian render motion Big Campaign paling lambat pukul 22.30.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75488"/>
            <a:ext cx="201168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2563EB"/>
                </a:solidFill>
                <a:latin typeface="Arial"/>
              </a:defRPr>
            </a:pPr>
            <a:r>
              <a:t>PANDUAN PERAN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47548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CMOMS ERP • Panduan Operasional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Panduan Pengguna: OP (Live Stream Operator)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CMOMS ERP v1.0 • Creative &amp; Motion Operations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475569"/>
                </a:solidFill>
                <a:latin typeface="Arial"/>
              </a:defRPr>
            </a:pPr>
            <a:r>
              <a:t>12 / 44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508760"/>
            <a:ext cx="3393338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Tanggung Jawab Utama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Melakukan review kelayakan teknis konsep strategic di awal bersama GD.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Operator Last Checkpoint: Memeriksa kelengkapan seluruh aset sebelum live streaming.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Memastikan seluruh aset telah berlabel hijau (approved) dan siap tayang.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9178" y="1508760"/>
            <a:ext cx="3393338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2563EB"/>
                </a:solidFill>
                <a:latin typeface="Arial"/>
              </a:defRPr>
            </a:pPr>
            <a:r>
              <a:t>Alur Kerja Harian OP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1. Menerima kompilasi link preview dari PIC Motion pada jam 13.00 &amp; 17.00.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2. Mengakses Approved Archive untuk memeriksa link download video.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3. Menguji coba rendering pada software broadcast/OBS.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4. Menjalankan checkpoint akhir pukul 23.00 pada malam Big Campaign.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6836" y="1508760"/>
            <a:ext cx="3393338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97706"/>
                </a:solidFill>
                <a:latin typeface="Arial"/>
              </a:defRPr>
            </a:pPr>
            <a:r>
              <a:t>Prosedur Konfirmasi Khusus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Upload di luar jam checkpoint wajib dikonfirmasi ke PIC OP di grup koordinasi.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75488"/>
            <a:ext cx="201168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2563EB"/>
                </a:solidFill>
                <a:latin typeface="Arial"/>
              </a:defRPr>
            </a:pPr>
            <a:r>
              <a:t>PANDUAN PERAN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47548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CMOMS ERP • Panduan Operasional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Panduan Pengguna: Team Lead (Creative Lead / Director)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CMOMS ERP v1.0 • Creative &amp; Motion Operations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475569"/>
                </a:solidFill>
                <a:latin typeface="Arial"/>
              </a:defRPr>
            </a:pPr>
            <a:r>
              <a:t>13 / 44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508760"/>
            <a:ext cx="3393338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97706"/>
                </a:solidFill>
                <a:latin typeface="Arial"/>
              </a:defRPr>
            </a:pPr>
            <a:r>
              <a:t>Tanggung Jawab Utama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Melakukan triage &amp; validasi kelengkapan brief request yang masuk.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Menugaskan PIC GD &amp; Motion sesuai spesialisasi dan ketersediaan kapasitas.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Memantau kepatuhan SLA 3 hari kerja dan skor kapasitas tim (maks. 7.0 pts/hari).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Melakukan quality control &amp; approval sebelum deliverable dikirim ke klien.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9178" y="1508760"/>
            <a:ext cx="3393338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2563EB"/>
                </a:solidFill>
                <a:latin typeface="Arial"/>
              </a:defRPr>
            </a:pPr>
            <a:r>
              <a:t>Alur Kerja Harian Team Lead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1. Pantau Dashboard Overview untuk melihat ringkasan antrean dan status SLA.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2. Buka kolom 'Unassigned' pada Mockup Pipeline, klik kartu untuk assign PIC GD.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3. Tentukan bobot kesulitan task (LOW / MEDIUM / HIGH).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4. Periksa Workload Capacity Matrix untuk memastikan tidak ada desainer yang overload.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6836" y="1508760"/>
            <a:ext cx="3393338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9333EA"/>
                </a:solidFill>
                <a:latin typeface="Arial"/>
              </a:defRPr>
            </a:pPr>
            <a:r>
              <a:t>Akses Supervisi &amp; Laporan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Akses penuh ke menu Reports &amp; Analytics untuk evaluasi performa bulanan.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75488"/>
            <a:ext cx="201168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2563EB"/>
                </a:solidFill>
                <a:latin typeface="Arial"/>
              </a:defRPr>
            </a:pPr>
            <a:r>
              <a:t>PANDUAN PERAN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47548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CMOMS ERP • Panduan Operasional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Panduan Pengguna: Admin (System Administrator)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CMOMS ERP v1.0 • Creative &amp; Motion Operations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475569"/>
                </a:solidFill>
                <a:latin typeface="Arial"/>
              </a:defRPr>
            </a:pPr>
            <a:r>
              <a:t>14 / 44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508760"/>
            <a:ext cx="3393338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Tanggung Jawab Utama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Mengelola data master sistem (Klien, Tipe Konten, Kalender Libur Nasional).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Mengelola akun pengguna, pemberian hak akses peran (RBAC), dan invite link.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Memantau keamanan sistem dan rekaman jejak audit (Audit Trail).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9178" y="1508760"/>
            <a:ext cx="3393338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2563EB"/>
                </a:solidFill>
                <a:latin typeface="Arial"/>
              </a:defRPr>
            </a:pPr>
            <a:r>
              <a:t>Fitur Khusus Administrator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Manajemen User: Tambah pengguna baru, ubah peran, atur kuota kapasitas harian.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Master Clients: Tambah brand internal &amp; eksternal.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Master Holidays: Atur tanggal cuti bersama &amp; libur nasional untuk kalkulator SLA.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Audit Trail: Filter seluruh riwayat aktivitas pengguna di sistem.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6836" y="1508760"/>
            <a:ext cx="3393338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6A34A"/>
                </a:solidFill>
                <a:latin typeface="Arial"/>
              </a:defRPr>
            </a:pPr>
            <a:r>
              <a:t>Prinsip Keamanan Sistem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Pastikan prinsip Least Privilege diterapkan pada setiap penugasan peran.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75488"/>
            <a:ext cx="201168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2563EB"/>
                </a:solidFill>
                <a:latin typeface="Arial"/>
              </a:defRPr>
            </a:pPr>
            <a:r>
              <a:t>MODUL 1: AUTENTIKASI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47548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CMOMS ERP • Panduan Operasional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Masuk ke Sistem &amp; Panel 1-Click Quick Access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CMOMS ERP v1.0 • Creative &amp; Motion Operations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475569"/>
                </a:solidFill>
                <a:latin typeface="Arial"/>
              </a:defRPr>
            </a:pPr>
            <a:r>
              <a:t>15 / 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1: Buka Halaman Login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Buka URL aplikasi di browser Anda.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2: Pilih Akun Demo / Masukkan Kredensial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Gunakan form email &amp; password atau gunakan panel Quick Access di bawah.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3: Filter Berdasarkan Peran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Klik tab filter (Admin/Lead, AE, Strategic, GD, Motion, OP) untuk menemukan profil Anda.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4: 1-Click Login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Klik kartu akun yang diinginkan untuk langsung masuk ke Dashboard.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508760"/>
            <a:ext cx="6613855" cy="357242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01_login_page_17913812576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554480"/>
            <a:ext cx="6522415" cy="350579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75488"/>
            <a:ext cx="201168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2563EB"/>
                </a:solidFill>
                <a:latin typeface="Arial"/>
              </a:defRPr>
            </a:pPr>
            <a:r>
              <a:t>MODUL 2: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47548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CMOMS ERP • Panduan Operasional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Dashboard Overview &amp; Analitik Operasional Real-Time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CMOMS ERP v1.0 • Creative &amp; Motion Operations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475569"/>
                </a:solidFill>
                <a:latin typeface="Arial"/>
              </a:defRPr>
            </a:pPr>
            <a:r>
              <a:t>16 / 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1: Ringkasan Statistik Pipeline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Melihat total active requests, pending strategic, in progress, dan SLA rate.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2: Workload &amp; Kapasitas Harian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Memantau distribusi beban kerja seluruh desainer aktif secara visual.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3: Evaluasi Operational Excellence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Memantau kepatuhan SLA 3 hari kerja (Excellence &lt;=3 hari, Good 4-5 hari, Bad &gt;5 hari).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4: Quick Navigation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Akses langsung ke pipeline aktif melalui kartu metrik.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508760"/>
            <a:ext cx="6613855" cy="364015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02_dashboard_overview_17913812967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554480"/>
            <a:ext cx="6522415" cy="350579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75488"/>
            <a:ext cx="201168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2563EB"/>
                </a:solidFill>
                <a:latin typeface="Arial"/>
              </a:defRPr>
            </a:pPr>
            <a:r>
              <a:t>MODUL 3: MOCKUP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47548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CMOMS ERP • Panduan Operasional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Navigasi Kanban 7 Kolom &amp; Kartu Desain 3-Level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CMOMS ERP v1.0 • Creative &amp; Motion Operations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475569"/>
                </a:solidFill>
                <a:latin typeface="Arial"/>
              </a:defRPr>
            </a:pPr>
            <a:r>
              <a:t>17 / 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1: Struktur 7 Kolom Status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Strat Pending, Unassigned, Assigned, In Progress, Submitted, Revision, Approved.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2: Membaca Kartu Kanban Level 1-3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Level 1 (Identitas &amp; Kode Task), Level 2 (Badge Status &amp; SLA Hari Kerja), Level 3 (PIC Section: AE, Strategic, GD).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3: Filter &amp; Pencarian Instan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Gunakan search bar dan filter status/PIC untuk menyaring daftar kartu aktif.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508760"/>
            <a:ext cx="6613855" cy="36337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03_request_pipeline_active_17913813259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554480"/>
            <a:ext cx="6522415" cy="350579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75488"/>
            <a:ext cx="201168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2563EB"/>
                </a:solidFill>
                <a:latin typeface="Arial"/>
              </a:defRPr>
            </a:pPr>
            <a:r>
              <a:t>MODUL 3: MOCKUP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47548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CMOMS ERP • Panduan Operasional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Langkah Membuat Request Desain Baru (Create Request)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CMOMS ERP v1.0 • Creative &amp; Motion Operations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475569"/>
                </a:solidFill>
                <a:latin typeface="Arial"/>
              </a:defRPr>
            </a:pPr>
            <a:r>
              <a:t>18 / 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1: Klik Tombol '+ New Request'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Terletak di pojok kanan atas halaman Mockup &amp; Request Pipeline.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2: Pilih Klien / Brand &amp; Tipe Konten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Tentukan brand dan jenis output (KV, Social Post, Banner, Mockup).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3: Tentukan Due Date &amp; Usage Date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Pilih tanggal batas pengerjaan dan tanggal pemakaian live streaming.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4: Isi Brief &amp; Lampiran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Masukkan deskripsi brief lengkap dan tautan folder Google Drive aset pendukung.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508760"/>
            <a:ext cx="6613855" cy="3630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create_request_form_17913825001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554480"/>
            <a:ext cx="6522415" cy="350579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75488"/>
            <a:ext cx="201168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2563EB"/>
                </a:solidFill>
                <a:latin typeface="Arial"/>
              </a:defRPr>
            </a:pPr>
            <a:r>
              <a:t>MODUL 3: MOCKUP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47548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CMOMS ERP • Panduan Operasional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Spesifikasi Field &amp; Kolom Formulir Request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CMOMS ERP v1.0 • Creative &amp; Motion Operations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475569"/>
                </a:solidFill>
                <a:latin typeface="Arial"/>
              </a:defRPr>
            </a:pPr>
            <a:r>
              <a:t>19 / 44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508760"/>
            <a:ext cx="3393338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2563EB"/>
                </a:solidFill>
                <a:latin typeface="Arial"/>
              </a:defRPr>
            </a:pPr>
            <a:r>
              <a:t>Informasi Utama Task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Client / Brand (Wajib): Nama brand pemilik request.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Campaign Name (Wajib): Nama event atau program promosi.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Content Type (Wajib): Format visual yang diproduksi.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Platform (Wajib): TikTok, Shopee, Tokopedia, Lazada, atau Other.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9178" y="1508760"/>
            <a:ext cx="3393338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97706"/>
                </a:solidFill>
                <a:latin typeface="Arial"/>
              </a:defRPr>
            </a:pPr>
            <a:r>
              <a:t>Jadwal &amp; Target Tanggal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Request Date (Wajib): Tanggal inisiasi brief.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Due Date (Wajib): Batas waktu penyelesaian desain.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Usage Date (Opsional): Tanggal pelaksanaan siaran langsung.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6836" y="1508760"/>
            <a:ext cx="3393338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9333EA"/>
                </a:solidFill>
                <a:latin typeface="Arial"/>
              </a:defRPr>
            </a:pPr>
            <a:r>
              <a:t>Detail Brief &amp; Opsi Konsep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Requires Strategic Concept (Checkbox): Centang jika membutuhkan perancangan konsep visual awal.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Output Quantity: Jumlah variasi output yang diminta.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Brief &amp; Drive Link: Deskripsi petunjuk teknis &amp; tautan aset.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75488"/>
            <a:ext cx="201168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2563EB"/>
                </a:solidFill>
                <a:latin typeface="Arial"/>
              </a:defRPr>
            </a:pPr>
            <a:r>
              <a:t>MODUL 3: MOCKUP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47548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CMOMS ERP • Panduan Operasional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Detail Request &amp; Alur Kerja Konsep Strategic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CMOMS ERP v1.0 • Creative &amp; Motion Operations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475569"/>
                </a:solidFill>
                <a:latin typeface="Arial"/>
              </a:defRPr>
            </a:pPr>
            <a:r>
              <a:t>20 / 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1: Buka Modal Detail Task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Klik pada kartu task di kolom 'Strat Pending'.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2: Periksa Bagian Strategic Brief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Tinjau deskripsi brief, referensi gaya visual, dan checklist kebutuhan brand.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3: Pengembangan 2 Opsi Konsep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Strategic PIC merancang konsep visual dan mengunggah preview link ke grup internal.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4: Submit Final Strategic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Masukkan tautan final konsep dan tag AE untuk proses approval brand.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508760"/>
            <a:ext cx="6613855" cy="36027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request_detail_full_17913832318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554480"/>
            <a:ext cx="6522415" cy="350579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75488"/>
            <a:ext cx="201168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2563EB"/>
                </a:solidFill>
                <a:latin typeface="Arial"/>
              </a:defRPr>
            </a:pPr>
            <a:r>
              <a:t>MODUL 3: MOCKUP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47548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CMOMS ERP • Panduan Operasional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Langkah Penugasan Desainer (Assign PIC GD)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CMOMS ERP v1.0 • Creative &amp; Motion Operations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475569"/>
                </a:solidFill>
                <a:latin typeface="Arial"/>
              </a:defRPr>
            </a:pPr>
            <a:r>
              <a:t>21 / 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1: Pilih Task dari Kolom 'Unassigned'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Team Lead membuka modal detail request yang siap diproduksi.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2: Pilih Nama Graphic Designer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Pilih desainer dari dropdown berdasarkan kapasitas yang tersedia.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3: Tentukan Tingkat Kesulitan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Pilih bobot: LOW (1 pt), MEDIUM (2 pts), atau HIGH (3 pts).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4: Konfirmasi Penugasan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Klik 'Assign Designer'. Status task otomatis berubah menjadi 'Assigned'.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508760"/>
            <a:ext cx="6613855" cy="36027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task_detail_modal_17913827626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554480"/>
            <a:ext cx="6522415" cy="350579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75488"/>
            <a:ext cx="201168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2563EB"/>
                </a:solidFill>
                <a:latin typeface="Arial"/>
              </a:defRPr>
            </a:pPr>
            <a:r>
              <a:t>MODUL 3: MOCKUP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47548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CMOMS ERP • Panduan Operasional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Memulai Pengerjaan Desain (Start Task Workflow)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CMOMS ERP v1.0 • Creative &amp; Motion Operations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475569"/>
                </a:solidFill>
                <a:latin typeface="Arial"/>
              </a:defRPr>
            </a:pPr>
            <a:r>
              <a:t>22 / 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1: Desainer Menerima Notifikasi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GD PIC menerima notifikasi penugasan baru di panel notifikasi.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2: Buka Kartu Task di Kolom 'Assigned'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Periksa instruksi brief dan aset di modal detail task.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3: Klik Tombol 'Start Working'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Status task berpindah ke kolom 'In Progress'.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4: Pelacakan SLA Aktif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Penghitungan hari kerja berjalan otomatis hingga deliverable diserahkan.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508760"/>
            <a:ext cx="6613855" cy="3630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kanban_updated_card_17913830070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554480"/>
            <a:ext cx="6522415" cy="350579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75488"/>
            <a:ext cx="201168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2563EB"/>
                </a:solidFill>
                <a:latin typeface="Arial"/>
              </a:defRPr>
            </a:pPr>
            <a:r>
              <a:t>MODUL 3: MOCKUP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47548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CMOMS ERP • Panduan Operasional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Pengajuan Deliverable Desain (Submit Design)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CMOMS ERP v1.0 • Creative &amp; Motion Operations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475569"/>
                </a:solidFill>
                <a:latin typeface="Arial"/>
              </a:defRPr>
            </a:pPr>
            <a:r>
              <a:t>23 / 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1: Selesaikan Aset Desain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Pastikan seluruh checklist output desain telah terpenuhi sesuai standar.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2: Klik 'Submit Design' pada Modal Task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Buka formulir submission deliverable.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3: Masukkan Link Preview &amp; File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Sertakan tautan Google Drive / Figma yang telah diberi hak akses view/download.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4: Status Berubah ke 'Submitted'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AE &amp; Team Lead menerima notifikasi untuk memeriksa hasil desain.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508760"/>
            <a:ext cx="6613855" cy="36164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request_detail_view_17913831363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554480"/>
            <a:ext cx="6522415" cy="350579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75488"/>
            <a:ext cx="201168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2563EB"/>
                </a:solidFill>
                <a:latin typeface="Arial"/>
              </a:defRPr>
            </a:pPr>
            <a:r>
              <a:t>MODUL 3: MOCKUP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47548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CMOMS ERP • Panduan Operasional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Alur Review, Approval &amp; Permintaan Revisi Desain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CMOMS ERP v1.0 • Creative &amp; Motion Operations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475569"/>
                </a:solidFill>
                <a:latin typeface="Arial"/>
              </a:defRPr>
            </a:pPr>
            <a:r>
              <a:t>24 / 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1: Opsi 1: Setujui Desain (Approve)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AE / Team Lead mengklik 'Approve Design'. Task berpindah ke 'Approved' dan siap diarsipkan atau diteruskan ke Motion.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2: Opsi 2: Ajukan Revisi (Request Revision)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Jika ada perubahan, klik 'Request Revision'.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3: Pilih Kategori Alasan (Reason Category)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Pilih alasan: Client Change, Brief Mismatch, Typo, atau Quality Issue.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4: Tuliskan Catatan Revisi Spesifik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Jelaskan bagian yang perlu diperbaiki. Task kembali ke kolom 'Revision'.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508760"/>
            <a:ext cx="6613855" cy="3614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request_action_buttons_17913832578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554480"/>
            <a:ext cx="6522415" cy="350579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75488"/>
            <a:ext cx="201168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2563EB"/>
                </a:solidFill>
                <a:latin typeface="Arial"/>
              </a:defRPr>
            </a:pPr>
            <a:r>
              <a:t>MODUL 4: MOTION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47548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CMOMS ERP • Panduan Operasional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Navigasi Motion Graphics Active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CMOMS ERP v1.0 • Creative &amp; Motion Operations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475569"/>
                </a:solidFill>
                <a:latin typeface="Arial"/>
              </a:defRPr>
            </a:pPr>
            <a:r>
              <a:t>25 / 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1: Struktur 5 Kolom Kanban Motion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Queued, In Progress, Submitted, Revision, dan Approved.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2: Informasi Kartu Motion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Menampilkan nama brand, campaign, tipe platform, studio (Jakarta/Bandung), dan level kesulitan animasi (LVL 1 - 4).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3: Switcher Active &amp; Approved Archive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Beralih cepat antara antrean pengerjaan aktif dan arsip video approved.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516380"/>
            <a:ext cx="6613855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06_motion_pipeline_active_17913815084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554480"/>
            <a:ext cx="6522415" cy="350579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75488"/>
            <a:ext cx="201168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2563EB"/>
                </a:solidFill>
                <a:latin typeface="Arial"/>
              </a:defRPr>
            </a:pPr>
            <a:r>
              <a:t>MODUL 4: MOTION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47548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CMOMS ERP • Panduan Operasional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Penugasan &amp; Produksi Animasi Motion Graphics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CMOMS ERP v1.0 • Creative &amp; Motion Operations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475569"/>
                </a:solidFill>
                <a:latin typeface="Arial"/>
              </a:defRPr>
            </a:pPr>
            <a:r>
              <a:t>26 / 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1: Task Masuk ke Kolom 'Queued'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Task desain yang berlanjut ke motion otomatis muncul di antrean motion.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2: Penugasan PIC Motion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Team Lead memilih Motion Designer dan menetapkan tingkat kesulitan animasi.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3: Motion Designer Memulai Animasi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Mengunduh file desain mentah dan mengubah status menjadi 'In Progress'.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4: SLA Pengerjaan Motion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Batas pengerjaan animasi standar adalah 1x24 jam kerja.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508760"/>
            <a:ext cx="6613855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motion_detail_view_17913834356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554480"/>
            <a:ext cx="6522415" cy="350579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75488"/>
            <a:ext cx="201168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2563EB"/>
                </a:solidFill>
                <a:latin typeface="Arial"/>
              </a:defRPr>
            </a:pPr>
            <a:r>
              <a:t>MODUL 4: MOTION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47548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CMOMS ERP • Panduan Operasional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Pengajuan Render Motion &amp; Serah Terima ke 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CMOMS ERP v1.0 • Creative &amp; Motion Operations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475569"/>
                </a:solidFill>
                <a:latin typeface="Arial"/>
              </a:defRPr>
            </a:pPr>
            <a:r>
              <a:t>27 / 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1: Upload Video Render Final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Motion designer mengunggah hasil render MP4/MOV ke folder campaign.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2: Submit Render Deliverable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Masukkan tautan video pada form submission motion.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3: Kompilasi Link Cut-off Harian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Kompilasi link preview diserahkan ke grup internal pada pukul 13.00 &amp; 17.00.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4: Handover ke Tim Operator (OP)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OP menerima aset dan memverifikasi kesiapan live streaming broadcast.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508760"/>
            <a:ext cx="6613855" cy="3627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motion_pipeline_kanban_17913833933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554480"/>
            <a:ext cx="6522415" cy="350579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75488"/>
            <a:ext cx="201168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2563EB"/>
                </a:solidFill>
                <a:latin typeface="Arial"/>
              </a:defRPr>
            </a:pPr>
            <a:r>
              <a:t>MODUL 5: APPROVED ARCHIVE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47548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CMOMS ERP • Panduan Operasional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Penjelajahan Arsip Mockup &amp; Request Selesai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CMOMS ERP v1.0 • Creative &amp; Motion Operations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475569"/>
                </a:solidFill>
                <a:latin typeface="Arial"/>
              </a:defRPr>
            </a:pPr>
            <a:r>
              <a:t>28 / 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1: Akses Tab 'Approved Archive'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Buka halaman Mockup Pipeline dan klik tab switcher 'Approved Archive'.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2: Multi-Dimension Filter Controls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Saring arsip berdasarkan Tahun, Bulan, Minggu pengerjaan, Requester (AE), dan PIC GD.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3: Pencarian Cepat (Instant Search)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Cari arsip berdasarkan Kode Task (misal: REQ-2026-0001), Nama Klien, atau Campaign.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4: Tampilan Grid &amp; Table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Lihat deliverable yang telah disetujui beserta tanggal approval dan durasi SLA.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508760"/>
            <a:ext cx="6613855" cy="36164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04_request_archive_kanban_17913813722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554480"/>
            <a:ext cx="6522415" cy="350579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75488"/>
            <a:ext cx="201168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2563EB"/>
                </a:solidFill>
                <a:latin typeface="Arial"/>
              </a:defRPr>
            </a:pPr>
            <a:r>
              <a:t>MODUL 6: MOTION ARCHIVE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47548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CMOMS ERP • Panduan Operasional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Penjelajahan Arsip Video Motion &amp; Render Final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CMOMS ERP v1.0 • Creative &amp; Motion Operations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475569"/>
                </a:solidFill>
                <a:latin typeface="Arial"/>
              </a:defRPr>
            </a:pPr>
            <a:r>
              <a:t>29 / 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1: Buka Tab 'Approved Archive' Motion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Terletak pada switcher navigasi halaman Motion Pipeline.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2: Filter Berdasarkan Brand &amp; Studio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Pilih brand spesifik atau filter berdasarkan Studio Jakarta / Bandung.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3: Akses Link Download Video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Klik kartu motion approved untuk melihat tautan video render final yang siap ditayangkan.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4: Verifikasi Status Live Operator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Melihat catatan serah terima dari operator live broadcast.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508760"/>
            <a:ext cx="6613855" cy="36438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motion_approved_archive_1791383503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554480"/>
            <a:ext cx="6522415" cy="350579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75488"/>
            <a:ext cx="201168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2563EB"/>
                </a:solidFill>
                <a:latin typeface="Arial"/>
              </a:defRPr>
            </a:pPr>
            <a:r>
              <a:t>MODUL 7: KOLOM DISKUSI TIM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47548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CMOMS ERP • Panduan Operasional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Kolaborasi &amp; Chat Terintegrasi per-Task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CMOMS ERP v1.0 • Creative &amp; Motion Operations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475569"/>
                </a:solidFill>
                <a:latin typeface="Arial"/>
              </a:defRPr>
            </a:pPr>
            <a:r>
              <a:t>30 / 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1: Buka Tab 'Diskusi Tim' pada Detail Task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Setiap task memiliki ruang obrolan tersendiri yang terisolasi.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2: Otorisasi Partisipan (IDOR Guard)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Hanya pihak yang terlibat (AE, Strategic, GD, Motion, Lead, Admin) yang dapat membaca dan mengirim pesan.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3: Kirim Pesan &amp; Tautan File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Ketik pesan koordinasi atau lampirkan link preview Drive/Figma.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4: Badge Peran &amp; Waktu Pesan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Setiap bubble chat dilengkapi badge peran (AE, GD, Motion) dan timestamp real-time.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508760"/>
            <a:ext cx="6613855" cy="35859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request_chat_view_17913831722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554480"/>
            <a:ext cx="6522415" cy="350579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75488"/>
            <a:ext cx="201168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2563EB"/>
                </a:solidFill>
                <a:latin typeface="Arial"/>
              </a:defRPr>
            </a:pPr>
            <a:r>
              <a:t>MODUL 8: SISTEM NOTIFIKASI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47548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CMOMS ERP • Panduan Operasional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Pusat Notifikasi Real-Time &amp; Navigasi Cepat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CMOMS ERP v1.0 • Creative &amp; Motion Operations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475569"/>
                </a:solidFill>
                <a:latin typeface="Arial"/>
              </a:defRPr>
            </a:pPr>
            <a:r>
              <a:t>31 / 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1: Ikon Lonceng pada Topbar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Menampilkan badge jumlah notifikasi yang belum dibaca.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2: Panel Notifikasi Interaktif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Klik ikon lonceng untuk membuka daftar notifikasi terbaru (penugasan, revisi, pesan chat baru).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3: Navigasi Sekali Klik (Instant Route)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Mengklik notifikasi akan langsung membuka halaman atau modal task yang bersangkutan.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4: Tandai Semua Dibaca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Klik tombol 'Mark all as read' untuk membersihkan badge notifikasi.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508760"/>
            <a:ext cx="6613855" cy="3593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notification_panel_17913822911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554480"/>
            <a:ext cx="6522415" cy="350579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75488"/>
            <a:ext cx="201168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2563EB"/>
                </a:solidFill>
                <a:latin typeface="Arial"/>
              </a:defRPr>
            </a:pPr>
            <a:r>
              <a:t>MODUL 9: CAPACITY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47548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CMOMS ERP • Panduan Operasional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Pemantauan Skor Kapasitas &amp; Beban Kerja Desainer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CMOMS ERP v1.0 • Creative &amp; Motion Operations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475569"/>
                </a:solidFill>
                <a:latin typeface="Arial"/>
              </a:defRPr>
            </a:pPr>
            <a:r>
              <a:t>32 / 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1: Buka Menu 'Workload Capacity'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Pilih menu Capacity pada sidebar navigasi utama.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2: Memantau Skor Poin Harian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Sistem menghitung total poin aktif setiap desainer (Batas maksimal aman: 7.0 poin/hari).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3: Indikator Status Beban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Hijau (Tersedia / Aman), Kuning (Mendekati Kapasitas), Merah (Overload).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4: Distribusi Tugas yang Adil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Team Lead menggunakan matriks ini sebelum menugaskan task baru ke desainer.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508760"/>
            <a:ext cx="6613855" cy="3587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07_workload_capacity_17913815449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554480"/>
            <a:ext cx="6522415" cy="350579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75488"/>
            <a:ext cx="201168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2563EB"/>
                </a:solidFill>
                <a:latin typeface="Arial"/>
              </a:defRPr>
            </a:pPr>
            <a:r>
              <a:t>MODUL 10: LAPORAN EKSEKUTIF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47548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CMOMS ERP • Panduan Operasional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Analitik SLA Operasional &amp; Ekspor Laporan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CMOMS ERP v1.0 • Creative &amp; Motion Operations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475569"/>
                </a:solidFill>
                <a:latin typeface="Arial"/>
              </a:defRPr>
            </a:pPr>
            <a:r>
              <a:t>33 / 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1: Buka Menu 'Reports &amp; Analytics'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Akses ringkasan performa operasional tim kreatif.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2: Distribusi Operational Excellence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Grafik proporsi penyelesaian task: Excellence (&lt;=3 hari), Good (4-5 hari), Bad (&gt;5 hari).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3: Filter Rentang Waktu &amp; Klien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Saring analitik berdasarkan bulan, tahun, dan brand tertentu.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4: Ekspor Data (Export CSV)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Klik tombol 'Export CSV' untuk mengunduh rekap data komprehensif ke Excel/Spreadsheet.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508760"/>
            <a:ext cx="6613855" cy="3621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08_reports_analytics_17913815766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554480"/>
            <a:ext cx="6522415" cy="350579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75488"/>
            <a:ext cx="201168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2563EB"/>
                </a:solidFill>
                <a:latin typeface="Arial"/>
              </a:defRPr>
            </a:pPr>
            <a:r>
              <a:t>MODUL 11: MANAJEMEN USER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47548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CMOMS ERP • Panduan Operasional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Pengelolaan Pengguna &amp; Otorisasi Peran Admin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CMOMS ERP v1.0 • Creative &amp; Motion Operations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475569"/>
                </a:solidFill>
                <a:latin typeface="Arial"/>
              </a:defRPr>
            </a:pPr>
            <a:r>
              <a:t>34 / 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1: Buka Menu 'Admin &gt; Users'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Khusus akun dengan peran Administrator.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2: Tambah Pengguna Baru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Klik '+ Add User', masukkan email, pilih peran, dan tentukan kuota kapasitas poin.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3: Generate Invite Link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Salin tautan registrasi otomatis untuk dikirimkan kepada anggota tim baru.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4: Ubah Peran Pengguna (Role Switcher)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Klik 'Change Role' pada tabel pengguna untuk memodifikasi hak akses peran secara instan.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508760"/>
            <a:ext cx="6613855" cy="36027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10_admin_users_17913816378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554480"/>
            <a:ext cx="6522415" cy="350579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75488"/>
            <a:ext cx="201168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2563EB"/>
                </a:solidFill>
                <a:latin typeface="Arial"/>
              </a:defRPr>
            </a:pPr>
            <a:r>
              <a:t>MODUL 12: DATA MASTER KLIEN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47548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CMOMS ERP • Panduan Operasional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Pengelolaan Brand &amp; Klien Terdaftar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CMOMS ERP v1.0 • Creative &amp; Motion Operations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475569"/>
                </a:solidFill>
                <a:latin typeface="Arial"/>
              </a:defRPr>
            </a:pPr>
            <a:r>
              <a:t>35 / 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1: Buka Menu 'Admin &gt; Clients'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Daftar seluruh brand principal yang dilayani.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2: Tambah Brand / Klien Baru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Masukkan nama brand dan klasifikasi (Internal Company / External Client).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3: Status Keaktifan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Aktifkan atau nonaktifkan brand yang sedang tidak memiliki kontrak aktif.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4: Integrasi Otomatis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Brand yang aktif otomatis muncul pada form Create Request.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508760"/>
            <a:ext cx="6613855" cy="3627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09_admin_clients_17913816081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554480"/>
            <a:ext cx="6522415" cy="3505798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75488"/>
            <a:ext cx="201168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2563EB"/>
                </a:solidFill>
                <a:latin typeface="Arial"/>
              </a:defRPr>
            </a:pPr>
            <a:r>
              <a:t>MODUL 13: DATA MASTER KONTEN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47548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CMOMS ERP • Panduan Operasional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Pengelolaan Tipe Output &amp; Format Desain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CMOMS ERP v1.0 • Creative &amp; Motion Operations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475569"/>
                </a:solidFill>
                <a:latin typeface="Arial"/>
              </a:defRPr>
            </a:pPr>
            <a:r>
              <a:t>36 / 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1: Buka Menu 'Admin &gt; Content Types'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Daftar template deliverable (Key Visual, Social Post, Story, Mockup, Video).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2: Tambah / Edit Tipe Konten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Tentukan nama format dan deskripsi standar output.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3: Standardisasi Checklist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Memastikan output desainer seragam sesuai kebutuhan channel pemasaran.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508760"/>
            <a:ext cx="6613855" cy="364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holidays_table_verified_17907385743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554480"/>
            <a:ext cx="6522415" cy="350579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75488"/>
            <a:ext cx="201168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2563EB"/>
                </a:solidFill>
                <a:latin typeface="Arial"/>
              </a:defRPr>
            </a:pPr>
            <a:r>
              <a:t>MODUL 14: DATA MASTER HARI LIBUR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47548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CMOMS ERP • Panduan Operasional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Kalender Hari Libur Nasional &amp; Kalkulasi SLA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CMOMS ERP v1.0 • Creative &amp; Motion Operations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475569"/>
                </a:solidFill>
                <a:latin typeface="Arial"/>
              </a:defRPr>
            </a:pPr>
            <a:r>
              <a:t>37 / 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1: Buka Menu 'Admin &gt; Holidays'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Daftar hari libur resmi dan cuti bersama operasional.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2: Input Tanggal Libur Nasional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Masukkan tanggal dan deskripsi libur (misal: Hari Raya Idul Fitri, Tahun Baru).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3: Otomasi SLA Engine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SLA Engine otomatis mengabaikan hari libur ini saat menghitung durasi pengerjaan 3 hari kerja.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508760"/>
            <a:ext cx="6613855" cy="36042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holidays_table_verified_17907385743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554480"/>
            <a:ext cx="6522415" cy="350579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75488"/>
            <a:ext cx="201168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2563EB"/>
                </a:solidFill>
                <a:latin typeface="Arial"/>
              </a:defRPr>
            </a:pPr>
            <a:r>
              <a:t>MODUL 15: AUDIT TRAIL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47548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CMOMS ERP • Panduan Operasional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Jejak Audit Sistem &amp; Log Riwayat Aktivitas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CMOMS ERP v1.0 • Creative &amp; Motion Operations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475569"/>
                </a:solidFill>
                <a:latin typeface="Arial"/>
              </a:defRPr>
            </a:pPr>
            <a:r>
              <a:t>38 / 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1: Buka Menu 'Admin &gt; Audit Trail'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Rekaman lengkap seluruh mutasi data penting di dalam sistem.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2: Informasi Jejak Audit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Mencatat: Siapa (Aktor), Kapan (Timestamp), Aksi (Create/Assign/Approve/Status), dan Nilai Sebelum/Sesudah.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3: Filter Investigasi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Saring berdasarkan nama pengguna, rentang waktu, atau entitas task tertentu.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LANGKAH 4: Keamanan &amp; Integritas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Audit log bersifat read-only dan tidak dapat diubah atau dihapus oleh pengguna biasa.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508760"/>
            <a:ext cx="6613855" cy="36088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11_admin_audit_trail_17913816634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554480"/>
            <a:ext cx="6522415" cy="35057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4929</Words>
  <Application>Microsoft Office PowerPoint</Application>
  <PresentationFormat>Widescreen</PresentationFormat>
  <Paragraphs>552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Bagas Aditya</cp:lastModifiedBy>
  <cp:revision>2</cp:revision>
  <dcterms:created xsi:type="dcterms:W3CDTF">2013-01-27T09:14:16Z</dcterms:created>
  <dcterms:modified xsi:type="dcterms:W3CDTF">2026-10-08T04:21:28Z</dcterms:modified>
  <cp:category/>
</cp:coreProperties>
</file>